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Agrandir Bold" panose="020B0604020202020204" charset="0"/>
      <p:regular r:id="rId29"/>
    </p:embeddedFont>
    <p:embeddedFont>
      <p:font typeface="Agrandir Heavy" panose="020B0604020202020204" charset="0"/>
      <p:regular r:id="rId30"/>
    </p:embeddedFont>
    <p:embeddedFont>
      <p:font typeface="Agrandir Ultra-Bold" panose="020B0604020202020204" charset="0"/>
      <p:regular r:id="rId31"/>
    </p:embeddedFont>
    <p:embeddedFont>
      <p:font typeface="Garet" panose="020B0604020202020204" charset="-52"/>
      <p:regular r:id="rId32"/>
    </p:embeddedFont>
    <p:embeddedFont>
      <p:font typeface="Garet Bold" panose="020B0604020202020204" charset="-52"/>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96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3.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3.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4.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1.svg"/><Relationship Id="rId10" Type="http://schemas.openxmlformats.org/officeDocument/2006/relationships/image" Target="../media/image24.svg"/><Relationship Id="rId4" Type="http://schemas.openxmlformats.org/officeDocument/2006/relationships/image" Target="../media/image22.svg"/><Relationship Id="rId9" Type="http://schemas.openxmlformats.org/officeDocument/2006/relationships/image" Target="../media/image18.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22.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2.svg"/><Relationship Id="rId5" Type="http://schemas.openxmlformats.org/officeDocument/2006/relationships/image" Target="../media/image28.svg"/><Relationship Id="rId10" Type="http://schemas.openxmlformats.org/officeDocument/2006/relationships/image" Target="../media/image31.svg"/><Relationship Id="rId4" Type="http://schemas.openxmlformats.org/officeDocument/2006/relationships/image" Target="../media/image11.svg"/><Relationship Id="rId9" Type="http://schemas.openxmlformats.org/officeDocument/2006/relationships/image" Target="../media/image13.svg"/><Relationship Id="rId14" Type="http://schemas.openxmlformats.org/officeDocument/2006/relationships/image" Target="../media/image18.sv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4.svg"/><Relationship Id="rId7" Type="http://schemas.openxmlformats.org/officeDocument/2006/relationships/image" Target="../media/image3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27.sv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1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13.svg"/><Relationship Id="rId3" Type="http://schemas.openxmlformats.org/officeDocument/2006/relationships/image" Target="../media/image41.svg"/><Relationship Id="rId7" Type="http://schemas.openxmlformats.org/officeDocument/2006/relationships/image" Target="../media/image42.svg"/><Relationship Id="rId12"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2.svg"/><Relationship Id="rId5" Type="http://schemas.openxmlformats.org/officeDocument/2006/relationships/image" Target="../media/image11.svg"/><Relationship Id="rId15" Type="http://schemas.openxmlformats.org/officeDocument/2006/relationships/image" Target="../media/image18.svg"/><Relationship Id="rId10" Type="http://schemas.openxmlformats.org/officeDocument/2006/relationships/image" Target="../media/image45.svg"/><Relationship Id="rId4" Type="http://schemas.openxmlformats.org/officeDocument/2006/relationships/image" Target="../media/image29.svg"/><Relationship Id="rId9" Type="http://schemas.openxmlformats.org/officeDocument/2006/relationships/image" Target="../media/image44.svg"/><Relationship Id="rId1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svg"/><Relationship Id="rId5" Type="http://schemas.openxmlformats.org/officeDocument/2006/relationships/image" Target="../media/image13.svg"/><Relationship Id="rId4" Type="http://schemas.openxmlformats.org/officeDocument/2006/relationships/image" Target="../media/image47.jpeg"/></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49.svg"/><Relationship Id="rId7" Type="http://schemas.openxmlformats.org/officeDocument/2006/relationships/image" Target="../media/image4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10.sv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53.svg"/><Relationship Id="rId4" Type="http://schemas.openxmlformats.org/officeDocument/2006/relationships/image" Target="../media/image52.svg"/></Relationships>
</file>

<file path=ppt/slides/_rels/slide15.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44.svg"/><Relationship Id="rId3" Type="http://schemas.openxmlformats.org/officeDocument/2006/relationships/image" Target="../media/image54.svg"/><Relationship Id="rId7" Type="http://schemas.openxmlformats.org/officeDocument/2006/relationships/image" Target="../media/image8.svg"/><Relationship Id="rId12"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7.svg"/><Relationship Id="rId10" Type="http://schemas.openxmlformats.org/officeDocument/2006/relationships/image" Target="../media/image7.svg"/><Relationship Id="rId4" Type="http://schemas.openxmlformats.org/officeDocument/2006/relationships/image" Target="../media/image11.svg"/><Relationship Id="rId9" Type="http://schemas.openxmlformats.org/officeDocument/2006/relationships/image" Target="../media/image55.svg"/><Relationship Id="rId14" Type="http://schemas.openxmlformats.org/officeDocument/2006/relationships/image" Target="../media/image56.svg"/></Relationships>
</file>

<file path=ppt/slides/_rels/slide1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6.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57.svg"/><Relationship Id="rId4" Type="http://schemas.openxmlformats.org/officeDocument/2006/relationships/image" Target="../media/image6.svg"/><Relationship Id="rId9" Type="http://schemas.openxmlformats.org/officeDocument/2006/relationships/image" Target="../media/image18.svg"/></Relationships>
</file>

<file path=ppt/slides/_rels/slide1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2.svg"/><Relationship Id="rId7" Type="http://schemas.openxmlformats.org/officeDocument/2006/relationships/image" Target="../media/image6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39.svg"/><Relationship Id="rId4" Type="http://schemas.openxmlformats.org/officeDocument/2006/relationships/image" Target="../media/image58.svg"/><Relationship Id="rId9" Type="http://schemas.openxmlformats.org/officeDocument/2006/relationships/image" Target="../media/image18.svg"/></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62.svg"/><Relationship Id="rId4" Type="http://schemas.openxmlformats.org/officeDocument/2006/relationships/image" Target="../media/image61.svg"/></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49.svg"/><Relationship Id="rId4" Type="http://schemas.openxmlformats.org/officeDocument/2006/relationships/image" Target="../media/image63.sv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24.svg"/><Relationship Id="rId4" Type="http://schemas.openxmlformats.org/officeDocument/2006/relationships/image" Target="../media/image28.svg"/></Relationships>
</file>

<file path=ppt/slides/_rels/slide2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67.svg"/><Relationship Id="rId4" Type="http://schemas.openxmlformats.org/officeDocument/2006/relationships/image" Target="../media/image66.svg"/></Relationships>
</file>

<file path=ppt/slides/_rels/slide22.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22.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2.svg"/><Relationship Id="rId5" Type="http://schemas.openxmlformats.org/officeDocument/2006/relationships/image" Target="../media/image28.svg"/><Relationship Id="rId10" Type="http://schemas.openxmlformats.org/officeDocument/2006/relationships/image" Target="../media/image31.svg"/><Relationship Id="rId4" Type="http://schemas.openxmlformats.org/officeDocument/2006/relationships/image" Target="../media/image11.svg"/><Relationship Id="rId9" Type="http://schemas.openxmlformats.org/officeDocument/2006/relationships/image" Target="../media/image13.svg"/><Relationship Id="rId14" Type="http://schemas.openxmlformats.org/officeDocument/2006/relationships/image" Target="../media/image18.svg"/></Relationships>
</file>

<file path=ppt/slides/_rels/slide23.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42.svg"/><Relationship Id="rId4" Type="http://schemas.openxmlformats.org/officeDocument/2006/relationships/image" Target="../media/image57.svg"/></Relationships>
</file>

<file path=ppt/slides/_rels/slide2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26.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13.svg"/><Relationship Id="rId4" Type="http://schemas.openxmlformats.org/officeDocument/2006/relationships/image" Target="../media/image22.svg"/><Relationship Id="rId9" Type="http://schemas.openxmlformats.org/officeDocument/2006/relationships/image" Target="../media/image18.svg"/></Relationships>
</file>

<file path=ppt/slides/_rels/slide2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9.svg"/></Relationships>
</file>

<file path=ppt/slides/_rels/slide2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73.svg"/><Relationship Id="rId4" Type="http://schemas.openxmlformats.org/officeDocument/2006/relationships/image" Target="../media/image72.svg"/></Relationships>
</file>

<file path=ppt/slides/_rels/slide27.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13.svg"/><Relationship Id="rId3" Type="http://schemas.openxmlformats.org/officeDocument/2006/relationships/image" Target="../media/image41.svg"/><Relationship Id="rId7" Type="http://schemas.openxmlformats.org/officeDocument/2006/relationships/image" Target="../media/image42.svg"/><Relationship Id="rId12"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2.svg"/><Relationship Id="rId5" Type="http://schemas.openxmlformats.org/officeDocument/2006/relationships/image" Target="../media/image11.svg"/><Relationship Id="rId15" Type="http://schemas.openxmlformats.org/officeDocument/2006/relationships/image" Target="../media/image18.svg"/><Relationship Id="rId10" Type="http://schemas.openxmlformats.org/officeDocument/2006/relationships/image" Target="../media/image45.svg"/><Relationship Id="rId4" Type="http://schemas.openxmlformats.org/officeDocument/2006/relationships/image" Target="../media/image29.svg"/><Relationship Id="rId9" Type="http://schemas.openxmlformats.org/officeDocument/2006/relationships/image" Target="../media/image44.svg"/><Relationship Id="rId1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5430177" y="7579573"/>
            <a:ext cx="7427646" cy="1128090"/>
            <a:chOff x="0" y="0"/>
            <a:chExt cx="2604387" cy="395547"/>
          </a:xfrm>
        </p:grpSpPr>
        <p:sp>
          <p:nvSpPr>
            <p:cNvPr id="4" name="Freeform 4"/>
            <p:cNvSpPr/>
            <p:nvPr/>
          </p:nvSpPr>
          <p:spPr>
            <a:xfrm>
              <a:off x="0" y="0"/>
              <a:ext cx="2604387" cy="395547"/>
            </a:xfrm>
            <a:custGeom>
              <a:avLst/>
              <a:gdLst/>
              <a:ahLst/>
              <a:cxnLst/>
              <a:rect l="l" t="t" r="r" b="b"/>
              <a:pathLst>
                <a:path w="2604387" h="395547">
                  <a:moveTo>
                    <a:pt x="2401187" y="0"/>
                  </a:moveTo>
                  <a:cubicBezTo>
                    <a:pt x="2513411" y="0"/>
                    <a:pt x="2604387" y="88546"/>
                    <a:pt x="2604387" y="197774"/>
                  </a:cubicBezTo>
                  <a:cubicBezTo>
                    <a:pt x="2604387" y="307001"/>
                    <a:pt x="2513411" y="395547"/>
                    <a:pt x="240118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5" name="TextBox 5"/>
            <p:cNvSpPr txBox="1"/>
            <p:nvPr/>
          </p:nvSpPr>
          <p:spPr>
            <a:xfrm>
              <a:off x="0" y="-38100"/>
              <a:ext cx="2604387" cy="43364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829106">
            <a:off x="16568678" y="3403736"/>
            <a:ext cx="3438645" cy="2838445"/>
          </a:xfrm>
          <a:custGeom>
            <a:avLst/>
            <a:gdLst/>
            <a:ahLst/>
            <a:cxnLst/>
            <a:rect l="l" t="t" r="r" b="b"/>
            <a:pathLst>
              <a:path w="3438645" h="2838445">
                <a:moveTo>
                  <a:pt x="0" y="0"/>
                </a:moveTo>
                <a:lnTo>
                  <a:pt x="3438644" y="0"/>
                </a:lnTo>
                <a:lnTo>
                  <a:pt x="3438644" y="2838444"/>
                </a:lnTo>
                <a:lnTo>
                  <a:pt x="0" y="283844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5430177" y="1579337"/>
            <a:ext cx="7427646" cy="1128090"/>
            <a:chOff x="0" y="0"/>
            <a:chExt cx="2604387" cy="395547"/>
          </a:xfrm>
        </p:grpSpPr>
        <p:sp>
          <p:nvSpPr>
            <p:cNvPr id="8" name="Freeform 8"/>
            <p:cNvSpPr/>
            <p:nvPr/>
          </p:nvSpPr>
          <p:spPr>
            <a:xfrm>
              <a:off x="0" y="0"/>
              <a:ext cx="2604387" cy="395547"/>
            </a:xfrm>
            <a:custGeom>
              <a:avLst/>
              <a:gdLst/>
              <a:ahLst/>
              <a:cxnLst/>
              <a:rect l="l" t="t" r="r" b="b"/>
              <a:pathLst>
                <a:path w="2604387" h="395547">
                  <a:moveTo>
                    <a:pt x="2401187" y="0"/>
                  </a:moveTo>
                  <a:cubicBezTo>
                    <a:pt x="2513411" y="0"/>
                    <a:pt x="2604387" y="88546"/>
                    <a:pt x="2604387" y="197774"/>
                  </a:cubicBezTo>
                  <a:cubicBezTo>
                    <a:pt x="2604387" y="307001"/>
                    <a:pt x="2513411" y="395547"/>
                    <a:pt x="240118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9" name="TextBox 9"/>
            <p:cNvSpPr txBox="1"/>
            <p:nvPr/>
          </p:nvSpPr>
          <p:spPr>
            <a:xfrm>
              <a:off x="0" y="-38100"/>
              <a:ext cx="2604387" cy="433647"/>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rot="1742204">
            <a:off x="13716910" y="-185316"/>
            <a:ext cx="4461003" cy="3289990"/>
          </a:xfrm>
          <a:custGeom>
            <a:avLst/>
            <a:gdLst/>
            <a:ahLst/>
            <a:cxnLst/>
            <a:rect l="l" t="t" r="r" b="b"/>
            <a:pathLst>
              <a:path w="4461003" h="3289990">
                <a:moveTo>
                  <a:pt x="0" y="0"/>
                </a:moveTo>
                <a:lnTo>
                  <a:pt x="4461003" y="0"/>
                </a:lnTo>
                <a:lnTo>
                  <a:pt x="4461003" y="3289990"/>
                </a:lnTo>
                <a:lnTo>
                  <a:pt x="0" y="328999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5430177" y="2659802"/>
            <a:ext cx="7427646" cy="4676775"/>
          </a:xfrm>
          <a:prstGeom prst="rect">
            <a:avLst/>
          </a:prstGeom>
        </p:spPr>
        <p:txBody>
          <a:bodyPr lIns="0" tIns="0" rIns="0" bIns="0" rtlCol="0" anchor="t">
            <a:spAutoFit/>
          </a:bodyPr>
          <a:lstStyle/>
          <a:p>
            <a:pPr algn="ctr">
              <a:lnSpc>
                <a:spcPts val="16500"/>
              </a:lnSpc>
            </a:pPr>
            <a:r>
              <a:rPr lang="en-US" sz="15000" b="1">
                <a:solidFill>
                  <a:srgbClr val="000000"/>
                </a:solidFill>
                <a:latin typeface="Agrandir Ultra-Bold"/>
                <a:ea typeface="Agrandir Ultra-Bold"/>
                <a:cs typeface="Agrandir Ultra-Bold"/>
                <a:sym typeface="Agrandir Ultra-Bold"/>
              </a:rPr>
              <a:t>novel study</a:t>
            </a:r>
          </a:p>
        </p:txBody>
      </p:sp>
      <p:sp>
        <p:nvSpPr>
          <p:cNvPr id="12" name="Freeform 12"/>
          <p:cNvSpPr/>
          <p:nvPr/>
        </p:nvSpPr>
        <p:spPr>
          <a:xfrm>
            <a:off x="-616502" y="6375189"/>
            <a:ext cx="4542557" cy="4114800"/>
          </a:xfrm>
          <a:custGeom>
            <a:avLst/>
            <a:gdLst/>
            <a:ahLst/>
            <a:cxnLst/>
            <a:rect l="l" t="t" r="r" b="b"/>
            <a:pathLst>
              <a:path w="4542557" h="4114800">
                <a:moveTo>
                  <a:pt x="0" y="0"/>
                </a:moveTo>
                <a:lnTo>
                  <a:pt x="4542558" y="0"/>
                </a:lnTo>
                <a:lnTo>
                  <a:pt x="454255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rot="-1372296">
            <a:off x="1160509" y="353446"/>
            <a:ext cx="5531094" cy="1350509"/>
          </a:xfrm>
          <a:custGeom>
            <a:avLst/>
            <a:gdLst/>
            <a:ahLst/>
            <a:cxnLst/>
            <a:rect l="l" t="t" r="r" b="b"/>
            <a:pathLst>
              <a:path w="5531094" h="1350509">
                <a:moveTo>
                  <a:pt x="0" y="0"/>
                </a:moveTo>
                <a:lnTo>
                  <a:pt x="5531094" y="0"/>
                </a:lnTo>
                <a:lnTo>
                  <a:pt x="5531094" y="1350508"/>
                </a:lnTo>
                <a:lnTo>
                  <a:pt x="0" y="135050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4" name="Freeform 14"/>
          <p:cNvSpPr/>
          <p:nvPr/>
        </p:nvSpPr>
        <p:spPr>
          <a:xfrm rot="2121097">
            <a:off x="14097762" y="7456235"/>
            <a:ext cx="3161538" cy="4114800"/>
          </a:xfrm>
          <a:custGeom>
            <a:avLst/>
            <a:gdLst/>
            <a:ahLst/>
            <a:cxnLst/>
            <a:rect l="l" t="t" r="r" b="b"/>
            <a:pathLst>
              <a:path w="3161538" h="4114800">
                <a:moveTo>
                  <a:pt x="0" y="0"/>
                </a:moveTo>
                <a:lnTo>
                  <a:pt x="3161538" y="0"/>
                </a:lnTo>
                <a:lnTo>
                  <a:pt x="3161538"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5" name="Freeform 15"/>
          <p:cNvSpPr/>
          <p:nvPr/>
        </p:nvSpPr>
        <p:spPr>
          <a:xfrm>
            <a:off x="-245851" y="3617474"/>
            <a:ext cx="1997548" cy="2057400"/>
          </a:xfrm>
          <a:custGeom>
            <a:avLst/>
            <a:gdLst/>
            <a:ahLst/>
            <a:cxnLst/>
            <a:rect l="l" t="t" r="r" b="b"/>
            <a:pathLst>
              <a:path w="1997548" h="2057400">
                <a:moveTo>
                  <a:pt x="0" y="0"/>
                </a:moveTo>
                <a:lnTo>
                  <a:pt x="1997548" y="0"/>
                </a:lnTo>
                <a:lnTo>
                  <a:pt x="1997548" y="2057400"/>
                </a:lnTo>
                <a:lnTo>
                  <a:pt x="0" y="20574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6" name="Freeform 16"/>
          <p:cNvSpPr/>
          <p:nvPr/>
        </p:nvSpPr>
        <p:spPr>
          <a:xfrm rot="-3446564">
            <a:off x="-851824" y="-612067"/>
            <a:ext cx="2544678" cy="2188423"/>
          </a:xfrm>
          <a:custGeom>
            <a:avLst/>
            <a:gdLst/>
            <a:ahLst/>
            <a:cxnLst/>
            <a:rect l="l" t="t" r="r" b="b"/>
            <a:pathLst>
              <a:path w="2544678" h="2188423">
                <a:moveTo>
                  <a:pt x="0" y="0"/>
                </a:moveTo>
                <a:lnTo>
                  <a:pt x="2544677" y="0"/>
                </a:lnTo>
                <a:lnTo>
                  <a:pt x="2544677" y="2188423"/>
                </a:lnTo>
                <a:lnTo>
                  <a:pt x="0" y="2188423"/>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7" name="Freeform 17"/>
          <p:cNvSpPr/>
          <p:nvPr/>
        </p:nvSpPr>
        <p:spPr>
          <a:xfrm>
            <a:off x="4344327" y="9291556"/>
            <a:ext cx="2901753" cy="3011253"/>
          </a:xfrm>
          <a:custGeom>
            <a:avLst/>
            <a:gdLst/>
            <a:ahLst/>
            <a:cxnLst/>
            <a:rect l="l" t="t" r="r" b="b"/>
            <a:pathLst>
              <a:path w="2901753" h="3011253">
                <a:moveTo>
                  <a:pt x="0" y="0"/>
                </a:moveTo>
                <a:lnTo>
                  <a:pt x="2901753" y="0"/>
                </a:lnTo>
                <a:lnTo>
                  <a:pt x="2901753" y="3011253"/>
                </a:lnTo>
                <a:lnTo>
                  <a:pt x="0" y="3011253"/>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8" name="Freeform 18"/>
          <p:cNvSpPr/>
          <p:nvPr/>
        </p:nvSpPr>
        <p:spPr>
          <a:xfrm flipH="1">
            <a:off x="8516850" y="-1982553"/>
            <a:ext cx="2901753" cy="3011253"/>
          </a:xfrm>
          <a:custGeom>
            <a:avLst/>
            <a:gdLst/>
            <a:ahLst/>
            <a:cxnLst/>
            <a:rect l="l" t="t" r="r" b="b"/>
            <a:pathLst>
              <a:path w="2901753" h="3011253">
                <a:moveTo>
                  <a:pt x="2901753" y="0"/>
                </a:moveTo>
                <a:lnTo>
                  <a:pt x="0" y="0"/>
                </a:lnTo>
                <a:lnTo>
                  <a:pt x="0" y="3011253"/>
                </a:lnTo>
                <a:lnTo>
                  <a:pt x="2901753" y="3011253"/>
                </a:lnTo>
                <a:lnTo>
                  <a:pt x="2901753" y="0"/>
                </a:lnTo>
                <a:close/>
              </a:path>
            </a:pathLst>
          </a:custGeom>
          <a:blipFill>
            <a:blip>
              <a:extLst>
                <a:ext uri="{96DAC541-7B7A-43D3-8B79-37D633B846F1}">
                  <asvg:svgBlip xmlns:asvg="http://schemas.microsoft.com/office/drawing/2016/SVG/main" r:embed="rId11"/>
                </a:ext>
              </a:extLst>
            </a:blip>
            <a:stretch>
              <a:fillRect/>
            </a:stretch>
          </a:blipFill>
        </p:spPr>
      </p:sp>
      <p:sp>
        <p:nvSpPr>
          <p:cNvPr id="19" name="Freeform 19"/>
          <p:cNvSpPr/>
          <p:nvPr/>
        </p:nvSpPr>
        <p:spPr>
          <a:xfrm rot="-3332412">
            <a:off x="14637302" y="3009561"/>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20" name="Freeform 20"/>
          <p:cNvSpPr/>
          <p:nvPr/>
        </p:nvSpPr>
        <p:spPr>
          <a:xfrm flipH="1" flipV="1">
            <a:off x="13198833" y="6224605"/>
            <a:ext cx="1151174" cy="1185666"/>
          </a:xfrm>
          <a:custGeom>
            <a:avLst/>
            <a:gdLst/>
            <a:ahLst/>
            <a:cxnLst/>
            <a:rect l="l" t="t" r="r" b="b"/>
            <a:pathLst>
              <a:path w="1151174" h="1185666">
                <a:moveTo>
                  <a:pt x="1151174" y="1185666"/>
                </a:moveTo>
                <a:lnTo>
                  <a:pt x="0" y="1185666"/>
                </a:lnTo>
                <a:lnTo>
                  <a:pt x="0" y="0"/>
                </a:lnTo>
                <a:lnTo>
                  <a:pt x="1151174" y="0"/>
                </a:lnTo>
                <a:lnTo>
                  <a:pt x="1151174" y="1185666"/>
                </a:lnTo>
                <a:close/>
              </a:path>
            </a:pathLst>
          </a:custGeom>
          <a:blipFill>
            <a:blip>
              <a:extLst>
                <a:ext uri="{96DAC541-7B7A-43D3-8B79-37D633B846F1}">
                  <asvg:svgBlip xmlns:asvg="http://schemas.microsoft.com/office/drawing/2016/SVG/main" r:embed="rId13"/>
                </a:ext>
              </a:extLst>
            </a:blip>
            <a:stretch>
              <a:fillRect/>
            </a:stretch>
          </a:blipFill>
        </p:spPr>
      </p:sp>
      <p:sp>
        <p:nvSpPr>
          <p:cNvPr id="21" name="Freeform 21"/>
          <p:cNvSpPr/>
          <p:nvPr/>
        </p:nvSpPr>
        <p:spPr>
          <a:xfrm>
            <a:off x="9573201" y="9513635"/>
            <a:ext cx="2715197" cy="2567096"/>
          </a:xfrm>
          <a:custGeom>
            <a:avLst/>
            <a:gdLst/>
            <a:ahLst/>
            <a:cxnLst/>
            <a:rect l="l" t="t" r="r" b="b"/>
            <a:pathLst>
              <a:path w="2715197" h="2567096">
                <a:moveTo>
                  <a:pt x="0" y="0"/>
                </a:moveTo>
                <a:lnTo>
                  <a:pt x="2715197" y="0"/>
                </a:lnTo>
                <a:lnTo>
                  <a:pt x="2715197" y="2567095"/>
                </a:lnTo>
                <a:lnTo>
                  <a:pt x="0" y="2567095"/>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22" name="Freeform 22"/>
          <p:cNvSpPr/>
          <p:nvPr/>
        </p:nvSpPr>
        <p:spPr>
          <a:xfrm rot="-1735408">
            <a:off x="2713729" y="3966070"/>
            <a:ext cx="2877702" cy="2852523"/>
          </a:xfrm>
          <a:custGeom>
            <a:avLst/>
            <a:gdLst/>
            <a:ahLst/>
            <a:cxnLst/>
            <a:rect l="l" t="t" r="r" b="b"/>
            <a:pathLst>
              <a:path w="2877702" h="2852523">
                <a:moveTo>
                  <a:pt x="0" y="0"/>
                </a:moveTo>
                <a:lnTo>
                  <a:pt x="2877702" y="0"/>
                </a:lnTo>
                <a:lnTo>
                  <a:pt x="2877702" y="2852522"/>
                </a:lnTo>
                <a:lnTo>
                  <a:pt x="0" y="2852522"/>
                </a:lnTo>
                <a:lnTo>
                  <a:pt x="0" y="0"/>
                </a:lnTo>
                <a:close/>
              </a:path>
            </a:pathLst>
          </a:custGeom>
          <a:blipFill>
            <a:blip>
              <a:extLst>
                <a:ext uri="{96DAC541-7B7A-43D3-8B79-37D633B846F1}">
                  <asvg:svgBlip xmlns:asvg="http://schemas.microsoft.com/office/drawing/2016/SVG/main" r:embed="rId15"/>
                </a:ext>
              </a:extLst>
            </a:blip>
            <a:stretch>
              <a:fillRect/>
            </a:stretch>
          </a:blipFill>
        </p:spPr>
      </p:sp>
      <p:sp>
        <p:nvSpPr>
          <p:cNvPr id="23" name="TextBox 23"/>
          <p:cNvSpPr txBox="1"/>
          <p:nvPr/>
        </p:nvSpPr>
        <p:spPr>
          <a:xfrm>
            <a:off x="5999602" y="7786159"/>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pre-reading activities</a:t>
            </a:r>
          </a:p>
        </p:txBody>
      </p:sp>
      <p:sp>
        <p:nvSpPr>
          <p:cNvPr id="24" name="TextBox 24"/>
          <p:cNvSpPr txBox="1"/>
          <p:nvPr/>
        </p:nvSpPr>
        <p:spPr>
          <a:xfrm>
            <a:off x="5603113" y="1776166"/>
            <a:ext cx="7081773" cy="693420"/>
          </a:xfrm>
          <a:prstGeom prst="rect">
            <a:avLst/>
          </a:prstGeom>
        </p:spPr>
        <p:txBody>
          <a:bodyPr lIns="0" tIns="0" rIns="0" bIns="0" rtlCol="0" anchor="t">
            <a:spAutoFit/>
          </a:bodyPr>
          <a:lstStyle/>
          <a:p>
            <a:pPr algn="ctr">
              <a:lnSpc>
                <a:spcPts val="5700"/>
              </a:lnSpc>
              <a:spcBef>
                <a:spcPct val="0"/>
              </a:spcBef>
            </a:pPr>
            <a:r>
              <a:rPr lang="en-US" sz="3800">
                <a:solidFill>
                  <a:srgbClr val="000000"/>
                </a:solidFill>
                <a:latin typeface="Garet"/>
                <a:ea typeface="Garet"/>
                <a:cs typeface="Garet"/>
                <a:sym typeface="Garet"/>
              </a:rPr>
              <a:t>year 10 english</a:t>
            </a:r>
          </a:p>
        </p:txBody>
      </p:sp>
      <p:sp>
        <p:nvSpPr>
          <p:cNvPr id="25" name="Freeform 25"/>
          <p:cNvSpPr/>
          <p:nvPr/>
        </p:nvSpPr>
        <p:spPr>
          <a:xfrm rot="2803384">
            <a:off x="3708802" y="2265136"/>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16"/>
                </a:ext>
              </a:extLst>
            </a:blip>
            <a:stretch>
              <a:fillRect r="-179368" b="-73951"/>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465793" y="4686320"/>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4887474"/>
            <a:ext cx="3723829" cy="4085949"/>
            <a:chOff x="0" y="0"/>
            <a:chExt cx="980761" cy="1076135"/>
          </a:xfrm>
        </p:grpSpPr>
        <p:sp>
          <p:nvSpPr>
            <p:cNvPr id="5" name="Freeform 5"/>
            <p:cNvSpPr/>
            <p:nvPr/>
          </p:nvSpPr>
          <p:spPr>
            <a:xfrm>
              <a:off x="0" y="0"/>
              <a:ext cx="980761" cy="1076135"/>
            </a:xfrm>
            <a:custGeom>
              <a:avLst/>
              <a:gdLst/>
              <a:ahLst/>
              <a:cxnLst/>
              <a:rect l="l" t="t" r="r" b="b"/>
              <a:pathLst>
                <a:path w="980761" h="1076135">
                  <a:moveTo>
                    <a:pt x="62371" y="0"/>
                  </a:moveTo>
                  <a:lnTo>
                    <a:pt x="918391" y="0"/>
                  </a:lnTo>
                  <a:cubicBezTo>
                    <a:pt x="952837" y="0"/>
                    <a:pt x="980761" y="27924"/>
                    <a:pt x="980761" y="62371"/>
                  </a:cubicBezTo>
                  <a:lnTo>
                    <a:pt x="980761" y="1013764"/>
                  </a:lnTo>
                  <a:cubicBezTo>
                    <a:pt x="980761" y="1048210"/>
                    <a:pt x="952837" y="1076135"/>
                    <a:pt x="918391" y="1076135"/>
                  </a:cubicBezTo>
                  <a:lnTo>
                    <a:pt x="62371" y="1076135"/>
                  </a:lnTo>
                  <a:cubicBezTo>
                    <a:pt x="27924" y="1076135"/>
                    <a:pt x="0" y="1048210"/>
                    <a:pt x="0" y="1013764"/>
                  </a:cubicBezTo>
                  <a:lnTo>
                    <a:pt x="0" y="62371"/>
                  </a:lnTo>
                  <a:cubicBezTo>
                    <a:pt x="0" y="27924"/>
                    <a:pt x="27924" y="0"/>
                    <a:pt x="62371" y="0"/>
                  </a:cubicBezTo>
                  <a:close/>
                </a:path>
              </a:pathLst>
            </a:custGeom>
            <a:solidFill>
              <a:srgbClr val="FFFFFF"/>
            </a:solidFill>
            <a:ln w="47625" cap="rnd">
              <a:solidFill>
                <a:srgbClr val="000000"/>
              </a:solidFill>
              <a:prstDash val="solid"/>
              <a:round/>
            </a:ln>
          </p:spPr>
        </p:sp>
        <p:sp>
          <p:nvSpPr>
            <p:cNvPr id="6" name="TextBox 6"/>
            <p:cNvSpPr txBox="1"/>
            <p:nvPr/>
          </p:nvSpPr>
          <p:spPr>
            <a:xfrm>
              <a:off x="0" y="-57150"/>
              <a:ext cx="980761" cy="1133285"/>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5198484" y="4858623"/>
            <a:ext cx="3723829" cy="4114800"/>
            <a:chOff x="0" y="0"/>
            <a:chExt cx="980761" cy="1083733"/>
          </a:xfrm>
        </p:grpSpPr>
        <p:sp>
          <p:nvSpPr>
            <p:cNvPr id="8" name="Freeform 8"/>
            <p:cNvSpPr/>
            <p:nvPr/>
          </p:nvSpPr>
          <p:spPr>
            <a:xfrm>
              <a:off x="0" y="0"/>
              <a:ext cx="980761" cy="1083733"/>
            </a:xfrm>
            <a:custGeom>
              <a:avLst/>
              <a:gdLst/>
              <a:ahLst/>
              <a:cxnLst/>
              <a:rect l="l" t="t" r="r" b="b"/>
              <a:pathLst>
                <a:path w="980761" h="1083733">
                  <a:moveTo>
                    <a:pt x="62371" y="0"/>
                  </a:moveTo>
                  <a:lnTo>
                    <a:pt x="918391" y="0"/>
                  </a:lnTo>
                  <a:cubicBezTo>
                    <a:pt x="952837" y="0"/>
                    <a:pt x="980761" y="27924"/>
                    <a:pt x="980761" y="62371"/>
                  </a:cubicBezTo>
                  <a:lnTo>
                    <a:pt x="980761" y="1021363"/>
                  </a:lnTo>
                  <a:cubicBezTo>
                    <a:pt x="980761" y="1037904"/>
                    <a:pt x="974190" y="1053769"/>
                    <a:pt x="962493" y="1065465"/>
                  </a:cubicBezTo>
                  <a:cubicBezTo>
                    <a:pt x="950797" y="1077162"/>
                    <a:pt x="934933" y="1083733"/>
                    <a:pt x="918391" y="1083733"/>
                  </a:cubicBezTo>
                  <a:lnTo>
                    <a:pt x="62371" y="1083733"/>
                  </a:lnTo>
                  <a:cubicBezTo>
                    <a:pt x="27924" y="1083733"/>
                    <a:pt x="0" y="1055809"/>
                    <a:pt x="0" y="1021363"/>
                  </a:cubicBezTo>
                  <a:lnTo>
                    <a:pt x="0" y="62371"/>
                  </a:lnTo>
                  <a:cubicBezTo>
                    <a:pt x="0" y="27924"/>
                    <a:pt x="27924" y="0"/>
                    <a:pt x="62371" y="0"/>
                  </a:cubicBezTo>
                  <a:close/>
                </a:path>
              </a:pathLst>
            </a:custGeom>
            <a:solidFill>
              <a:srgbClr val="FFFFFF"/>
            </a:solidFill>
            <a:ln w="47625" cap="rnd">
              <a:solidFill>
                <a:srgbClr val="000000"/>
              </a:solidFill>
              <a:prstDash val="solid"/>
              <a:round/>
            </a:ln>
          </p:spPr>
        </p:sp>
        <p:sp>
          <p:nvSpPr>
            <p:cNvPr id="9" name="TextBox 9"/>
            <p:cNvSpPr txBox="1"/>
            <p:nvPr/>
          </p:nvSpPr>
          <p:spPr>
            <a:xfrm>
              <a:off x="0" y="-57150"/>
              <a:ext cx="980761" cy="1140883"/>
            </a:xfrm>
            <a:prstGeom prst="rect">
              <a:avLst/>
            </a:prstGeom>
          </p:spPr>
          <p:txBody>
            <a:bodyPr lIns="50800" tIns="50800" rIns="50800" bIns="50800" rtlCol="0" anchor="ctr"/>
            <a:lstStyle/>
            <a:p>
              <a:pPr algn="ctr">
                <a:lnSpc>
                  <a:spcPts val="3640"/>
                </a:lnSpc>
              </a:pPr>
              <a:endParaRPr/>
            </a:p>
          </p:txBody>
        </p:sp>
      </p:grpSp>
      <p:grpSp>
        <p:nvGrpSpPr>
          <p:cNvPr id="10" name="Group 10"/>
          <p:cNvGrpSpPr/>
          <p:nvPr/>
        </p:nvGrpSpPr>
        <p:grpSpPr>
          <a:xfrm>
            <a:off x="9368267" y="4858623"/>
            <a:ext cx="3723829" cy="4114800"/>
            <a:chOff x="0" y="0"/>
            <a:chExt cx="980761" cy="1083733"/>
          </a:xfrm>
        </p:grpSpPr>
        <p:sp>
          <p:nvSpPr>
            <p:cNvPr id="11" name="Freeform 11"/>
            <p:cNvSpPr/>
            <p:nvPr/>
          </p:nvSpPr>
          <p:spPr>
            <a:xfrm>
              <a:off x="0" y="0"/>
              <a:ext cx="980761" cy="1083733"/>
            </a:xfrm>
            <a:custGeom>
              <a:avLst/>
              <a:gdLst/>
              <a:ahLst/>
              <a:cxnLst/>
              <a:rect l="l" t="t" r="r" b="b"/>
              <a:pathLst>
                <a:path w="980761" h="1083733">
                  <a:moveTo>
                    <a:pt x="62371" y="0"/>
                  </a:moveTo>
                  <a:lnTo>
                    <a:pt x="918391" y="0"/>
                  </a:lnTo>
                  <a:cubicBezTo>
                    <a:pt x="952837" y="0"/>
                    <a:pt x="980761" y="27924"/>
                    <a:pt x="980761" y="62371"/>
                  </a:cubicBezTo>
                  <a:lnTo>
                    <a:pt x="980761" y="1021363"/>
                  </a:lnTo>
                  <a:cubicBezTo>
                    <a:pt x="980761" y="1037904"/>
                    <a:pt x="974190" y="1053769"/>
                    <a:pt x="962493" y="1065465"/>
                  </a:cubicBezTo>
                  <a:cubicBezTo>
                    <a:pt x="950797" y="1077162"/>
                    <a:pt x="934933" y="1083733"/>
                    <a:pt x="918391" y="1083733"/>
                  </a:cubicBezTo>
                  <a:lnTo>
                    <a:pt x="62371" y="1083733"/>
                  </a:lnTo>
                  <a:cubicBezTo>
                    <a:pt x="27924" y="1083733"/>
                    <a:pt x="0" y="1055809"/>
                    <a:pt x="0" y="1021363"/>
                  </a:cubicBezTo>
                  <a:lnTo>
                    <a:pt x="0" y="62371"/>
                  </a:lnTo>
                  <a:cubicBezTo>
                    <a:pt x="0" y="27924"/>
                    <a:pt x="27924" y="0"/>
                    <a:pt x="62371" y="0"/>
                  </a:cubicBezTo>
                  <a:close/>
                </a:path>
              </a:pathLst>
            </a:custGeom>
            <a:solidFill>
              <a:srgbClr val="FFFFFF"/>
            </a:solidFill>
            <a:ln w="47625" cap="rnd">
              <a:solidFill>
                <a:srgbClr val="000000"/>
              </a:solidFill>
              <a:prstDash val="solid"/>
              <a:round/>
            </a:ln>
          </p:spPr>
        </p:sp>
        <p:sp>
          <p:nvSpPr>
            <p:cNvPr id="12" name="TextBox 12"/>
            <p:cNvSpPr txBox="1"/>
            <p:nvPr/>
          </p:nvSpPr>
          <p:spPr>
            <a:xfrm>
              <a:off x="0" y="-57150"/>
              <a:ext cx="980761" cy="1140883"/>
            </a:xfrm>
            <a:prstGeom prst="rect">
              <a:avLst/>
            </a:prstGeom>
          </p:spPr>
          <p:txBody>
            <a:bodyPr lIns="50800" tIns="50800" rIns="50800" bIns="50800" rtlCol="0" anchor="ctr"/>
            <a:lstStyle/>
            <a:p>
              <a:pPr algn="ctr">
                <a:lnSpc>
                  <a:spcPts val="3640"/>
                </a:lnSpc>
              </a:pPr>
              <a:endParaRPr/>
            </a:p>
          </p:txBody>
        </p:sp>
      </p:grpSp>
      <p:sp>
        <p:nvSpPr>
          <p:cNvPr id="13" name="Freeform 13"/>
          <p:cNvSpPr/>
          <p:nvPr/>
        </p:nvSpPr>
        <p:spPr>
          <a:xfrm rot="-4153692">
            <a:off x="14360264" y="6831358"/>
            <a:ext cx="6581533" cy="2321486"/>
          </a:xfrm>
          <a:custGeom>
            <a:avLst/>
            <a:gdLst/>
            <a:ahLst/>
            <a:cxnLst/>
            <a:rect l="l" t="t" r="r" b="b"/>
            <a:pathLst>
              <a:path w="6581533" h="2321486">
                <a:moveTo>
                  <a:pt x="0" y="0"/>
                </a:moveTo>
                <a:lnTo>
                  <a:pt x="6581533" y="0"/>
                </a:lnTo>
                <a:lnTo>
                  <a:pt x="6581533" y="2321487"/>
                </a:lnTo>
                <a:lnTo>
                  <a:pt x="0" y="23214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3538051" y="4858623"/>
            <a:ext cx="3723829" cy="4114800"/>
            <a:chOff x="0" y="0"/>
            <a:chExt cx="980761" cy="1083733"/>
          </a:xfrm>
        </p:grpSpPr>
        <p:sp>
          <p:nvSpPr>
            <p:cNvPr id="15" name="Freeform 15"/>
            <p:cNvSpPr/>
            <p:nvPr/>
          </p:nvSpPr>
          <p:spPr>
            <a:xfrm>
              <a:off x="0" y="0"/>
              <a:ext cx="980761" cy="1083733"/>
            </a:xfrm>
            <a:custGeom>
              <a:avLst/>
              <a:gdLst/>
              <a:ahLst/>
              <a:cxnLst/>
              <a:rect l="l" t="t" r="r" b="b"/>
              <a:pathLst>
                <a:path w="980761" h="1083733">
                  <a:moveTo>
                    <a:pt x="62371" y="0"/>
                  </a:moveTo>
                  <a:lnTo>
                    <a:pt x="918391" y="0"/>
                  </a:lnTo>
                  <a:cubicBezTo>
                    <a:pt x="952837" y="0"/>
                    <a:pt x="980761" y="27924"/>
                    <a:pt x="980761" y="62371"/>
                  </a:cubicBezTo>
                  <a:lnTo>
                    <a:pt x="980761" y="1021363"/>
                  </a:lnTo>
                  <a:cubicBezTo>
                    <a:pt x="980761" y="1037904"/>
                    <a:pt x="974190" y="1053769"/>
                    <a:pt x="962493" y="1065465"/>
                  </a:cubicBezTo>
                  <a:cubicBezTo>
                    <a:pt x="950797" y="1077162"/>
                    <a:pt x="934933" y="1083733"/>
                    <a:pt x="918391" y="1083733"/>
                  </a:cubicBezTo>
                  <a:lnTo>
                    <a:pt x="62371" y="1083733"/>
                  </a:lnTo>
                  <a:cubicBezTo>
                    <a:pt x="27924" y="1083733"/>
                    <a:pt x="0" y="1055809"/>
                    <a:pt x="0" y="1021363"/>
                  </a:cubicBezTo>
                  <a:lnTo>
                    <a:pt x="0" y="62371"/>
                  </a:lnTo>
                  <a:cubicBezTo>
                    <a:pt x="0" y="27924"/>
                    <a:pt x="27924" y="0"/>
                    <a:pt x="62371" y="0"/>
                  </a:cubicBezTo>
                  <a:close/>
                </a:path>
              </a:pathLst>
            </a:custGeom>
            <a:solidFill>
              <a:srgbClr val="FFFFFF"/>
            </a:solidFill>
            <a:ln w="47625" cap="rnd">
              <a:solidFill>
                <a:srgbClr val="000000"/>
              </a:solidFill>
              <a:prstDash val="solid"/>
              <a:round/>
            </a:ln>
          </p:spPr>
        </p:sp>
        <p:sp>
          <p:nvSpPr>
            <p:cNvPr id="16" name="TextBox 16"/>
            <p:cNvSpPr txBox="1"/>
            <p:nvPr/>
          </p:nvSpPr>
          <p:spPr>
            <a:xfrm>
              <a:off x="0" y="-57150"/>
              <a:ext cx="980761" cy="1140883"/>
            </a:xfrm>
            <a:prstGeom prst="rect">
              <a:avLst/>
            </a:prstGeom>
          </p:spPr>
          <p:txBody>
            <a:bodyPr lIns="50800" tIns="50800" rIns="50800" bIns="50800" rtlCol="0" anchor="ctr"/>
            <a:lstStyle/>
            <a:p>
              <a:pPr algn="ctr">
                <a:lnSpc>
                  <a:spcPts val="3640"/>
                </a:lnSpc>
              </a:pPr>
              <a:endParaRPr/>
            </a:p>
          </p:txBody>
        </p:sp>
      </p:grpSp>
      <p:grpSp>
        <p:nvGrpSpPr>
          <p:cNvPr id="17" name="Group 17"/>
          <p:cNvGrpSpPr/>
          <p:nvPr/>
        </p:nvGrpSpPr>
        <p:grpSpPr>
          <a:xfrm>
            <a:off x="2249404" y="4218702"/>
            <a:ext cx="1279841" cy="1279841"/>
            <a:chOff x="0" y="0"/>
            <a:chExt cx="1706454" cy="1706454"/>
          </a:xfrm>
        </p:grpSpPr>
        <p:grpSp>
          <p:nvGrpSpPr>
            <p:cNvPr id="18" name="Group 18"/>
            <p:cNvGrpSpPr/>
            <p:nvPr/>
          </p:nvGrpSpPr>
          <p:grpSpPr>
            <a:xfrm>
              <a:off x="0" y="0"/>
              <a:ext cx="1706454" cy="17064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D25E"/>
              </a:solidFill>
            </p:spPr>
          </p:sp>
        </p:grpSp>
        <p:sp>
          <p:nvSpPr>
            <p:cNvPr id="20" name="TextBox 20"/>
            <p:cNvSpPr txBox="1"/>
            <p:nvPr/>
          </p:nvSpPr>
          <p:spPr>
            <a:xfrm>
              <a:off x="250650" y="-130350"/>
              <a:ext cx="1205154" cy="1581874"/>
            </a:xfrm>
            <a:prstGeom prst="rect">
              <a:avLst/>
            </a:prstGeom>
          </p:spPr>
          <p:txBody>
            <a:bodyPr lIns="0" tIns="0" rIns="0" bIns="0" rtlCol="0" anchor="t">
              <a:spAutoFit/>
            </a:bodyPr>
            <a:lstStyle/>
            <a:p>
              <a:pPr algn="ctr">
                <a:lnSpc>
                  <a:spcPts val="9370"/>
                </a:lnSpc>
              </a:pPr>
              <a:r>
                <a:rPr lang="en-US" sz="5968" b="1">
                  <a:solidFill>
                    <a:srgbClr val="000000"/>
                  </a:solidFill>
                  <a:latin typeface="Agrandir Bold"/>
                  <a:ea typeface="Agrandir Bold"/>
                  <a:cs typeface="Agrandir Bold"/>
                  <a:sym typeface="Agrandir Bold"/>
                </a:rPr>
                <a:t>1</a:t>
              </a:r>
            </a:p>
          </p:txBody>
        </p:sp>
      </p:grpSp>
      <p:grpSp>
        <p:nvGrpSpPr>
          <p:cNvPr id="21" name="Group 21"/>
          <p:cNvGrpSpPr/>
          <p:nvPr/>
        </p:nvGrpSpPr>
        <p:grpSpPr>
          <a:xfrm>
            <a:off x="6419188" y="4218702"/>
            <a:ext cx="1279841" cy="1279841"/>
            <a:chOff x="0" y="0"/>
            <a:chExt cx="1706454" cy="1706454"/>
          </a:xfrm>
        </p:grpSpPr>
        <p:grpSp>
          <p:nvGrpSpPr>
            <p:cNvPr id="22" name="Group 22"/>
            <p:cNvGrpSpPr/>
            <p:nvPr/>
          </p:nvGrpSpPr>
          <p:grpSpPr>
            <a:xfrm>
              <a:off x="0" y="0"/>
              <a:ext cx="1706454" cy="1706454"/>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D25E"/>
              </a:solidFill>
            </p:spPr>
          </p:sp>
        </p:grpSp>
        <p:sp>
          <p:nvSpPr>
            <p:cNvPr id="24" name="TextBox 24"/>
            <p:cNvSpPr txBox="1"/>
            <p:nvPr/>
          </p:nvSpPr>
          <p:spPr>
            <a:xfrm>
              <a:off x="250650" y="-130350"/>
              <a:ext cx="1205154" cy="1581874"/>
            </a:xfrm>
            <a:prstGeom prst="rect">
              <a:avLst/>
            </a:prstGeom>
          </p:spPr>
          <p:txBody>
            <a:bodyPr lIns="0" tIns="0" rIns="0" bIns="0" rtlCol="0" anchor="t">
              <a:spAutoFit/>
            </a:bodyPr>
            <a:lstStyle/>
            <a:p>
              <a:pPr marL="0" lvl="1" indent="0" algn="ctr">
                <a:lnSpc>
                  <a:spcPts val="9370"/>
                </a:lnSpc>
                <a:spcBef>
                  <a:spcPct val="0"/>
                </a:spcBef>
              </a:pPr>
              <a:r>
                <a:rPr lang="en-US" sz="5968" b="1" u="none">
                  <a:solidFill>
                    <a:srgbClr val="000000"/>
                  </a:solidFill>
                  <a:latin typeface="Agrandir Bold"/>
                  <a:ea typeface="Agrandir Bold"/>
                  <a:cs typeface="Agrandir Bold"/>
                  <a:sym typeface="Agrandir Bold"/>
                </a:rPr>
                <a:t>2</a:t>
              </a:r>
            </a:p>
          </p:txBody>
        </p:sp>
      </p:grpSp>
      <p:grpSp>
        <p:nvGrpSpPr>
          <p:cNvPr id="25" name="Group 25"/>
          <p:cNvGrpSpPr/>
          <p:nvPr/>
        </p:nvGrpSpPr>
        <p:grpSpPr>
          <a:xfrm>
            <a:off x="10588972" y="4218702"/>
            <a:ext cx="1279841" cy="1279841"/>
            <a:chOff x="0" y="0"/>
            <a:chExt cx="1706454" cy="1706454"/>
          </a:xfrm>
        </p:grpSpPr>
        <p:grpSp>
          <p:nvGrpSpPr>
            <p:cNvPr id="26" name="Group 26"/>
            <p:cNvGrpSpPr/>
            <p:nvPr/>
          </p:nvGrpSpPr>
          <p:grpSpPr>
            <a:xfrm>
              <a:off x="0" y="0"/>
              <a:ext cx="1706454" cy="1706454"/>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D25E"/>
              </a:solidFill>
            </p:spPr>
          </p:sp>
        </p:grpSp>
        <p:sp>
          <p:nvSpPr>
            <p:cNvPr id="28" name="TextBox 28"/>
            <p:cNvSpPr txBox="1"/>
            <p:nvPr/>
          </p:nvSpPr>
          <p:spPr>
            <a:xfrm>
              <a:off x="250650" y="-130350"/>
              <a:ext cx="1205154" cy="1581874"/>
            </a:xfrm>
            <a:prstGeom prst="rect">
              <a:avLst/>
            </a:prstGeom>
          </p:spPr>
          <p:txBody>
            <a:bodyPr lIns="0" tIns="0" rIns="0" bIns="0" rtlCol="0" anchor="t">
              <a:spAutoFit/>
            </a:bodyPr>
            <a:lstStyle/>
            <a:p>
              <a:pPr marL="0" lvl="1" indent="0" algn="ctr">
                <a:lnSpc>
                  <a:spcPts val="9370"/>
                </a:lnSpc>
                <a:spcBef>
                  <a:spcPct val="0"/>
                </a:spcBef>
              </a:pPr>
              <a:r>
                <a:rPr lang="en-US" sz="5968" b="1" u="none">
                  <a:solidFill>
                    <a:srgbClr val="000000"/>
                  </a:solidFill>
                  <a:latin typeface="Agrandir Bold"/>
                  <a:ea typeface="Agrandir Bold"/>
                  <a:cs typeface="Agrandir Bold"/>
                  <a:sym typeface="Agrandir Bold"/>
                </a:rPr>
                <a:t>3</a:t>
              </a:r>
            </a:p>
          </p:txBody>
        </p:sp>
      </p:grpSp>
      <p:grpSp>
        <p:nvGrpSpPr>
          <p:cNvPr id="29" name="Group 29"/>
          <p:cNvGrpSpPr/>
          <p:nvPr/>
        </p:nvGrpSpPr>
        <p:grpSpPr>
          <a:xfrm>
            <a:off x="14758755" y="4218702"/>
            <a:ext cx="1279841" cy="1279841"/>
            <a:chOff x="0" y="0"/>
            <a:chExt cx="1706454" cy="1706454"/>
          </a:xfrm>
        </p:grpSpPr>
        <p:grpSp>
          <p:nvGrpSpPr>
            <p:cNvPr id="30" name="Group 30"/>
            <p:cNvGrpSpPr/>
            <p:nvPr/>
          </p:nvGrpSpPr>
          <p:grpSpPr>
            <a:xfrm>
              <a:off x="0" y="0"/>
              <a:ext cx="1706454" cy="1706454"/>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D25E"/>
              </a:solidFill>
            </p:spPr>
          </p:sp>
        </p:grpSp>
        <p:sp>
          <p:nvSpPr>
            <p:cNvPr id="32" name="TextBox 32"/>
            <p:cNvSpPr txBox="1"/>
            <p:nvPr/>
          </p:nvSpPr>
          <p:spPr>
            <a:xfrm>
              <a:off x="250650" y="-130350"/>
              <a:ext cx="1205154" cy="1581874"/>
            </a:xfrm>
            <a:prstGeom prst="rect">
              <a:avLst/>
            </a:prstGeom>
          </p:spPr>
          <p:txBody>
            <a:bodyPr lIns="0" tIns="0" rIns="0" bIns="0" rtlCol="0" anchor="t">
              <a:spAutoFit/>
            </a:bodyPr>
            <a:lstStyle/>
            <a:p>
              <a:pPr marL="0" lvl="1" indent="0" algn="ctr">
                <a:lnSpc>
                  <a:spcPts val="9370"/>
                </a:lnSpc>
                <a:spcBef>
                  <a:spcPct val="0"/>
                </a:spcBef>
              </a:pPr>
              <a:r>
                <a:rPr lang="en-US" sz="5968" b="1">
                  <a:solidFill>
                    <a:srgbClr val="000000"/>
                  </a:solidFill>
                  <a:latin typeface="Agrandir Bold"/>
                  <a:ea typeface="Agrandir Bold"/>
                  <a:cs typeface="Agrandir Bold"/>
                  <a:sym typeface="Agrandir Bold"/>
                </a:rPr>
                <a:t>4</a:t>
              </a:r>
            </a:p>
          </p:txBody>
        </p:sp>
      </p:grpSp>
      <p:sp>
        <p:nvSpPr>
          <p:cNvPr id="33" name="Freeform 33"/>
          <p:cNvSpPr/>
          <p:nvPr/>
        </p:nvSpPr>
        <p:spPr>
          <a:xfrm rot="-1692971">
            <a:off x="-310518" y="-321485"/>
            <a:ext cx="4038688" cy="4114800"/>
          </a:xfrm>
          <a:custGeom>
            <a:avLst/>
            <a:gdLst/>
            <a:ahLst/>
            <a:cxnLst/>
            <a:rect l="l" t="t" r="r" b="b"/>
            <a:pathLst>
              <a:path w="4038688" h="4114800">
                <a:moveTo>
                  <a:pt x="0" y="0"/>
                </a:moveTo>
                <a:lnTo>
                  <a:pt x="4038688" y="0"/>
                </a:lnTo>
                <a:lnTo>
                  <a:pt x="403868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4" name="Freeform 34"/>
          <p:cNvSpPr/>
          <p:nvPr/>
        </p:nvSpPr>
        <p:spPr>
          <a:xfrm>
            <a:off x="3909820" y="-422338"/>
            <a:ext cx="1685416" cy="1735915"/>
          </a:xfrm>
          <a:custGeom>
            <a:avLst/>
            <a:gdLst/>
            <a:ahLst/>
            <a:cxnLst/>
            <a:rect l="l" t="t" r="r" b="b"/>
            <a:pathLst>
              <a:path w="1685416" h="1735915">
                <a:moveTo>
                  <a:pt x="0" y="0"/>
                </a:moveTo>
                <a:lnTo>
                  <a:pt x="1685417" y="0"/>
                </a:lnTo>
                <a:lnTo>
                  <a:pt x="1685417" y="1735915"/>
                </a:lnTo>
                <a:lnTo>
                  <a:pt x="0" y="173591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5" name="TextBox 35"/>
          <p:cNvSpPr txBox="1"/>
          <p:nvPr/>
        </p:nvSpPr>
        <p:spPr>
          <a:xfrm>
            <a:off x="13827051" y="5736506"/>
            <a:ext cx="3143250" cy="2715894"/>
          </a:xfrm>
          <a:prstGeom prst="rect">
            <a:avLst/>
          </a:prstGeom>
        </p:spPr>
        <p:txBody>
          <a:bodyPr lIns="0" tIns="0" rIns="0" bIns="0" rtlCol="0" anchor="t">
            <a:spAutoFit/>
          </a:bodyPr>
          <a:lstStyle/>
          <a:p>
            <a:pPr algn="ctr">
              <a:lnSpc>
                <a:spcPts val="3080"/>
              </a:lnSpc>
            </a:pPr>
            <a:r>
              <a:rPr lang="en-US" sz="2200">
                <a:solidFill>
                  <a:srgbClr val="000000"/>
                </a:solidFill>
                <a:latin typeface="Garet"/>
                <a:ea typeface="Garet"/>
                <a:cs typeface="Garet"/>
                <a:sym typeface="Garet"/>
              </a:rPr>
              <a:t>Analyse the opening chapter of the novel, considering how elements such as characters, setting, themes, and style create meaning.</a:t>
            </a:r>
          </a:p>
        </p:txBody>
      </p:sp>
      <p:sp>
        <p:nvSpPr>
          <p:cNvPr id="36" name="Freeform 36"/>
          <p:cNvSpPr/>
          <p:nvPr/>
        </p:nvSpPr>
        <p:spPr>
          <a:xfrm flipH="1" flipV="1">
            <a:off x="3529245" y="2922120"/>
            <a:ext cx="990675" cy="1020358"/>
          </a:xfrm>
          <a:custGeom>
            <a:avLst/>
            <a:gdLst/>
            <a:ahLst/>
            <a:cxnLst/>
            <a:rect l="l" t="t" r="r" b="b"/>
            <a:pathLst>
              <a:path w="990675" h="1020358">
                <a:moveTo>
                  <a:pt x="990674" y="1020357"/>
                </a:moveTo>
                <a:lnTo>
                  <a:pt x="0" y="1020357"/>
                </a:lnTo>
                <a:lnTo>
                  <a:pt x="0" y="0"/>
                </a:lnTo>
                <a:lnTo>
                  <a:pt x="990674" y="0"/>
                </a:lnTo>
                <a:lnTo>
                  <a:pt x="990674" y="1020357"/>
                </a:lnTo>
                <a:close/>
              </a:path>
            </a:pathLst>
          </a:custGeom>
          <a:blipFill>
            <a:blip>
              <a:extLst>
                <a:ext uri="{96DAC541-7B7A-43D3-8B79-37D633B846F1}">
                  <asvg:svgBlip xmlns:asvg="http://schemas.microsoft.com/office/drawing/2016/SVG/main" r:embed="rId7"/>
                </a:ext>
              </a:extLst>
            </a:blip>
            <a:stretch>
              <a:fillRect/>
            </a:stretch>
          </a:blipFill>
        </p:spPr>
      </p:sp>
      <p:sp>
        <p:nvSpPr>
          <p:cNvPr id="37" name="Freeform 37"/>
          <p:cNvSpPr/>
          <p:nvPr/>
        </p:nvSpPr>
        <p:spPr>
          <a:xfrm rot="-7404567">
            <a:off x="12787100" y="7959442"/>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8" name="Freeform 38"/>
          <p:cNvSpPr/>
          <p:nvPr/>
        </p:nvSpPr>
        <p:spPr>
          <a:xfrm rot="-3363898">
            <a:off x="16743821" y="3558830"/>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
        <p:nvSpPr>
          <p:cNvPr id="39" name="TextBox 39"/>
          <p:cNvSpPr txBox="1"/>
          <p:nvPr/>
        </p:nvSpPr>
        <p:spPr>
          <a:xfrm>
            <a:off x="5387330" y="1142127"/>
            <a:ext cx="7513340" cy="2800350"/>
          </a:xfrm>
          <a:prstGeom prst="rect">
            <a:avLst/>
          </a:prstGeom>
        </p:spPr>
        <p:txBody>
          <a:bodyPr lIns="0" tIns="0" rIns="0" bIns="0" rtlCol="0" anchor="t">
            <a:spAutoFit/>
          </a:bodyPr>
          <a:lstStyle/>
          <a:p>
            <a:pPr algn="ctr">
              <a:lnSpc>
                <a:spcPts val="9900"/>
              </a:lnSpc>
            </a:pPr>
            <a:r>
              <a:rPr lang="en-US" sz="9000" b="1">
                <a:solidFill>
                  <a:srgbClr val="000000"/>
                </a:solidFill>
                <a:latin typeface="Agrandir Ultra-Bold"/>
                <a:ea typeface="Agrandir Ultra-Bold"/>
                <a:cs typeface="Agrandir Ultra-Bold"/>
                <a:sym typeface="Agrandir Ultra-Bold"/>
              </a:rPr>
              <a:t>learning</a:t>
            </a:r>
          </a:p>
          <a:p>
            <a:pPr algn="ctr">
              <a:lnSpc>
                <a:spcPts val="9900"/>
              </a:lnSpc>
            </a:pPr>
            <a:r>
              <a:rPr lang="en-US" sz="9000" b="1">
                <a:solidFill>
                  <a:srgbClr val="000000"/>
                </a:solidFill>
                <a:latin typeface="Agrandir Ultra-Bold"/>
                <a:ea typeface="Agrandir Ultra-Bold"/>
                <a:cs typeface="Agrandir Ultra-Bold"/>
                <a:sym typeface="Agrandir Ultra-Bold"/>
              </a:rPr>
              <a:t>objectives</a:t>
            </a:r>
          </a:p>
        </p:txBody>
      </p:sp>
      <p:sp>
        <p:nvSpPr>
          <p:cNvPr id="40" name="TextBox 40"/>
          <p:cNvSpPr txBox="1"/>
          <p:nvPr/>
        </p:nvSpPr>
        <p:spPr>
          <a:xfrm>
            <a:off x="1317699" y="5931768"/>
            <a:ext cx="3143250" cy="2325369"/>
          </a:xfrm>
          <a:prstGeom prst="rect">
            <a:avLst/>
          </a:prstGeom>
        </p:spPr>
        <p:txBody>
          <a:bodyPr lIns="0" tIns="0" rIns="0" bIns="0" rtlCol="0" anchor="t">
            <a:spAutoFit/>
          </a:bodyPr>
          <a:lstStyle/>
          <a:p>
            <a:pPr algn="ctr">
              <a:lnSpc>
                <a:spcPts val="3080"/>
              </a:lnSpc>
            </a:pPr>
            <a:r>
              <a:rPr lang="en-US" sz="2200">
                <a:solidFill>
                  <a:srgbClr val="000000"/>
                </a:solidFill>
                <a:latin typeface="Garet"/>
                <a:ea typeface="Garet"/>
                <a:cs typeface="Garet"/>
                <a:sym typeface="Garet"/>
              </a:rPr>
              <a:t>Revise elements of story by identifying narrative conventions and literary devices that form a novel.</a:t>
            </a:r>
          </a:p>
        </p:txBody>
      </p:sp>
      <p:sp>
        <p:nvSpPr>
          <p:cNvPr id="41" name="TextBox 41"/>
          <p:cNvSpPr txBox="1"/>
          <p:nvPr/>
        </p:nvSpPr>
        <p:spPr>
          <a:xfrm>
            <a:off x="5487483" y="5736506"/>
            <a:ext cx="3143250" cy="2715894"/>
          </a:xfrm>
          <a:prstGeom prst="rect">
            <a:avLst/>
          </a:prstGeom>
        </p:spPr>
        <p:txBody>
          <a:bodyPr lIns="0" tIns="0" rIns="0" bIns="0" rtlCol="0" anchor="t">
            <a:spAutoFit/>
          </a:bodyPr>
          <a:lstStyle/>
          <a:p>
            <a:pPr algn="ctr">
              <a:lnSpc>
                <a:spcPts val="3080"/>
              </a:lnSpc>
            </a:pPr>
            <a:r>
              <a:rPr lang="en-US" sz="2200">
                <a:solidFill>
                  <a:srgbClr val="000000"/>
                </a:solidFill>
                <a:latin typeface="Garet"/>
                <a:ea typeface="Garet"/>
                <a:cs typeface="Garet"/>
                <a:sym typeface="Garet"/>
              </a:rPr>
              <a:t>Analyse the book cover and blurb to make predictions about the novel's content, identify its genre, and explore key themes.</a:t>
            </a:r>
          </a:p>
        </p:txBody>
      </p:sp>
      <p:sp>
        <p:nvSpPr>
          <p:cNvPr id="42" name="TextBox 42"/>
          <p:cNvSpPr txBox="1"/>
          <p:nvPr/>
        </p:nvSpPr>
        <p:spPr>
          <a:xfrm>
            <a:off x="9657267" y="5736506"/>
            <a:ext cx="3143250" cy="2715894"/>
          </a:xfrm>
          <a:prstGeom prst="rect">
            <a:avLst/>
          </a:prstGeom>
        </p:spPr>
        <p:txBody>
          <a:bodyPr lIns="0" tIns="0" rIns="0" bIns="0" rtlCol="0" anchor="t">
            <a:spAutoFit/>
          </a:bodyPr>
          <a:lstStyle/>
          <a:p>
            <a:pPr algn="ctr">
              <a:lnSpc>
                <a:spcPts val="3080"/>
              </a:lnSpc>
            </a:pPr>
            <a:r>
              <a:rPr lang="en-US" sz="2200">
                <a:solidFill>
                  <a:srgbClr val="000000"/>
                </a:solidFill>
                <a:latin typeface="Garet"/>
                <a:ea typeface="Garet"/>
                <a:cs typeface="Garet"/>
                <a:sym typeface="Garet"/>
              </a:rPr>
              <a:t>Research and discuss the authorial, historical, social, cultural, and political context that has influenced the creation of the novel.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8747300" y="1753315"/>
            <a:ext cx="8115300" cy="1517651"/>
            <a:chOff x="0" y="0"/>
            <a:chExt cx="2137363" cy="399710"/>
          </a:xfrm>
        </p:grpSpPr>
        <p:sp>
          <p:nvSpPr>
            <p:cNvPr id="4" name="Freeform 4"/>
            <p:cNvSpPr/>
            <p:nvPr/>
          </p:nvSpPr>
          <p:spPr>
            <a:xfrm>
              <a:off x="0" y="0"/>
              <a:ext cx="2137363" cy="399710"/>
            </a:xfrm>
            <a:custGeom>
              <a:avLst/>
              <a:gdLst/>
              <a:ahLst/>
              <a:cxnLst/>
              <a:rect l="l" t="t" r="r" b="b"/>
              <a:pathLst>
                <a:path w="2137363" h="399710">
                  <a:moveTo>
                    <a:pt x="48654" y="0"/>
                  </a:moveTo>
                  <a:lnTo>
                    <a:pt x="2088710" y="0"/>
                  </a:lnTo>
                  <a:cubicBezTo>
                    <a:pt x="2115580" y="0"/>
                    <a:pt x="2137363" y="21783"/>
                    <a:pt x="2137363" y="48654"/>
                  </a:cubicBezTo>
                  <a:lnTo>
                    <a:pt x="2137363" y="351057"/>
                  </a:lnTo>
                  <a:cubicBezTo>
                    <a:pt x="2137363" y="377928"/>
                    <a:pt x="2115580" y="399710"/>
                    <a:pt x="2088710" y="399710"/>
                  </a:cubicBezTo>
                  <a:lnTo>
                    <a:pt x="48654" y="399710"/>
                  </a:lnTo>
                  <a:cubicBezTo>
                    <a:pt x="21783" y="399710"/>
                    <a:pt x="0" y="377928"/>
                    <a:pt x="0" y="351057"/>
                  </a:cubicBezTo>
                  <a:lnTo>
                    <a:pt x="0" y="48654"/>
                  </a:lnTo>
                  <a:cubicBezTo>
                    <a:pt x="0" y="21783"/>
                    <a:pt x="21783" y="0"/>
                    <a:pt x="48654" y="0"/>
                  </a:cubicBezTo>
                  <a:close/>
                </a:path>
              </a:pathLst>
            </a:custGeom>
            <a:solidFill>
              <a:srgbClr val="FFD25E"/>
            </a:solidFill>
          </p:spPr>
        </p:sp>
        <p:sp>
          <p:nvSpPr>
            <p:cNvPr id="5" name="TextBox 5"/>
            <p:cNvSpPr txBox="1"/>
            <p:nvPr/>
          </p:nvSpPr>
          <p:spPr>
            <a:xfrm>
              <a:off x="0" y="-57150"/>
              <a:ext cx="2137363" cy="456860"/>
            </a:xfrm>
            <a:prstGeom prst="rect">
              <a:avLst/>
            </a:prstGeom>
          </p:spPr>
          <p:txBody>
            <a:bodyPr lIns="50800" tIns="50800" rIns="50800" bIns="50800" rtlCol="0" anchor="ctr"/>
            <a:lstStyle/>
            <a:p>
              <a:pPr algn="ctr">
                <a:lnSpc>
                  <a:spcPts val="3640"/>
                </a:lnSpc>
              </a:pPr>
              <a:endParaRPr/>
            </a:p>
          </p:txBody>
        </p:sp>
      </p:grpSp>
      <p:grpSp>
        <p:nvGrpSpPr>
          <p:cNvPr id="6" name="Group 6"/>
          <p:cNvGrpSpPr/>
          <p:nvPr/>
        </p:nvGrpSpPr>
        <p:grpSpPr>
          <a:xfrm>
            <a:off x="8747300" y="3593756"/>
            <a:ext cx="8115300" cy="1517651"/>
            <a:chOff x="0" y="0"/>
            <a:chExt cx="2137363" cy="399710"/>
          </a:xfrm>
        </p:grpSpPr>
        <p:sp>
          <p:nvSpPr>
            <p:cNvPr id="7" name="Freeform 7"/>
            <p:cNvSpPr/>
            <p:nvPr/>
          </p:nvSpPr>
          <p:spPr>
            <a:xfrm>
              <a:off x="0" y="0"/>
              <a:ext cx="2137363" cy="399710"/>
            </a:xfrm>
            <a:custGeom>
              <a:avLst/>
              <a:gdLst/>
              <a:ahLst/>
              <a:cxnLst/>
              <a:rect l="l" t="t" r="r" b="b"/>
              <a:pathLst>
                <a:path w="2137363" h="399710">
                  <a:moveTo>
                    <a:pt x="48654" y="0"/>
                  </a:moveTo>
                  <a:lnTo>
                    <a:pt x="2088710" y="0"/>
                  </a:lnTo>
                  <a:cubicBezTo>
                    <a:pt x="2115580" y="0"/>
                    <a:pt x="2137363" y="21783"/>
                    <a:pt x="2137363" y="48654"/>
                  </a:cubicBezTo>
                  <a:lnTo>
                    <a:pt x="2137363" y="351057"/>
                  </a:lnTo>
                  <a:cubicBezTo>
                    <a:pt x="2137363" y="377928"/>
                    <a:pt x="2115580" y="399710"/>
                    <a:pt x="2088710" y="399710"/>
                  </a:cubicBezTo>
                  <a:lnTo>
                    <a:pt x="48654" y="399710"/>
                  </a:lnTo>
                  <a:cubicBezTo>
                    <a:pt x="21783" y="399710"/>
                    <a:pt x="0" y="377928"/>
                    <a:pt x="0" y="351057"/>
                  </a:cubicBezTo>
                  <a:lnTo>
                    <a:pt x="0" y="48654"/>
                  </a:lnTo>
                  <a:cubicBezTo>
                    <a:pt x="0" y="21783"/>
                    <a:pt x="21783" y="0"/>
                    <a:pt x="48654" y="0"/>
                  </a:cubicBezTo>
                  <a:close/>
                </a:path>
              </a:pathLst>
            </a:custGeom>
            <a:solidFill>
              <a:srgbClr val="FFD25E"/>
            </a:solidFill>
          </p:spPr>
        </p:sp>
        <p:sp>
          <p:nvSpPr>
            <p:cNvPr id="8" name="TextBox 8"/>
            <p:cNvSpPr txBox="1"/>
            <p:nvPr/>
          </p:nvSpPr>
          <p:spPr>
            <a:xfrm>
              <a:off x="0" y="-57150"/>
              <a:ext cx="2137363" cy="456860"/>
            </a:xfrm>
            <a:prstGeom prst="rect">
              <a:avLst/>
            </a:prstGeom>
          </p:spPr>
          <p:txBody>
            <a:bodyPr lIns="50800" tIns="50800" rIns="50800" bIns="50800" rtlCol="0" anchor="ctr"/>
            <a:lstStyle/>
            <a:p>
              <a:pPr algn="ctr">
                <a:lnSpc>
                  <a:spcPts val="3640"/>
                </a:lnSpc>
              </a:pPr>
              <a:endParaRPr/>
            </a:p>
          </p:txBody>
        </p:sp>
      </p:grpSp>
      <p:grpSp>
        <p:nvGrpSpPr>
          <p:cNvPr id="9" name="Group 9"/>
          <p:cNvGrpSpPr/>
          <p:nvPr/>
        </p:nvGrpSpPr>
        <p:grpSpPr>
          <a:xfrm>
            <a:off x="8747300" y="7274639"/>
            <a:ext cx="8115300" cy="1517651"/>
            <a:chOff x="0" y="0"/>
            <a:chExt cx="2137363" cy="399710"/>
          </a:xfrm>
        </p:grpSpPr>
        <p:sp>
          <p:nvSpPr>
            <p:cNvPr id="10" name="Freeform 10"/>
            <p:cNvSpPr/>
            <p:nvPr/>
          </p:nvSpPr>
          <p:spPr>
            <a:xfrm>
              <a:off x="0" y="0"/>
              <a:ext cx="2137363" cy="399710"/>
            </a:xfrm>
            <a:custGeom>
              <a:avLst/>
              <a:gdLst/>
              <a:ahLst/>
              <a:cxnLst/>
              <a:rect l="l" t="t" r="r" b="b"/>
              <a:pathLst>
                <a:path w="2137363" h="399710">
                  <a:moveTo>
                    <a:pt x="48654" y="0"/>
                  </a:moveTo>
                  <a:lnTo>
                    <a:pt x="2088710" y="0"/>
                  </a:lnTo>
                  <a:cubicBezTo>
                    <a:pt x="2115580" y="0"/>
                    <a:pt x="2137363" y="21783"/>
                    <a:pt x="2137363" y="48654"/>
                  </a:cubicBezTo>
                  <a:lnTo>
                    <a:pt x="2137363" y="351057"/>
                  </a:lnTo>
                  <a:cubicBezTo>
                    <a:pt x="2137363" y="377928"/>
                    <a:pt x="2115580" y="399710"/>
                    <a:pt x="2088710" y="399710"/>
                  </a:cubicBezTo>
                  <a:lnTo>
                    <a:pt x="48654" y="399710"/>
                  </a:lnTo>
                  <a:cubicBezTo>
                    <a:pt x="21783" y="399710"/>
                    <a:pt x="0" y="377928"/>
                    <a:pt x="0" y="351057"/>
                  </a:cubicBezTo>
                  <a:lnTo>
                    <a:pt x="0" y="48654"/>
                  </a:lnTo>
                  <a:cubicBezTo>
                    <a:pt x="0" y="21783"/>
                    <a:pt x="21783" y="0"/>
                    <a:pt x="48654" y="0"/>
                  </a:cubicBezTo>
                  <a:close/>
                </a:path>
              </a:pathLst>
            </a:custGeom>
            <a:solidFill>
              <a:srgbClr val="FFD25E"/>
            </a:solidFill>
          </p:spPr>
        </p:sp>
        <p:sp>
          <p:nvSpPr>
            <p:cNvPr id="11" name="TextBox 11"/>
            <p:cNvSpPr txBox="1"/>
            <p:nvPr/>
          </p:nvSpPr>
          <p:spPr>
            <a:xfrm>
              <a:off x="0" y="-57150"/>
              <a:ext cx="2137363" cy="456860"/>
            </a:xfrm>
            <a:prstGeom prst="rect">
              <a:avLst/>
            </a:prstGeom>
          </p:spPr>
          <p:txBody>
            <a:bodyPr lIns="50800" tIns="50800" rIns="50800" bIns="50800" rtlCol="0" anchor="ctr"/>
            <a:lstStyle/>
            <a:p>
              <a:pPr algn="ctr">
                <a:lnSpc>
                  <a:spcPts val="3640"/>
                </a:lnSpc>
              </a:pPr>
              <a:endParaRPr/>
            </a:p>
          </p:txBody>
        </p:sp>
      </p:grpSp>
      <p:grpSp>
        <p:nvGrpSpPr>
          <p:cNvPr id="12" name="Group 12"/>
          <p:cNvGrpSpPr/>
          <p:nvPr/>
        </p:nvGrpSpPr>
        <p:grpSpPr>
          <a:xfrm>
            <a:off x="8747300" y="5434197"/>
            <a:ext cx="8115300" cy="1517651"/>
            <a:chOff x="0" y="0"/>
            <a:chExt cx="2137363" cy="399710"/>
          </a:xfrm>
        </p:grpSpPr>
        <p:sp>
          <p:nvSpPr>
            <p:cNvPr id="13" name="Freeform 13"/>
            <p:cNvSpPr/>
            <p:nvPr/>
          </p:nvSpPr>
          <p:spPr>
            <a:xfrm>
              <a:off x="0" y="0"/>
              <a:ext cx="2137363" cy="399710"/>
            </a:xfrm>
            <a:custGeom>
              <a:avLst/>
              <a:gdLst/>
              <a:ahLst/>
              <a:cxnLst/>
              <a:rect l="l" t="t" r="r" b="b"/>
              <a:pathLst>
                <a:path w="2137363" h="399710">
                  <a:moveTo>
                    <a:pt x="48654" y="0"/>
                  </a:moveTo>
                  <a:lnTo>
                    <a:pt x="2088710" y="0"/>
                  </a:lnTo>
                  <a:cubicBezTo>
                    <a:pt x="2115580" y="0"/>
                    <a:pt x="2137363" y="21783"/>
                    <a:pt x="2137363" y="48654"/>
                  </a:cubicBezTo>
                  <a:lnTo>
                    <a:pt x="2137363" y="351057"/>
                  </a:lnTo>
                  <a:cubicBezTo>
                    <a:pt x="2137363" y="377928"/>
                    <a:pt x="2115580" y="399710"/>
                    <a:pt x="2088710" y="399710"/>
                  </a:cubicBezTo>
                  <a:lnTo>
                    <a:pt x="48654" y="399710"/>
                  </a:lnTo>
                  <a:cubicBezTo>
                    <a:pt x="21783" y="399710"/>
                    <a:pt x="0" y="377928"/>
                    <a:pt x="0" y="351057"/>
                  </a:cubicBezTo>
                  <a:lnTo>
                    <a:pt x="0" y="48654"/>
                  </a:lnTo>
                  <a:cubicBezTo>
                    <a:pt x="0" y="21783"/>
                    <a:pt x="21783" y="0"/>
                    <a:pt x="48654" y="0"/>
                  </a:cubicBezTo>
                  <a:close/>
                </a:path>
              </a:pathLst>
            </a:custGeom>
            <a:solidFill>
              <a:srgbClr val="FFD25E"/>
            </a:solidFill>
          </p:spPr>
        </p:sp>
        <p:sp>
          <p:nvSpPr>
            <p:cNvPr id="14" name="TextBox 14"/>
            <p:cNvSpPr txBox="1"/>
            <p:nvPr/>
          </p:nvSpPr>
          <p:spPr>
            <a:xfrm>
              <a:off x="0" y="-57150"/>
              <a:ext cx="2137363" cy="456860"/>
            </a:xfrm>
            <a:prstGeom prst="rect">
              <a:avLst/>
            </a:prstGeom>
          </p:spPr>
          <p:txBody>
            <a:bodyPr lIns="50800" tIns="50800" rIns="50800" bIns="50800" rtlCol="0" anchor="ctr"/>
            <a:lstStyle/>
            <a:p>
              <a:pPr algn="ctr">
                <a:lnSpc>
                  <a:spcPts val="3640"/>
                </a:lnSpc>
              </a:pPr>
              <a:endParaRPr/>
            </a:p>
          </p:txBody>
        </p:sp>
      </p:grpSp>
      <p:sp>
        <p:nvSpPr>
          <p:cNvPr id="15" name="Freeform 15"/>
          <p:cNvSpPr/>
          <p:nvPr/>
        </p:nvSpPr>
        <p:spPr>
          <a:xfrm>
            <a:off x="1440631" y="3985628"/>
            <a:ext cx="5986156" cy="4414790"/>
          </a:xfrm>
          <a:custGeom>
            <a:avLst/>
            <a:gdLst/>
            <a:ahLst/>
            <a:cxnLst/>
            <a:rect l="l" t="t" r="r" b="b"/>
            <a:pathLst>
              <a:path w="5986156" h="4414790">
                <a:moveTo>
                  <a:pt x="0" y="0"/>
                </a:moveTo>
                <a:lnTo>
                  <a:pt x="5986155" y="0"/>
                </a:lnTo>
                <a:lnTo>
                  <a:pt x="5986155" y="4414790"/>
                </a:lnTo>
                <a:lnTo>
                  <a:pt x="0" y="44147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a:off x="17259300" y="1213565"/>
            <a:ext cx="1997548" cy="2057400"/>
          </a:xfrm>
          <a:custGeom>
            <a:avLst/>
            <a:gdLst/>
            <a:ahLst/>
            <a:cxnLst/>
            <a:rect l="l" t="t" r="r" b="b"/>
            <a:pathLst>
              <a:path w="1997548" h="2057400">
                <a:moveTo>
                  <a:pt x="0" y="0"/>
                </a:moveTo>
                <a:lnTo>
                  <a:pt x="1997548" y="0"/>
                </a:lnTo>
                <a:lnTo>
                  <a:pt x="1997548"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a:off x="14792937" y="-909439"/>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Freeform 18"/>
          <p:cNvSpPr/>
          <p:nvPr/>
        </p:nvSpPr>
        <p:spPr>
          <a:xfrm rot="-6868579">
            <a:off x="-1112091" y="7964066"/>
            <a:ext cx="4401458" cy="3289089"/>
          </a:xfrm>
          <a:custGeom>
            <a:avLst/>
            <a:gdLst/>
            <a:ahLst/>
            <a:cxnLst/>
            <a:rect l="l" t="t" r="r" b="b"/>
            <a:pathLst>
              <a:path w="4401458" h="3289089">
                <a:moveTo>
                  <a:pt x="0" y="0"/>
                </a:moveTo>
                <a:lnTo>
                  <a:pt x="4401457" y="0"/>
                </a:lnTo>
                <a:lnTo>
                  <a:pt x="4401457" y="3289089"/>
                </a:lnTo>
                <a:lnTo>
                  <a:pt x="0" y="328908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9" name="Freeform 19"/>
          <p:cNvSpPr/>
          <p:nvPr/>
        </p:nvSpPr>
        <p:spPr>
          <a:xfrm rot="-3363898">
            <a:off x="13247012" y="579600"/>
            <a:ext cx="1030958" cy="898201"/>
          </a:xfrm>
          <a:custGeom>
            <a:avLst/>
            <a:gdLst/>
            <a:ahLst/>
            <a:cxnLst/>
            <a:rect l="l" t="t" r="r" b="b"/>
            <a:pathLst>
              <a:path w="1030958" h="898201">
                <a:moveTo>
                  <a:pt x="0" y="0"/>
                </a:moveTo>
                <a:lnTo>
                  <a:pt x="1030958" y="0"/>
                </a:lnTo>
                <a:lnTo>
                  <a:pt x="1030958" y="898200"/>
                </a:lnTo>
                <a:lnTo>
                  <a:pt x="0" y="898200"/>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0" name="Freeform 20"/>
          <p:cNvSpPr/>
          <p:nvPr/>
        </p:nvSpPr>
        <p:spPr>
          <a:xfrm rot="-3363898">
            <a:off x="3642085" y="9159510"/>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1" name="Freeform 21"/>
          <p:cNvSpPr/>
          <p:nvPr/>
        </p:nvSpPr>
        <p:spPr>
          <a:xfrm>
            <a:off x="-1088638" y="3634259"/>
            <a:ext cx="2177275" cy="2558763"/>
          </a:xfrm>
          <a:custGeom>
            <a:avLst/>
            <a:gdLst/>
            <a:ahLst/>
            <a:cxnLst/>
            <a:rect l="l" t="t" r="r" b="b"/>
            <a:pathLst>
              <a:path w="2177275" h="2558763">
                <a:moveTo>
                  <a:pt x="0" y="0"/>
                </a:moveTo>
                <a:lnTo>
                  <a:pt x="2177276" y="0"/>
                </a:lnTo>
                <a:lnTo>
                  <a:pt x="2177276" y="2558764"/>
                </a:lnTo>
                <a:lnTo>
                  <a:pt x="0" y="255876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2" name="TextBox 22"/>
          <p:cNvSpPr txBox="1"/>
          <p:nvPr/>
        </p:nvSpPr>
        <p:spPr>
          <a:xfrm>
            <a:off x="1430903" y="1277065"/>
            <a:ext cx="6916347" cy="1993901"/>
          </a:xfrm>
          <a:prstGeom prst="rect">
            <a:avLst/>
          </a:prstGeom>
        </p:spPr>
        <p:txBody>
          <a:bodyPr lIns="0" tIns="0" rIns="0" bIns="0" rtlCol="0" anchor="t">
            <a:spAutoFit/>
          </a:bodyPr>
          <a:lstStyle/>
          <a:p>
            <a:pPr algn="l">
              <a:lnSpc>
                <a:spcPts val="13999"/>
              </a:lnSpc>
            </a:pPr>
            <a:r>
              <a:rPr lang="en-US" sz="9999" b="1">
                <a:solidFill>
                  <a:srgbClr val="000000"/>
                </a:solidFill>
                <a:latin typeface="Agrandir Ultra-Bold"/>
                <a:ea typeface="Agrandir Ultra-Bold"/>
                <a:cs typeface="Agrandir Ultra-Bold"/>
                <a:sym typeface="Agrandir Ultra-Bold"/>
              </a:rPr>
              <a:t>contents</a:t>
            </a:r>
          </a:p>
        </p:txBody>
      </p:sp>
      <p:sp>
        <p:nvSpPr>
          <p:cNvPr id="23" name="TextBox 23"/>
          <p:cNvSpPr txBox="1"/>
          <p:nvPr/>
        </p:nvSpPr>
        <p:spPr>
          <a:xfrm>
            <a:off x="9216916" y="2226390"/>
            <a:ext cx="7176068" cy="514350"/>
          </a:xfrm>
          <a:prstGeom prst="rect">
            <a:avLst/>
          </a:prstGeom>
        </p:spPr>
        <p:txBody>
          <a:bodyPr lIns="0" tIns="0" rIns="0" bIns="0" rtlCol="0" anchor="t">
            <a:spAutoFit/>
          </a:bodyPr>
          <a:lstStyle/>
          <a:p>
            <a:pPr algn="ctr">
              <a:lnSpc>
                <a:spcPts val="4200"/>
              </a:lnSpc>
            </a:pPr>
            <a:r>
              <a:rPr lang="en-US" sz="3000">
                <a:solidFill>
                  <a:srgbClr val="000000"/>
                </a:solidFill>
                <a:latin typeface="Garet"/>
                <a:ea typeface="Garet"/>
                <a:cs typeface="Garet"/>
                <a:sym typeface="Garet"/>
              </a:rPr>
              <a:t>revising narrative conventions</a:t>
            </a:r>
          </a:p>
        </p:txBody>
      </p:sp>
      <p:sp>
        <p:nvSpPr>
          <p:cNvPr id="24" name="TextBox 24"/>
          <p:cNvSpPr txBox="1"/>
          <p:nvPr/>
        </p:nvSpPr>
        <p:spPr>
          <a:xfrm>
            <a:off x="9216916" y="4066831"/>
            <a:ext cx="7176068" cy="514350"/>
          </a:xfrm>
          <a:prstGeom prst="rect">
            <a:avLst/>
          </a:prstGeom>
        </p:spPr>
        <p:txBody>
          <a:bodyPr lIns="0" tIns="0" rIns="0" bIns="0" rtlCol="0" anchor="t">
            <a:spAutoFit/>
          </a:bodyPr>
          <a:lstStyle/>
          <a:p>
            <a:pPr algn="ctr">
              <a:lnSpc>
                <a:spcPts val="4200"/>
              </a:lnSpc>
            </a:pPr>
            <a:r>
              <a:rPr lang="en-US" sz="3000">
                <a:solidFill>
                  <a:srgbClr val="000000"/>
                </a:solidFill>
                <a:latin typeface="Garet"/>
                <a:ea typeface="Garet"/>
                <a:cs typeface="Garet"/>
                <a:sym typeface="Garet"/>
              </a:rPr>
              <a:t>book cover and blurb</a:t>
            </a:r>
          </a:p>
        </p:txBody>
      </p:sp>
      <p:sp>
        <p:nvSpPr>
          <p:cNvPr id="25" name="TextBox 25"/>
          <p:cNvSpPr txBox="1"/>
          <p:nvPr/>
        </p:nvSpPr>
        <p:spPr>
          <a:xfrm>
            <a:off x="9216916" y="5907273"/>
            <a:ext cx="7176068" cy="514350"/>
          </a:xfrm>
          <a:prstGeom prst="rect">
            <a:avLst/>
          </a:prstGeom>
        </p:spPr>
        <p:txBody>
          <a:bodyPr lIns="0" tIns="0" rIns="0" bIns="0" rtlCol="0" anchor="t">
            <a:spAutoFit/>
          </a:bodyPr>
          <a:lstStyle/>
          <a:p>
            <a:pPr algn="ctr">
              <a:lnSpc>
                <a:spcPts val="4200"/>
              </a:lnSpc>
            </a:pPr>
            <a:r>
              <a:rPr lang="en-US" sz="3000">
                <a:solidFill>
                  <a:srgbClr val="000000"/>
                </a:solidFill>
                <a:latin typeface="Garet"/>
                <a:ea typeface="Garet"/>
                <a:cs typeface="Garet"/>
                <a:sym typeface="Garet"/>
              </a:rPr>
              <a:t>understanding context</a:t>
            </a:r>
          </a:p>
        </p:txBody>
      </p:sp>
      <p:sp>
        <p:nvSpPr>
          <p:cNvPr id="26" name="TextBox 26"/>
          <p:cNvSpPr txBox="1"/>
          <p:nvPr/>
        </p:nvSpPr>
        <p:spPr>
          <a:xfrm>
            <a:off x="9216916" y="7747714"/>
            <a:ext cx="7176068" cy="514350"/>
          </a:xfrm>
          <a:prstGeom prst="rect">
            <a:avLst/>
          </a:prstGeom>
        </p:spPr>
        <p:txBody>
          <a:bodyPr lIns="0" tIns="0" rIns="0" bIns="0" rtlCol="0" anchor="t">
            <a:spAutoFit/>
          </a:bodyPr>
          <a:lstStyle/>
          <a:p>
            <a:pPr algn="ctr">
              <a:lnSpc>
                <a:spcPts val="4200"/>
              </a:lnSpc>
            </a:pPr>
            <a:r>
              <a:rPr lang="en-US" sz="3000">
                <a:solidFill>
                  <a:srgbClr val="000000"/>
                </a:solidFill>
                <a:latin typeface="Garet"/>
                <a:ea typeface="Garet"/>
                <a:cs typeface="Garet"/>
                <a:sym typeface="Garet"/>
              </a:rPr>
              <a:t>the opening chapter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14043966" y="-192804"/>
            <a:ext cx="4542557" cy="4114800"/>
          </a:xfrm>
          <a:custGeom>
            <a:avLst/>
            <a:gdLst/>
            <a:ahLst/>
            <a:cxnLst/>
            <a:rect l="l" t="t" r="r" b="b"/>
            <a:pathLst>
              <a:path w="4542557" h="4114800">
                <a:moveTo>
                  <a:pt x="0" y="0"/>
                </a:moveTo>
                <a:lnTo>
                  <a:pt x="4542557" y="0"/>
                </a:lnTo>
                <a:lnTo>
                  <a:pt x="4542557"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2783052" y="9152473"/>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2271160" y="2779452"/>
            <a:ext cx="13745681" cy="6478848"/>
            <a:chOff x="0" y="0"/>
            <a:chExt cx="3620262" cy="1706363"/>
          </a:xfrm>
        </p:grpSpPr>
        <p:sp>
          <p:nvSpPr>
            <p:cNvPr id="6" name="Freeform 6"/>
            <p:cNvSpPr/>
            <p:nvPr/>
          </p:nvSpPr>
          <p:spPr>
            <a:xfrm>
              <a:off x="0" y="0"/>
              <a:ext cx="3620262" cy="1706363"/>
            </a:xfrm>
            <a:custGeom>
              <a:avLst/>
              <a:gdLst/>
              <a:ahLst/>
              <a:cxnLst/>
              <a:rect l="l" t="t" r="r" b="b"/>
              <a:pathLst>
                <a:path w="3620262" h="1706363">
                  <a:moveTo>
                    <a:pt x="11265" y="0"/>
                  </a:moveTo>
                  <a:lnTo>
                    <a:pt x="3608997" y="0"/>
                  </a:lnTo>
                  <a:cubicBezTo>
                    <a:pt x="3611985" y="0"/>
                    <a:pt x="3614850" y="1187"/>
                    <a:pt x="3616962" y="3299"/>
                  </a:cubicBezTo>
                  <a:cubicBezTo>
                    <a:pt x="3619075" y="5412"/>
                    <a:pt x="3620262" y="8277"/>
                    <a:pt x="3620262" y="11265"/>
                  </a:cubicBezTo>
                  <a:lnTo>
                    <a:pt x="3620262" y="1695099"/>
                  </a:lnTo>
                  <a:cubicBezTo>
                    <a:pt x="3620262" y="1701320"/>
                    <a:pt x="3615218" y="1706363"/>
                    <a:pt x="3608997" y="1706363"/>
                  </a:cubicBezTo>
                  <a:lnTo>
                    <a:pt x="11265" y="1706363"/>
                  </a:lnTo>
                  <a:cubicBezTo>
                    <a:pt x="8277" y="1706363"/>
                    <a:pt x="5412" y="1705177"/>
                    <a:pt x="3299" y="1703064"/>
                  </a:cubicBezTo>
                  <a:cubicBezTo>
                    <a:pt x="1187" y="1700951"/>
                    <a:pt x="0" y="1698086"/>
                    <a:pt x="0" y="1695099"/>
                  </a:cubicBezTo>
                  <a:lnTo>
                    <a:pt x="0" y="11265"/>
                  </a:lnTo>
                  <a:cubicBezTo>
                    <a:pt x="0" y="8277"/>
                    <a:pt x="1187" y="5412"/>
                    <a:pt x="3299" y="3299"/>
                  </a:cubicBezTo>
                  <a:cubicBezTo>
                    <a:pt x="5412" y="1187"/>
                    <a:pt x="8277" y="0"/>
                    <a:pt x="11265" y="0"/>
                  </a:cubicBezTo>
                  <a:close/>
                </a:path>
              </a:pathLst>
            </a:custGeom>
            <a:solidFill>
              <a:srgbClr val="FFFFFF"/>
            </a:solidFill>
            <a:ln w="47625" cap="sq">
              <a:solidFill>
                <a:srgbClr val="000000"/>
              </a:solidFill>
              <a:prstDash val="solid"/>
              <a:miter/>
            </a:ln>
          </p:spPr>
        </p:sp>
        <p:sp>
          <p:nvSpPr>
            <p:cNvPr id="7" name="TextBox 7"/>
            <p:cNvSpPr txBox="1"/>
            <p:nvPr/>
          </p:nvSpPr>
          <p:spPr>
            <a:xfrm>
              <a:off x="0" y="-57150"/>
              <a:ext cx="3620262" cy="1763513"/>
            </a:xfrm>
            <a:prstGeom prst="rect">
              <a:avLst/>
            </a:prstGeom>
          </p:spPr>
          <p:txBody>
            <a:bodyPr lIns="50800" tIns="50800" rIns="50800" bIns="50800" rtlCol="0" anchor="ctr"/>
            <a:lstStyle/>
            <a:p>
              <a:pPr algn="ctr">
                <a:lnSpc>
                  <a:spcPts val="3640"/>
                </a:lnSpc>
              </a:pPr>
              <a:endParaRPr/>
            </a:p>
          </p:txBody>
        </p:sp>
      </p:grpSp>
      <p:sp>
        <p:nvSpPr>
          <p:cNvPr id="8" name="TextBox 8"/>
          <p:cNvSpPr txBox="1"/>
          <p:nvPr/>
        </p:nvSpPr>
        <p:spPr>
          <a:xfrm>
            <a:off x="3014511" y="1094658"/>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introduction</a:t>
            </a:r>
          </a:p>
        </p:txBody>
      </p:sp>
      <p:sp>
        <p:nvSpPr>
          <p:cNvPr id="9" name="TextBox 9"/>
          <p:cNvSpPr txBox="1"/>
          <p:nvPr/>
        </p:nvSpPr>
        <p:spPr>
          <a:xfrm>
            <a:off x="2898782" y="3273136"/>
            <a:ext cx="12490437" cy="54343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Novels are more than just words on a page; they are windows into the human experience. Through their creative use of language, authors have the power to capture the complexities of life, allowing us to see the world through the eyes of others.</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Although many people read for pleasure, enjoying the entertainment of escaping into a different world, reading as part of the academic curriculum involves approaching texts with a more analytical mindset. This means actively seeking to uncover layers of meaning and considering how the author’s choices in language and structure have positioned us to respond in particular ways.</a:t>
            </a:r>
          </a:p>
        </p:txBody>
      </p:sp>
      <p:sp>
        <p:nvSpPr>
          <p:cNvPr id="10" name="Freeform 10"/>
          <p:cNvSpPr/>
          <p:nvPr/>
        </p:nvSpPr>
        <p:spPr>
          <a:xfrm rot="8809504">
            <a:off x="277749" y="5744156"/>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rot="1744117">
            <a:off x="11573950" y="-1283548"/>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rot="-5981736">
            <a:off x="16523032" y="3637873"/>
            <a:ext cx="2901753" cy="3011253"/>
          </a:xfrm>
          <a:custGeom>
            <a:avLst/>
            <a:gdLst/>
            <a:ahLst/>
            <a:cxnLst/>
            <a:rect l="l" t="t" r="r" b="b"/>
            <a:pathLst>
              <a:path w="2901753" h="3011253">
                <a:moveTo>
                  <a:pt x="0" y="0"/>
                </a:moveTo>
                <a:lnTo>
                  <a:pt x="2901754" y="0"/>
                </a:lnTo>
                <a:lnTo>
                  <a:pt x="2901754" y="3011254"/>
                </a:lnTo>
                <a:lnTo>
                  <a:pt x="0" y="30112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3" name="Freeform 13"/>
          <p:cNvSpPr/>
          <p:nvPr/>
        </p:nvSpPr>
        <p:spPr>
          <a:xfrm flipH="1">
            <a:off x="366824" y="3921996"/>
            <a:ext cx="1323752" cy="1363415"/>
          </a:xfrm>
          <a:custGeom>
            <a:avLst/>
            <a:gdLst/>
            <a:ahLst/>
            <a:cxnLst/>
            <a:rect l="l" t="t" r="r" b="b"/>
            <a:pathLst>
              <a:path w="1323752" h="1363415">
                <a:moveTo>
                  <a:pt x="1323752" y="0"/>
                </a:moveTo>
                <a:lnTo>
                  <a:pt x="0" y="0"/>
                </a:lnTo>
                <a:lnTo>
                  <a:pt x="0" y="1363415"/>
                </a:lnTo>
                <a:lnTo>
                  <a:pt x="1323752" y="1363415"/>
                </a:lnTo>
                <a:lnTo>
                  <a:pt x="1323752" y="0"/>
                </a:lnTo>
                <a:close/>
              </a:path>
            </a:pathLst>
          </a:custGeom>
          <a:blipFill>
            <a:blip>
              <a:extLst>
                <a:ext uri="{96DAC541-7B7A-43D3-8B79-37D633B846F1}">
                  <asvg:svgBlip xmlns:asvg="http://schemas.microsoft.com/office/drawing/2016/SVG/main" r:embed="rId8"/>
                </a:ext>
              </a:extLst>
            </a:blip>
            <a:stretch>
              <a:fillRect/>
            </a:stretch>
          </a:blipFill>
        </p:spPr>
      </p:sp>
      <p:sp>
        <p:nvSpPr>
          <p:cNvPr id="14" name="Freeform 14"/>
          <p:cNvSpPr/>
          <p:nvPr/>
        </p:nvSpPr>
        <p:spPr>
          <a:xfrm rot="-3363898">
            <a:off x="12868113" y="165196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
        <p:nvSpPr>
          <p:cNvPr id="15" name="Freeform 15"/>
          <p:cNvSpPr/>
          <p:nvPr/>
        </p:nvSpPr>
        <p:spPr>
          <a:xfrm rot="2803384">
            <a:off x="-327596" y="9274227"/>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10"/>
                </a:ext>
              </a:extLst>
            </a:blip>
            <a:stretch>
              <a:fillRect r="-179368" b="-73951"/>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672149" y="3349791"/>
            <a:ext cx="1997548" cy="2057400"/>
          </a:xfrm>
          <a:custGeom>
            <a:avLst/>
            <a:gdLst/>
            <a:ahLst/>
            <a:cxnLst/>
            <a:rect l="l" t="t" r="r" b="b"/>
            <a:pathLst>
              <a:path w="1997548" h="2057400">
                <a:moveTo>
                  <a:pt x="0" y="0"/>
                </a:moveTo>
                <a:lnTo>
                  <a:pt x="1997549" y="0"/>
                </a:lnTo>
                <a:lnTo>
                  <a:pt x="199754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3349791"/>
            <a:ext cx="5165399" cy="5908509"/>
            <a:chOff x="0" y="0"/>
            <a:chExt cx="1360434" cy="1556150"/>
          </a:xfrm>
        </p:grpSpPr>
        <p:sp>
          <p:nvSpPr>
            <p:cNvPr id="5" name="Freeform 5"/>
            <p:cNvSpPr/>
            <p:nvPr/>
          </p:nvSpPr>
          <p:spPr>
            <a:xfrm>
              <a:off x="0" y="0"/>
              <a:ext cx="1360434" cy="1556150"/>
            </a:xfrm>
            <a:custGeom>
              <a:avLst/>
              <a:gdLst/>
              <a:ahLst/>
              <a:cxnLst/>
              <a:rect l="l" t="t" r="r" b="b"/>
              <a:pathLst>
                <a:path w="1360434" h="1556150">
                  <a:moveTo>
                    <a:pt x="29976" y="0"/>
                  </a:moveTo>
                  <a:lnTo>
                    <a:pt x="1330458" y="0"/>
                  </a:lnTo>
                  <a:cubicBezTo>
                    <a:pt x="1347014" y="0"/>
                    <a:pt x="1360434" y="13421"/>
                    <a:pt x="1360434" y="29976"/>
                  </a:cubicBezTo>
                  <a:lnTo>
                    <a:pt x="1360434" y="1526174"/>
                  </a:lnTo>
                  <a:cubicBezTo>
                    <a:pt x="1360434" y="1542730"/>
                    <a:pt x="1347014" y="1556150"/>
                    <a:pt x="1330458" y="1556150"/>
                  </a:cubicBezTo>
                  <a:lnTo>
                    <a:pt x="29976" y="1556150"/>
                  </a:lnTo>
                  <a:cubicBezTo>
                    <a:pt x="13421" y="1556150"/>
                    <a:pt x="0" y="1542730"/>
                    <a:pt x="0" y="1526174"/>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1360434" cy="1613300"/>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6561300" y="3349791"/>
            <a:ext cx="5165399" cy="5908509"/>
            <a:chOff x="0" y="0"/>
            <a:chExt cx="1360434" cy="1556150"/>
          </a:xfrm>
        </p:grpSpPr>
        <p:sp>
          <p:nvSpPr>
            <p:cNvPr id="8" name="Freeform 8"/>
            <p:cNvSpPr/>
            <p:nvPr/>
          </p:nvSpPr>
          <p:spPr>
            <a:xfrm>
              <a:off x="0" y="0"/>
              <a:ext cx="1360434" cy="1556150"/>
            </a:xfrm>
            <a:custGeom>
              <a:avLst/>
              <a:gdLst/>
              <a:ahLst/>
              <a:cxnLst/>
              <a:rect l="l" t="t" r="r" b="b"/>
              <a:pathLst>
                <a:path w="1360434" h="1556150">
                  <a:moveTo>
                    <a:pt x="29976" y="0"/>
                  </a:moveTo>
                  <a:lnTo>
                    <a:pt x="1330458" y="0"/>
                  </a:lnTo>
                  <a:cubicBezTo>
                    <a:pt x="1347014" y="0"/>
                    <a:pt x="1360434" y="13421"/>
                    <a:pt x="1360434" y="29976"/>
                  </a:cubicBezTo>
                  <a:lnTo>
                    <a:pt x="1360434" y="1526174"/>
                  </a:lnTo>
                  <a:cubicBezTo>
                    <a:pt x="1360434" y="1542730"/>
                    <a:pt x="1347014" y="1556150"/>
                    <a:pt x="1330458" y="1556150"/>
                  </a:cubicBezTo>
                  <a:lnTo>
                    <a:pt x="29976" y="1556150"/>
                  </a:lnTo>
                  <a:cubicBezTo>
                    <a:pt x="13421" y="1556150"/>
                    <a:pt x="0" y="1542730"/>
                    <a:pt x="0" y="1526174"/>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9" name="TextBox 9"/>
            <p:cNvSpPr txBox="1"/>
            <p:nvPr/>
          </p:nvSpPr>
          <p:spPr>
            <a:xfrm>
              <a:off x="0" y="-57150"/>
              <a:ext cx="1360434" cy="1613300"/>
            </a:xfrm>
            <a:prstGeom prst="rect">
              <a:avLst/>
            </a:prstGeom>
          </p:spPr>
          <p:txBody>
            <a:bodyPr lIns="50800" tIns="50800" rIns="50800" bIns="50800" rtlCol="0" anchor="ctr"/>
            <a:lstStyle/>
            <a:p>
              <a:pPr algn="ctr">
                <a:lnSpc>
                  <a:spcPts val="3640"/>
                </a:lnSpc>
              </a:pPr>
              <a:endParaRPr/>
            </a:p>
          </p:txBody>
        </p:sp>
      </p:grpSp>
      <p:sp>
        <p:nvSpPr>
          <p:cNvPr id="10" name="Freeform 10"/>
          <p:cNvSpPr/>
          <p:nvPr/>
        </p:nvSpPr>
        <p:spPr>
          <a:xfrm rot="-4568179">
            <a:off x="16046248" y="7484346"/>
            <a:ext cx="3438645" cy="2838445"/>
          </a:xfrm>
          <a:custGeom>
            <a:avLst/>
            <a:gdLst/>
            <a:ahLst/>
            <a:cxnLst/>
            <a:rect l="l" t="t" r="r" b="b"/>
            <a:pathLst>
              <a:path w="3438645" h="2838445">
                <a:moveTo>
                  <a:pt x="0" y="0"/>
                </a:moveTo>
                <a:lnTo>
                  <a:pt x="3438644" y="0"/>
                </a:lnTo>
                <a:lnTo>
                  <a:pt x="3438644" y="2838444"/>
                </a:lnTo>
                <a:lnTo>
                  <a:pt x="0" y="28384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rot="-1609961" flipV="1">
            <a:off x="12636301" y="9256729"/>
            <a:ext cx="3112906" cy="1098007"/>
          </a:xfrm>
          <a:custGeom>
            <a:avLst/>
            <a:gdLst/>
            <a:ahLst/>
            <a:cxnLst/>
            <a:rect l="l" t="t" r="r" b="b"/>
            <a:pathLst>
              <a:path w="3112906" h="1098007">
                <a:moveTo>
                  <a:pt x="0" y="1098007"/>
                </a:moveTo>
                <a:lnTo>
                  <a:pt x="3112905" y="1098007"/>
                </a:lnTo>
                <a:lnTo>
                  <a:pt x="3112905" y="0"/>
                </a:lnTo>
                <a:lnTo>
                  <a:pt x="0" y="0"/>
                </a:lnTo>
                <a:lnTo>
                  <a:pt x="0" y="1098007"/>
                </a:lnTo>
                <a:close/>
              </a:path>
            </a:pathLst>
          </a:custGeom>
          <a:blipFill>
            <a:blip>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12093901" y="3349791"/>
            <a:ext cx="5165399" cy="5908509"/>
            <a:chOff x="0" y="0"/>
            <a:chExt cx="1360434" cy="1556150"/>
          </a:xfrm>
        </p:grpSpPr>
        <p:sp>
          <p:nvSpPr>
            <p:cNvPr id="13" name="Freeform 13"/>
            <p:cNvSpPr/>
            <p:nvPr/>
          </p:nvSpPr>
          <p:spPr>
            <a:xfrm>
              <a:off x="0" y="0"/>
              <a:ext cx="1360434" cy="1556150"/>
            </a:xfrm>
            <a:custGeom>
              <a:avLst/>
              <a:gdLst/>
              <a:ahLst/>
              <a:cxnLst/>
              <a:rect l="l" t="t" r="r" b="b"/>
              <a:pathLst>
                <a:path w="1360434" h="1556150">
                  <a:moveTo>
                    <a:pt x="29976" y="0"/>
                  </a:moveTo>
                  <a:lnTo>
                    <a:pt x="1330458" y="0"/>
                  </a:lnTo>
                  <a:cubicBezTo>
                    <a:pt x="1347014" y="0"/>
                    <a:pt x="1360434" y="13421"/>
                    <a:pt x="1360434" y="29976"/>
                  </a:cubicBezTo>
                  <a:lnTo>
                    <a:pt x="1360434" y="1526174"/>
                  </a:lnTo>
                  <a:cubicBezTo>
                    <a:pt x="1360434" y="1542730"/>
                    <a:pt x="1347014" y="1556150"/>
                    <a:pt x="1330458" y="1556150"/>
                  </a:cubicBezTo>
                  <a:lnTo>
                    <a:pt x="29976" y="1556150"/>
                  </a:lnTo>
                  <a:cubicBezTo>
                    <a:pt x="13421" y="1556150"/>
                    <a:pt x="0" y="1542730"/>
                    <a:pt x="0" y="1526174"/>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4" name="TextBox 14"/>
            <p:cNvSpPr txBox="1"/>
            <p:nvPr/>
          </p:nvSpPr>
          <p:spPr>
            <a:xfrm>
              <a:off x="0" y="-57150"/>
              <a:ext cx="1360434" cy="1613300"/>
            </a:xfrm>
            <a:prstGeom prst="rect">
              <a:avLst/>
            </a:prstGeom>
          </p:spPr>
          <p:txBody>
            <a:bodyPr lIns="50800" tIns="50800" rIns="50800" bIns="50800" rtlCol="0" anchor="ctr"/>
            <a:lstStyle/>
            <a:p>
              <a:pPr algn="ctr">
                <a:lnSpc>
                  <a:spcPts val="3640"/>
                </a:lnSpc>
              </a:pPr>
              <a:endParaRPr/>
            </a:p>
          </p:txBody>
        </p:sp>
      </p:grpSp>
      <p:sp>
        <p:nvSpPr>
          <p:cNvPr id="15" name="Freeform 15"/>
          <p:cNvSpPr/>
          <p:nvPr/>
        </p:nvSpPr>
        <p:spPr>
          <a:xfrm rot="-7839734">
            <a:off x="-54245" y="-786179"/>
            <a:ext cx="2165890" cy="3722624"/>
          </a:xfrm>
          <a:custGeom>
            <a:avLst/>
            <a:gdLst/>
            <a:ahLst/>
            <a:cxnLst/>
            <a:rect l="l" t="t" r="r" b="b"/>
            <a:pathLst>
              <a:path w="2165890" h="3722624">
                <a:moveTo>
                  <a:pt x="0" y="0"/>
                </a:moveTo>
                <a:lnTo>
                  <a:pt x="2165890" y="0"/>
                </a:lnTo>
                <a:lnTo>
                  <a:pt x="2165890" y="3722623"/>
                </a:lnTo>
                <a:lnTo>
                  <a:pt x="0" y="372262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3280375" y="866775"/>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why study novels?</a:t>
            </a:r>
          </a:p>
        </p:txBody>
      </p:sp>
      <p:sp>
        <p:nvSpPr>
          <p:cNvPr id="17" name="TextBox 17"/>
          <p:cNvSpPr txBox="1"/>
          <p:nvPr/>
        </p:nvSpPr>
        <p:spPr>
          <a:xfrm>
            <a:off x="7024910" y="4676279"/>
            <a:ext cx="4239578" cy="3937000"/>
          </a:xfrm>
          <a:prstGeom prst="rect">
            <a:avLst/>
          </a:prstGeom>
        </p:spPr>
        <p:txBody>
          <a:bodyPr lIns="0" tIns="0" rIns="0" bIns="0" rtlCol="0" anchor="t">
            <a:spAutoFit/>
          </a:bodyPr>
          <a:lstStyle/>
          <a:p>
            <a:pPr algn="ctr">
              <a:lnSpc>
                <a:spcPts val="3500"/>
              </a:lnSpc>
            </a:pPr>
            <a:r>
              <a:rPr lang="en-US" sz="2500">
                <a:solidFill>
                  <a:srgbClr val="000000"/>
                </a:solidFill>
                <a:latin typeface="Garet"/>
                <a:ea typeface="Garet"/>
                <a:cs typeface="Garet"/>
                <a:sym typeface="Garet"/>
              </a:rPr>
              <a:t>Analysing novels requires us to think critically about the characters, plot, themes and literary devices used by the author. These analytical and problem-solving skills are valuable in many areas of life.</a:t>
            </a:r>
          </a:p>
        </p:txBody>
      </p:sp>
      <p:sp>
        <p:nvSpPr>
          <p:cNvPr id="18" name="TextBox 18"/>
          <p:cNvSpPr txBox="1"/>
          <p:nvPr/>
        </p:nvSpPr>
        <p:spPr>
          <a:xfrm>
            <a:off x="1492310" y="4676279"/>
            <a:ext cx="4239578" cy="3937000"/>
          </a:xfrm>
          <a:prstGeom prst="rect">
            <a:avLst/>
          </a:prstGeom>
        </p:spPr>
        <p:txBody>
          <a:bodyPr lIns="0" tIns="0" rIns="0" bIns="0" rtlCol="0" anchor="t">
            <a:spAutoFit/>
          </a:bodyPr>
          <a:lstStyle/>
          <a:p>
            <a:pPr algn="ctr">
              <a:lnSpc>
                <a:spcPts val="3500"/>
              </a:lnSpc>
            </a:pPr>
            <a:r>
              <a:rPr lang="en-US" sz="2500">
                <a:solidFill>
                  <a:srgbClr val="000000"/>
                </a:solidFill>
                <a:latin typeface="Garet"/>
                <a:ea typeface="Garet"/>
                <a:cs typeface="Garet"/>
                <a:sym typeface="Garet"/>
              </a:rPr>
              <a:t>Novels often explore complex themes such as love, power, identity, justice, and so many others. Exploring these helps us gain a deeper understanding of human nature and the world around us.</a:t>
            </a:r>
          </a:p>
        </p:txBody>
      </p:sp>
      <p:sp>
        <p:nvSpPr>
          <p:cNvPr id="19" name="TextBox 19"/>
          <p:cNvSpPr txBox="1"/>
          <p:nvPr/>
        </p:nvSpPr>
        <p:spPr>
          <a:xfrm>
            <a:off x="12556073" y="4676279"/>
            <a:ext cx="4239617" cy="3937000"/>
          </a:xfrm>
          <a:prstGeom prst="rect">
            <a:avLst/>
          </a:prstGeom>
        </p:spPr>
        <p:txBody>
          <a:bodyPr lIns="0" tIns="0" rIns="0" bIns="0" rtlCol="0" anchor="t">
            <a:spAutoFit/>
          </a:bodyPr>
          <a:lstStyle/>
          <a:p>
            <a:pPr algn="ctr">
              <a:lnSpc>
                <a:spcPts val="3500"/>
              </a:lnSpc>
            </a:pPr>
            <a:r>
              <a:rPr lang="en-US" sz="2500">
                <a:solidFill>
                  <a:srgbClr val="000000"/>
                </a:solidFill>
                <a:latin typeface="Garet"/>
                <a:ea typeface="Garet"/>
                <a:cs typeface="Garet"/>
                <a:sym typeface="Garet"/>
              </a:rPr>
              <a:t>Studying novels expose us to different writing styles, techniques, and narrative structures. Considering how authors use language and structure can inspire us to become better writers ourselves.</a:t>
            </a:r>
          </a:p>
        </p:txBody>
      </p:sp>
      <p:sp>
        <p:nvSpPr>
          <p:cNvPr id="20" name="TextBox 20"/>
          <p:cNvSpPr txBox="1"/>
          <p:nvPr/>
        </p:nvSpPr>
        <p:spPr>
          <a:xfrm>
            <a:off x="1325400" y="2966569"/>
            <a:ext cx="4572000" cy="1133475"/>
          </a:xfrm>
          <a:prstGeom prst="rect">
            <a:avLst/>
          </a:prstGeom>
        </p:spPr>
        <p:txBody>
          <a:bodyPr lIns="0" tIns="0" rIns="0" bIns="0" rtlCol="0" anchor="t">
            <a:spAutoFit/>
          </a:bodyPr>
          <a:lstStyle/>
          <a:p>
            <a:pPr algn="ctr">
              <a:lnSpc>
                <a:spcPts val="4200"/>
              </a:lnSpc>
            </a:pPr>
            <a:r>
              <a:rPr lang="en-US" sz="3000" b="1" spc="30">
                <a:solidFill>
                  <a:srgbClr val="020302"/>
                </a:solidFill>
                <a:latin typeface="Agrandir Heavy"/>
                <a:ea typeface="Agrandir Heavy"/>
                <a:cs typeface="Agrandir Heavy"/>
                <a:sym typeface="Agrandir Heavy"/>
              </a:rPr>
              <a:t>exploring complex themes</a:t>
            </a:r>
          </a:p>
        </p:txBody>
      </p:sp>
      <p:sp>
        <p:nvSpPr>
          <p:cNvPr id="21" name="TextBox 21"/>
          <p:cNvSpPr txBox="1"/>
          <p:nvPr/>
        </p:nvSpPr>
        <p:spPr>
          <a:xfrm>
            <a:off x="6858000" y="2966569"/>
            <a:ext cx="4572000" cy="1133475"/>
          </a:xfrm>
          <a:prstGeom prst="rect">
            <a:avLst/>
          </a:prstGeom>
        </p:spPr>
        <p:txBody>
          <a:bodyPr lIns="0" tIns="0" rIns="0" bIns="0" rtlCol="0" anchor="t">
            <a:spAutoFit/>
          </a:bodyPr>
          <a:lstStyle/>
          <a:p>
            <a:pPr algn="ctr">
              <a:lnSpc>
                <a:spcPts val="4200"/>
              </a:lnSpc>
            </a:pPr>
            <a:r>
              <a:rPr lang="en-US" sz="3000" b="1" spc="30">
                <a:solidFill>
                  <a:srgbClr val="020302"/>
                </a:solidFill>
                <a:latin typeface="Agrandir Heavy"/>
                <a:ea typeface="Agrandir Heavy"/>
                <a:cs typeface="Agrandir Heavy"/>
                <a:sym typeface="Agrandir Heavy"/>
              </a:rPr>
              <a:t>develop critical </a:t>
            </a:r>
          </a:p>
          <a:p>
            <a:pPr algn="ctr">
              <a:lnSpc>
                <a:spcPts val="4200"/>
              </a:lnSpc>
            </a:pPr>
            <a:r>
              <a:rPr lang="en-US" sz="3000" b="1" spc="30">
                <a:solidFill>
                  <a:srgbClr val="020302"/>
                </a:solidFill>
                <a:latin typeface="Agrandir Heavy"/>
                <a:ea typeface="Agrandir Heavy"/>
                <a:cs typeface="Agrandir Heavy"/>
                <a:sym typeface="Agrandir Heavy"/>
              </a:rPr>
              <a:t>thinking skills</a:t>
            </a:r>
          </a:p>
        </p:txBody>
      </p:sp>
      <p:sp>
        <p:nvSpPr>
          <p:cNvPr id="22" name="TextBox 22"/>
          <p:cNvSpPr txBox="1"/>
          <p:nvPr/>
        </p:nvSpPr>
        <p:spPr>
          <a:xfrm>
            <a:off x="12390600" y="2966569"/>
            <a:ext cx="4572000" cy="1133475"/>
          </a:xfrm>
          <a:prstGeom prst="rect">
            <a:avLst/>
          </a:prstGeom>
        </p:spPr>
        <p:txBody>
          <a:bodyPr lIns="0" tIns="0" rIns="0" bIns="0" rtlCol="0" anchor="t">
            <a:spAutoFit/>
          </a:bodyPr>
          <a:lstStyle/>
          <a:p>
            <a:pPr algn="ctr">
              <a:lnSpc>
                <a:spcPts val="4200"/>
              </a:lnSpc>
            </a:pPr>
            <a:r>
              <a:rPr lang="en-US" sz="3000" b="1" spc="30">
                <a:solidFill>
                  <a:srgbClr val="020302"/>
                </a:solidFill>
                <a:latin typeface="Agrandir Heavy"/>
                <a:ea typeface="Agrandir Heavy"/>
                <a:cs typeface="Agrandir Heavy"/>
                <a:sym typeface="Agrandir Heavy"/>
              </a:rPr>
              <a:t>improving </a:t>
            </a:r>
          </a:p>
          <a:p>
            <a:pPr algn="ctr">
              <a:lnSpc>
                <a:spcPts val="4200"/>
              </a:lnSpc>
            </a:pPr>
            <a:r>
              <a:rPr lang="en-US" sz="3000" b="1" spc="30">
                <a:solidFill>
                  <a:srgbClr val="020302"/>
                </a:solidFill>
                <a:latin typeface="Agrandir Heavy"/>
                <a:ea typeface="Agrandir Heavy"/>
                <a:cs typeface="Agrandir Heavy"/>
                <a:sym typeface="Agrandir Heavy"/>
              </a:rPr>
              <a:t>writing skills</a:t>
            </a:r>
          </a:p>
        </p:txBody>
      </p:sp>
      <p:sp>
        <p:nvSpPr>
          <p:cNvPr id="23" name="Freeform 23"/>
          <p:cNvSpPr/>
          <p:nvPr/>
        </p:nvSpPr>
        <p:spPr>
          <a:xfrm rot="-3363898">
            <a:off x="1773497" y="1589541"/>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4" name="Freeform 24"/>
          <p:cNvSpPr/>
          <p:nvPr/>
        </p:nvSpPr>
        <p:spPr>
          <a:xfrm rot="-3363898" flipH="1" flipV="1">
            <a:off x="17312059" y="5854945"/>
            <a:ext cx="1030958" cy="898201"/>
          </a:xfrm>
          <a:custGeom>
            <a:avLst/>
            <a:gdLst/>
            <a:ahLst/>
            <a:cxnLst/>
            <a:rect l="l" t="t" r="r" b="b"/>
            <a:pathLst>
              <a:path w="1030958" h="898201">
                <a:moveTo>
                  <a:pt x="1030959" y="898201"/>
                </a:moveTo>
                <a:lnTo>
                  <a:pt x="0" y="898201"/>
                </a:lnTo>
                <a:lnTo>
                  <a:pt x="0" y="0"/>
                </a:lnTo>
                <a:lnTo>
                  <a:pt x="1030959" y="0"/>
                </a:lnTo>
                <a:lnTo>
                  <a:pt x="1030959" y="898201"/>
                </a:lnTo>
                <a:close/>
              </a:path>
            </a:pathLst>
          </a:custGeom>
          <a:blipFill>
            <a:blip>
              <a:extLst>
                <a:ext uri="{96DAC541-7B7A-43D3-8B79-37D633B846F1}">
                  <asvg:svgBlip xmlns:asvg="http://schemas.microsoft.com/office/drawing/2016/SVG/main" r:embed="rId7"/>
                </a:ext>
              </a:extLst>
            </a:blip>
            <a:stretch>
              <a:fillRect l="-103785" b="-128377"/>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4194216" y="6536254"/>
            <a:ext cx="9899567" cy="1128090"/>
            <a:chOff x="0" y="0"/>
            <a:chExt cx="3471127" cy="395547"/>
          </a:xfrm>
        </p:grpSpPr>
        <p:sp>
          <p:nvSpPr>
            <p:cNvPr id="4" name="Freeform 4"/>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5" name="TextBox 5"/>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819280">
            <a:off x="287871" y="6529517"/>
            <a:ext cx="3161538" cy="4114800"/>
          </a:xfrm>
          <a:custGeom>
            <a:avLst/>
            <a:gdLst/>
            <a:ahLst/>
            <a:cxnLst/>
            <a:rect l="l" t="t" r="r" b="b"/>
            <a:pathLst>
              <a:path w="3161538" h="4114800">
                <a:moveTo>
                  <a:pt x="0" y="0"/>
                </a:moveTo>
                <a:lnTo>
                  <a:pt x="3161538" y="0"/>
                </a:lnTo>
                <a:lnTo>
                  <a:pt x="316153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3332412">
            <a:off x="2032209" y="-802252"/>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3275734">
            <a:off x="13546568" y="7590734"/>
            <a:ext cx="3620745" cy="3308456"/>
          </a:xfrm>
          <a:custGeom>
            <a:avLst/>
            <a:gdLst/>
            <a:ahLst/>
            <a:cxnLst/>
            <a:rect l="l" t="t" r="r" b="b"/>
            <a:pathLst>
              <a:path w="3620745" h="3308456">
                <a:moveTo>
                  <a:pt x="0" y="0"/>
                </a:moveTo>
                <a:lnTo>
                  <a:pt x="3620746" y="0"/>
                </a:lnTo>
                <a:lnTo>
                  <a:pt x="3620746" y="3308456"/>
                </a:lnTo>
                <a:lnTo>
                  <a:pt x="0" y="33084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rot="2171755">
            <a:off x="12555429" y="113259"/>
            <a:ext cx="6387788" cy="4114800"/>
          </a:xfrm>
          <a:custGeom>
            <a:avLst/>
            <a:gdLst/>
            <a:ahLst/>
            <a:cxnLst/>
            <a:rect l="l" t="t" r="r" b="b"/>
            <a:pathLst>
              <a:path w="6387788" h="4114800">
                <a:moveTo>
                  <a:pt x="0" y="0"/>
                </a:moveTo>
                <a:lnTo>
                  <a:pt x="6387788" y="0"/>
                </a:lnTo>
                <a:lnTo>
                  <a:pt x="6387788"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rot="-3446564">
            <a:off x="5019806" y="-286968"/>
            <a:ext cx="2544678" cy="2188423"/>
          </a:xfrm>
          <a:custGeom>
            <a:avLst/>
            <a:gdLst/>
            <a:ahLst/>
            <a:cxnLst/>
            <a:rect l="l" t="t" r="r" b="b"/>
            <a:pathLst>
              <a:path w="2544678" h="2188423">
                <a:moveTo>
                  <a:pt x="0" y="0"/>
                </a:moveTo>
                <a:lnTo>
                  <a:pt x="2544678" y="0"/>
                </a:lnTo>
                <a:lnTo>
                  <a:pt x="2544678" y="2188423"/>
                </a:lnTo>
                <a:lnTo>
                  <a:pt x="0" y="218842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rot="3983797" flipH="1">
            <a:off x="-422177" y="2639806"/>
            <a:ext cx="2901753" cy="3011253"/>
          </a:xfrm>
          <a:custGeom>
            <a:avLst/>
            <a:gdLst/>
            <a:ahLst/>
            <a:cxnLst/>
            <a:rect l="l" t="t" r="r" b="b"/>
            <a:pathLst>
              <a:path w="2901753" h="3011253">
                <a:moveTo>
                  <a:pt x="2901754" y="0"/>
                </a:moveTo>
                <a:lnTo>
                  <a:pt x="0" y="0"/>
                </a:lnTo>
                <a:lnTo>
                  <a:pt x="0" y="3011254"/>
                </a:lnTo>
                <a:lnTo>
                  <a:pt x="2901754" y="3011254"/>
                </a:lnTo>
                <a:lnTo>
                  <a:pt x="2901754" y="0"/>
                </a:lnTo>
                <a:close/>
              </a:path>
            </a:pathLst>
          </a:custGeom>
          <a:blipFill>
            <a:blip>
              <a:extLst>
                <a:ext uri="{96DAC541-7B7A-43D3-8B79-37D633B846F1}">
                  <asvg:svgBlip xmlns:asvg="http://schemas.microsoft.com/office/drawing/2016/SVG/main" r:embed="rId8"/>
                </a:ext>
              </a:extLst>
            </a:blip>
            <a:stretch>
              <a:fillRect/>
            </a:stretch>
          </a:blipFill>
        </p:spPr>
      </p:sp>
      <p:sp>
        <p:nvSpPr>
          <p:cNvPr id="12" name="Freeform 12"/>
          <p:cNvSpPr/>
          <p:nvPr/>
        </p:nvSpPr>
        <p:spPr>
          <a:xfrm>
            <a:off x="5801176" y="8563254"/>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3" name="Freeform 13"/>
          <p:cNvSpPr/>
          <p:nvPr/>
        </p:nvSpPr>
        <p:spPr>
          <a:xfrm flipH="1" flipV="1">
            <a:off x="10479672" y="8563254"/>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10"/>
                </a:ext>
              </a:extLst>
            </a:blip>
            <a:stretch>
              <a:fillRect/>
            </a:stretch>
          </a:blipFill>
        </p:spPr>
      </p:sp>
      <p:sp>
        <p:nvSpPr>
          <p:cNvPr id="14" name="Freeform 14"/>
          <p:cNvSpPr/>
          <p:nvPr/>
        </p:nvSpPr>
        <p:spPr>
          <a:xfrm>
            <a:off x="15356941" y="4072589"/>
            <a:ext cx="4401458" cy="3289089"/>
          </a:xfrm>
          <a:custGeom>
            <a:avLst/>
            <a:gdLst/>
            <a:ahLst/>
            <a:cxnLst/>
            <a:rect l="l" t="t" r="r" b="b"/>
            <a:pathLst>
              <a:path w="4401458" h="3289089">
                <a:moveTo>
                  <a:pt x="0" y="0"/>
                </a:moveTo>
                <a:lnTo>
                  <a:pt x="4401458" y="0"/>
                </a:lnTo>
                <a:lnTo>
                  <a:pt x="4401458" y="3289089"/>
                </a:lnTo>
                <a:lnTo>
                  <a:pt x="0" y="3289089"/>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5" name="Freeform 15"/>
          <p:cNvSpPr/>
          <p:nvPr/>
        </p:nvSpPr>
        <p:spPr>
          <a:xfrm flipH="1" flipV="1">
            <a:off x="-456937" y="807244"/>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12"/>
                </a:ext>
              </a:extLst>
            </a:blip>
            <a:stretch>
              <a:fillRect/>
            </a:stretch>
          </a:blipFill>
        </p:spPr>
      </p:sp>
      <p:sp>
        <p:nvSpPr>
          <p:cNvPr id="16" name="TextBox 16"/>
          <p:cNvSpPr txBox="1"/>
          <p:nvPr/>
        </p:nvSpPr>
        <p:spPr>
          <a:xfrm>
            <a:off x="4194216" y="2384530"/>
            <a:ext cx="9899567" cy="3743325"/>
          </a:xfrm>
          <a:prstGeom prst="rect">
            <a:avLst/>
          </a:prstGeom>
        </p:spPr>
        <p:txBody>
          <a:bodyPr lIns="0" tIns="0" rIns="0" bIns="0" rtlCol="0" anchor="t">
            <a:spAutoFit/>
          </a:bodyPr>
          <a:lstStyle/>
          <a:p>
            <a:pPr algn="ctr">
              <a:lnSpc>
                <a:spcPts val="13200"/>
              </a:lnSpc>
            </a:pPr>
            <a:r>
              <a:rPr lang="en-US" sz="12000" b="1">
                <a:solidFill>
                  <a:srgbClr val="000000"/>
                </a:solidFill>
                <a:latin typeface="Agrandir Ultra-Bold"/>
                <a:ea typeface="Agrandir Ultra-Bold"/>
                <a:cs typeface="Agrandir Ultra-Bold"/>
                <a:sym typeface="Agrandir Ultra-Bold"/>
              </a:rPr>
              <a:t>narrative conventions</a:t>
            </a:r>
          </a:p>
        </p:txBody>
      </p:sp>
      <p:sp>
        <p:nvSpPr>
          <p:cNvPr id="17" name="Freeform 17"/>
          <p:cNvSpPr/>
          <p:nvPr/>
        </p:nvSpPr>
        <p:spPr>
          <a:xfrm>
            <a:off x="9144000" y="-528163"/>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18" name="TextBox 18"/>
          <p:cNvSpPr txBox="1"/>
          <p:nvPr/>
        </p:nvSpPr>
        <p:spPr>
          <a:xfrm>
            <a:off x="5999602" y="6738984"/>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let’s revise!</a:t>
            </a:r>
          </a:p>
        </p:txBody>
      </p:sp>
      <p:sp>
        <p:nvSpPr>
          <p:cNvPr id="19" name="Freeform 19"/>
          <p:cNvSpPr/>
          <p:nvPr/>
        </p:nvSpPr>
        <p:spPr>
          <a:xfrm rot="-3363898">
            <a:off x="2928054" y="557848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4"/>
                </a:ext>
              </a:extLst>
            </a:blip>
            <a:stretch>
              <a:fillRect l="-103785" b="-128377"/>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474282">
            <a:off x="-471981" y="4274850"/>
            <a:ext cx="3095743" cy="1965797"/>
          </a:xfrm>
          <a:custGeom>
            <a:avLst/>
            <a:gdLst/>
            <a:ahLst/>
            <a:cxnLst/>
            <a:rect l="l" t="t" r="r" b="b"/>
            <a:pathLst>
              <a:path w="3095743" h="1965797">
                <a:moveTo>
                  <a:pt x="0" y="0"/>
                </a:moveTo>
                <a:lnTo>
                  <a:pt x="3095743" y="0"/>
                </a:lnTo>
                <a:lnTo>
                  <a:pt x="3095743" y="1965797"/>
                </a:lnTo>
                <a:lnTo>
                  <a:pt x="0" y="196579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144711" y="3375557"/>
            <a:ext cx="11998578" cy="5643277"/>
            <a:chOff x="0" y="0"/>
            <a:chExt cx="3160119" cy="1486295"/>
          </a:xfrm>
        </p:grpSpPr>
        <p:sp>
          <p:nvSpPr>
            <p:cNvPr id="5" name="Freeform 5"/>
            <p:cNvSpPr/>
            <p:nvPr/>
          </p:nvSpPr>
          <p:spPr>
            <a:xfrm>
              <a:off x="0" y="0"/>
              <a:ext cx="3160119" cy="1486295"/>
            </a:xfrm>
            <a:custGeom>
              <a:avLst/>
              <a:gdLst/>
              <a:ahLst/>
              <a:cxnLst/>
              <a:rect l="l" t="t" r="r" b="b"/>
              <a:pathLst>
                <a:path w="3160119" h="1486295">
                  <a:moveTo>
                    <a:pt x="12905" y="0"/>
                  </a:moveTo>
                  <a:lnTo>
                    <a:pt x="3147215" y="0"/>
                  </a:lnTo>
                  <a:cubicBezTo>
                    <a:pt x="3150637" y="0"/>
                    <a:pt x="3153920" y="1360"/>
                    <a:pt x="3156340" y="3780"/>
                  </a:cubicBezTo>
                  <a:cubicBezTo>
                    <a:pt x="3158760" y="6200"/>
                    <a:pt x="3160119" y="9482"/>
                    <a:pt x="3160119" y="12905"/>
                  </a:cubicBezTo>
                  <a:lnTo>
                    <a:pt x="3160119" y="1473390"/>
                  </a:lnTo>
                  <a:cubicBezTo>
                    <a:pt x="3160119" y="1480518"/>
                    <a:pt x="3154342" y="1486295"/>
                    <a:pt x="3147215" y="1486295"/>
                  </a:cubicBezTo>
                  <a:lnTo>
                    <a:pt x="12905" y="1486295"/>
                  </a:lnTo>
                  <a:cubicBezTo>
                    <a:pt x="5778" y="1486295"/>
                    <a:pt x="0" y="1480518"/>
                    <a:pt x="0" y="1473390"/>
                  </a:cubicBezTo>
                  <a:lnTo>
                    <a:pt x="0" y="12905"/>
                  </a:lnTo>
                  <a:cubicBezTo>
                    <a:pt x="0" y="5778"/>
                    <a:pt x="5778" y="0"/>
                    <a:pt x="12905"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3160119" cy="1543445"/>
            </a:xfrm>
            <a:prstGeom prst="rect">
              <a:avLst/>
            </a:prstGeom>
          </p:spPr>
          <p:txBody>
            <a:bodyPr lIns="50800" tIns="50800" rIns="50800" bIns="50800" rtlCol="0" anchor="ctr"/>
            <a:lstStyle/>
            <a:p>
              <a:pPr algn="ctr">
                <a:lnSpc>
                  <a:spcPts val="3640"/>
                </a:lnSpc>
              </a:pPr>
              <a:endParaRPr/>
            </a:p>
          </p:txBody>
        </p:sp>
      </p:grpSp>
      <p:sp>
        <p:nvSpPr>
          <p:cNvPr id="7" name="Freeform 7"/>
          <p:cNvSpPr/>
          <p:nvPr/>
        </p:nvSpPr>
        <p:spPr>
          <a:xfrm rot="-3193705">
            <a:off x="15338682" y="-925480"/>
            <a:ext cx="2552606" cy="4387292"/>
          </a:xfrm>
          <a:custGeom>
            <a:avLst/>
            <a:gdLst/>
            <a:ahLst/>
            <a:cxnLst/>
            <a:rect l="l" t="t" r="r" b="b"/>
            <a:pathLst>
              <a:path w="2552606" h="4387292">
                <a:moveTo>
                  <a:pt x="0" y="0"/>
                </a:moveTo>
                <a:lnTo>
                  <a:pt x="2552606" y="0"/>
                </a:lnTo>
                <a:lnTo>
                  <a:pt x="2552606" y="4387291"/>
                </a:lnTo>
                <a:lnTo>
                  <a:pt x="0" y="43872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371830" y="6768673"/>
            <a:ext cx="3242294" cy="3242294"/>
          </a:xfrm>
          <a:custGeom>
            <a:avLst/>
            <a:gdLst/>
            <a:ahLst/>
            <a:cxnLst/>
            <a:rect l="l" t="t" r="r" b="b"/>
            <a:pathLst>
              <a:path w="3242294" h="3242294">
                <a:moveTo>
                  <a:pt x="0" y="0"/>
                </a:moveTo>
                <a:lnTo>
                  <a:pt x="3242294" y="0"/>
                </a:lnTo>
                <a:lnTo>
                  <a:pt x="3242294" y="3242294"/>
                </a:lnTo>
                <a:lnTo>
                  <a:pt x="0" y="324229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4194216" y="2811512"/>
            <a:ext cx="9899567" cy="1128090"/>
            <a:chOff x="0" y="0"/>
            <a:chExt cx="13199423" cy="1504121"/>
          </a:xfrm>
        </p:grpSpPr>
        <p:grpSp>
          <p:nvGrpSpPr>
            <p:cNvPr id="10" name="Group 10"/>
            <p:cNvGrpSpPr/>
            <p:nvPr/>
          </p:nvGrpSpPr>
          <p:grpSpPr>
            <a:xfrm>
              <a:off x="0" y="0"/>
              <a:ext cx="13199423" cy="1504121"/>
              <a:chOff x="0" y="0"/>
              <a:chExt cx="3471127" cy="395547"/>
            </a:xfrm>
          </p:grpSpPr>
          <p:sp>
            <p:nvSpPr>
              <p:cNvPr id="11" name="Freeform 11"/>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2" name="TextBox 12"/>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407181" y="295707"/>
              <a:ext cx="8385062"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brainstorm</a:t>
              </a:r>
            </a:p>
          </p:txBody>
        </p:sp>
      </p:grpSp>
      <p:sp>
        <p:nvSpPr>
          <p:cNvPr id="14" name="Freeform 14"/>
          <p:cNvSpPr/>
          <p:nvPr/>
        </p:nvSpPr>
        <p:spPr>
          <a:xfrm>
            <a:off x="15585091" y="2697682"/>
            <a:ext cx="2702909" cy="3321547"/>
          </a:xfrm>
          <a:custGeom>
            <a:avLst/>
            <a:gdLst/>
            <a:ahLst/>
            <a:cxnLst/>
            <a:rect l="l" t="t" r="r" b="b"/>
            <a:pathLst>
              <a:path w="2702909" h="3321547">
                <a:moveTo>
                  <a:pt x="0" y="0"/>
                </a:moveTo>
                <a:lnTo>
                  <a:pt x="2702909" y="0"/>
                </a:lnTo>
                <a:lnTo>
                  <a:pt x="2702909" y="3321547"/>
                </a:lnTo>
                <a:lnTo>
                  <a:pt x="0" y="332154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flipH="1" flipV="1">
            <a:off x="2870464" y="9329260"/>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7"/>
                </a:ext>
              </a:extLst>
            </a:blip>
            <a:stretch>
              <a:fillRect/>
            </a:stretch>
          </a:blipFill>
        </p:spPr>
      </p:sp>
      <p:sp>
        <p:nvSpPr>
          <p:cNvPr id="16" name="Freeform 16"/>
          <p:cNvSpPr/>
          <p:nvPr/>
        </p:nvSpPr>
        <p:spPr>
          <a:xfrm flipV="1">
            <a:off x="12256719" y="-334715"/>
            <a:ext cx="1323752" cy="1363415"/>
          </a:xfrm>
          <a:custGeom>
            <a:avLst/>
            <a:gdLst/>
            <a:ahLst/>
            <a:cxnLst/>
            <a:rect l="l" t="t" r="r" b="b"/>
            <a:pathLst>
              <a:path w="1323752" h="1363415">
                <a:moveTo>
                  <a:pt x="0" y="1363415"/>
                </a:moveTo>
                <a:lnTo>
                  <a:pt x="1323753" y="1363415"/>
                </a:lnTo>
                <a:lnTo>
                  <a:pt x="1323753" y="0"/>
                </a:lnTo>
                <a:lnTo>
                  <a:pt x="0" y="0"/>
                </a:lnTo>
                <a:lnTo>
                  <a:pt x="0" y="1363415"/>
                </a:lnTo>
                <a:close/>
              </a:path>
            </a:pathLst>
          </a:custGeom>
          <a:blipFill>
            <a:blip>
              <a:extLst>
                <a:ext uri="{96DAC541-7B7A-43D3-8B79-37D633B846F1}">
                  <asvg:svgBlip xmlns:asvg="http://schemas.microsoft.com/office/drawing/2016/SVG/main" r:embed="rId8"/>
                </a:ext>
              </a:extLst>
            </a:blip>
            <a:stretch>
              <a:fillRect/>
            </a:stretch>
          </a:blipFill>
        </p:spPr>
      </p:sp>
      <p:sp>
        <p:nvSpPr>
          <p:cNvPr id="17" name="TextBox 17"/>
          <p:cNvSpPr txBox="1"/>
          <p:nvPr/>
        </p:nvSpPr>
        <p:spPr>
          <a:xfrm>
            <a:off x="4292091" y="4441390"/>
            <a:ext cx="9703818" cy="39484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To demonstrate your prior knowledge about elements of story, create a brainstorm or mind map individually or with a partner, identifying the main narrative conventions. </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Include brief explanations and/or create other branches to identify further parts, types or elements of each convention.</a:t>
            </a:r>
          </a:p>
        </p:txBody>
      </p:sp>
      <p:sp>
        <p:nvSpPr>
          <p:cNvPr id="18" name="TextBox 18"/>
          <p:cNvSpPr txBox="1"/>
          <p:nvPr/>
        </p:nvSpPr>
        <p:spPr>
          <a:xfrm>
            <a:off x="3280375" y="1106241"/>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activity</a:t>
            </a:r>
          </a:p>
        </p:txBody>
      </p:sp>
      <p:sp>
        <p:nvSpPr>
          <p:cNvPr id="19" name="Freeform 19"/>
          <p:cNvSpPr/>
          <p:nvPr/>
        </p:nvSpPr>
        <p:spPr>
          <a:xfrm rot="-3363898">
            <a:off x="5103624" y="9248124"/>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716654" y="7633525"/>
            <a:ext cx="5306887" cy="1906147"/>
            <a:chOff x="0" y="0"/>
            <a:chExt cx="1397699" cy="502031"/>
          </a:xfrm>
        </p:grpSpPr>
        <p:sp>
          <p:nvSpPr>
            <p:cNvPr id="4" name="Freeform 4"/>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FFD25E"/>
            </a:solidFill>
          </p:spPr>
        </p:sp>
        <p:sp>
          <p:nvSpPr>
            <p:cNvPr id="5" name="TextBox 5"/>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6" name="Group 6"/>
          <p:cNvGrpSpPr/>
          <p:nvPr/>
        </p:nvGrpSpPr>
        <p:grpSpPr>
          <a:xfrm>
            <a:off x="6490411" y="7633525"/>
            <a:ext cx="5306887" cy="1906147"/>
            <a:chOff x="0" y="0"/>
            <a:chExt cx="1397699" cy="502031"/>
          </a:xfrm>
        </p:grpSpPr>
        <p:sp>
          <p:nvSpPr>
            <p:cNvPr id="7" name="Freeform 7"/>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037682"/>
            </a:solidFill>
          </p:spPr>
        </p:sp>
        <p:sp>
          <p:nvSpPr>
            <p:cNvPr id="8" name="TextBox 8"/>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9" name="Group 9"/>
          <p:cNvGrpSpPr/>
          <p:nvPr/>
        </p:nvGrpSpPr>
        <p:grpSpPr>
          <a:xfrm>
            <a:off x="12264169" y="7633525"/>
            <a:ext cx="5306887" cy="1906147"/>
            <a:chOff x="0" y="0"/>
            <a:chExt cx="1397699" cy="502031"/>
          </a:xfrm>
        </p:grpSpPr>
        <p:sp>
          <p:nvSpPr>
            <p:cNvPr id="10" name="Freeform 10"/>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8BCBC0"/>
            </a:solidFill>
          </p:spPr>
        </p:sp>
        <p:sp>
          <p:nvSpPr>
            <p:cNvPr id="11" name="TextBox 11"/>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12" name="Group 12"/>
          <p:cNvGrpSpPr/>
          <p:nvPr/>
        </p:nvGrpSpPr>
        <p:grpSpPr>
          <a:xfrm>
            <a:off x="716654" y="4596225"/>
            <a:ext cx="5306887" cy="1906147"/>
            <a:chOff x="0" y="0"/>
            <a:chExt cx="1397699" cy="502031"/>
          </a:xfrm>
        </p:grpSpPr>
        <p:sp>
          <p:nvSpPr>
            <p:cNvPr id="13" name="Freeform 13"/>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EF988F"/>
            </a:solidFill>
          </p:spPr>
        </p:sp>
        <p:sp>
          <p:nvSpPr>
            <p:cNvPr id="14" name="TextBox 14"/>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15" name="Group 15"/>
          <p:cNvGrpSpPr/>
          <p:nvPr/>
        </p:nvGrpSpPr>
        <p:grpSpPr>
          <a:xfrm>
            <a:off x="716654" y="1558925"/>
            <a:ext cx="5306887" cy="1906147"/>
            <a:chOff x="0" y="0"/>
            <a:chExt cx="1397699" cy="502031"/>
          </a:xfrm>
        </p:grpSpPr>
        <p:sp>
          <p:nvSpPr>
            <p:cNvPr id="16" name="Freeform 16"/>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037682"/>
            </a:solidFill>
          </p:spPr>
        </p:sp>
        <p:sp>
          <p:nvSpPr>
            <p:cNvPr id="17" name="TextBox 17"/>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18" name="Group 18"/>
          <p:cNvGrpSpPr/>
          <p:nvPr/>
        </p:nvGrpSpPr>
        <p:grpSpPr>
          <a:xfrm>
            <a:off x="12264169" y="1558925"/>
            <a:ext cx="5306887" cy="1906147"/>
            <a:chOff x="0" y="0"/>
            <a:chExt cx="1397699" cy="502031"/>
          </a:xfrm>
        </p:grpSpPr>
        <p:sp>
          <p:nvSpPr>
            <p:cNvPr id="19" name="Freeform 19"/>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FFD25E"/>
            </a:solidFill>
          </p:spPr>
        </p:sp>
        <p:sp>
          <p:nvSpPr>
            <p:cNvPr id="20" name="TextBox 20"/>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21" name="Group 21"/>
          <p:cNvGrpSpPr/>
          <p:nvPr/>
        </p:nvGrpSpPr>
        <p:grpSpPr>
          <a:xfrm>
            <a:off x="6490411" y="1558925"/>
            <a:ext cx="5306887" cy="1906147"/>
            <a:chOff x="0" y="0"/>
            <a:chExt cx="1397699" cy="502031"/>
          </a:xfrm>
        </p:grpSpPr>
        <p:sp>
          <p:nvSpPr>
            <p:cNvPr id="22" name="Freeform 22"/>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8BCBC0"/>
            </a:solidFill>
          </p:spPr>
        </p:sp>
        <p:sp>
          <p:nvSpPr>
            <p:cNvPr id="23" name="TextBox 23"/>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24" name="Group 24"/>
          <p:cNvGrpSpPr/>
          <p:nvPr/>
        </p:nvGrpSpPr>
        <p:grpSpPr>
          <a:xfrm>
            <a:off x="12264169" y="4596225"/>
            <a:ext cx="5306887" cy="1906147"/>
            <a:chOff x="0" y="0"/>
            <a:chExt cx="1397699" cy="502031"/>
          </a:xfrm>
        </p:grpSpPr>
        <p:sp>
          <p:nvSpPr>
            <p:cNvPr id="25" name="Freeform 25"/>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D05C28"/>
            </a:solidFill>
          </p:spPr>
        </p:sp>
        <p:sp>
          <p:nvSpPr>
            <p:cNvPr id="26" name="TextBox 26"/>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sp>
        <p:nvSpPr>
          <p:cNvPr id="27" name="Freeform 27"/>
          <p:cNvSpPr/>
          <p:nvPr/>
        </p:nvSpPr>
        <p:spPr>
          <a:xfrm>
            <a:off x="7023191" y="3722558"/>
            <a:ext cx="4241618" cy="2841884"/>
          </a:xfrm>
          <a:custGeom>
            <a:avLst/>
            <a:gdLst/>
            <a:ahLst/>
            <a:cxnLst/>
            <a:rect l="l" t="t" r="r" b="b"/>
            <a:pathLst>
              <a:path w="4241618" h="2841884">
                <a:moveTo>
                  <a:pt x="0" y="0"/>
                </a:moveTo>
                <a:lnTo>
                  <a:pt x="4241618" y="0"/>
                </a:lnTo>
                <a:lnTo>
                  <a:pt x="4241618" y="2841884"/>
                </a:lnTo>
                <a:lnTo>
                  <a:pt x="0" y="28418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8" name="TextBox 28"/>
          <p:cNvSpPr txBox="1"/>
          <p:nvPr/>
        </p:nvSpPr>
        <p:spPr>
          <a:xfrm>
            <a:off x="12601486" y="17944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The sequence of events that make up the story, including the exposition, rising action, climax, falling action and resolution.</a:t>
            </a:r>
          </a:p>
        </p:txBody>
      </p:sp>
      <p:sp>
        <p:nvSpPr>
          <p:cNvPr id="29" name="TextBox 29"/>
          <p:cNvSpPr txBox="1"/>
          <p:nvPr/>
        </p:nvSpPr>
        <p:spPr>
          <a:xfrm>
            <a:off x="1028700" y="647700"/>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character</a:t>
            </a:r>
          </a:p>
        </p:txBody>
      </p:sp>
      <p:sp>
        <p:nvSpPr>
          <p:cNvPr id="30" name="TextBox 30"/>
          <p:cNvSpPr txBox="1"/>
          <p:nvPr/>
        </p:nvSpPr>
        <p:spPr>
          <a:xfrm>
            <a:off x="6815093" y="647700"/>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setting</a:t>
            </a:r>
          </a:p>
        </p:txBody>
      </p:sp>
      <p:sp>
        <p:nvSpPr>
          <p:cNvPr id="31" name="TextBox 31"/>
          <p:cNvSpPr txBox="1"/>
          <p:nvPr/>
        </p:nvSpPr>
        <p:spPr>
          <a:xfrm>
            <a:off x="12601486" y="647700"/>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plot</a:t>
            </a:r>
          </a:p>
        </p:txBody>
      </p:sp>
      <p:sp>
        <p:nvSpPr>
          <p:cNvPr id="32" name="TextBox 32"/>
          <p:cNvSpPr txBox="1"/>
          <p:nvPr/>
        </p:nvSpPr>
        <p:spPr>
          <a:xfrm>
            <a:off x="12653010" y="3685000"/>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point of view</a:t>
            </a:r>
          </a:p>
        </p:txBody>
      </p:sp>
      <p:sp>
        <p:nvSpPr>
          <p:cNvPr id="33" name="TextBox 33"/>
          <p:cNvSpPr txBox="1"/>
          <p:nvPr/>
        </p:nvSpPr>
        <p:spPr>
          <a:xfrm>
            <a:off x="1028700" y="6721447"/>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theme</a:t>
            </a:r>
          </a:p>
        </p:txBody>
      </p:sp>
      <p:sp>
        <p:nvSpPr>
          <p:cNvPr id="34" name="TextBox 34"/>
          <p:cNvSpPr txBox="1"/>
          <p:nvPr/>
        </p:nvSpPr>
        <p:spPr>
          <a:xfrm>
            <a:off x="6815093" y="6721447"/>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style</a:t>
            </a:r>
          </a:p>
        </p:txBody>
      </p:sp>
      <p:sp>
        <p:nvSpPr>
          <p:cNvPr id="35" name="TextBox 35"/>
          <p:cNvSpPr txBox="1"/>
          <p:nvPr/>
        </p:nvSpPr>
        <p:spPr>
          <a:xfrm>
            <a:off x="1028700" y="1794449"/>
            <a:ext cx="4606290" cy="1397000"/>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The individuals who participate in the story and whose actions, thoughts, and motivations drive the plot forward.</a:t>
            </a:r>
          </a:p>
        </p:txBody>
      </p:sp>
      <p:sp>
        <p:nvSpPr>
          <p:cNvPr id="36" name="TextBox 36"/>
          <p:cNvSpPr txBox="1"/>
          <p:nvPr/>
        </p:nvSpPr>
        <p:spPr>
          <a:xfrm>
            <a:off x="6815093" y="17944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The time, place and atmosphere in which the story takes place, including both the physical environment and cultural context.</a:t>
            </a:r>
          </a:p>
        </p:txBody>
      </p:sp>
      <p:sp>
        <p:nvSpPr>
          <p:cNvPr id="37" name="TextBox 37"/>
          <p:cNvSpPr txBox="1"/>
          <p:nvPr/>
        </p:nvSpPr>
        <p:spPr>
          <a:xfrm>
            <a:off x="6815093" y="7869049"/>
            <a:ext cx="4606290" cy="1397000"/>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The way in which an author uses language, literary devices, and techniques to convey meaning and create an aesthetic effect.</a:t>
            </a:r>
          </a:p>
        </p:txBody>
      </p:sp>
      <p:sp>
        <p:nvSpPr>
          <p:cNvPr id="38" name="TextBox 38"/>
          <p:cNvSpPr txBox="1"/>
          <p:nvPr/>
        </p:nvSpPr>
        <p:spPr>
          <a:xfrm>
            <a:off x="12653010" y="4831749"/>
            <a:ext cx="4606290" cy="1397000"/>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The perspective from which the story is told, including first-person, second person or third-person limited and omniscient.</a:t>
            </a:r>
          </a:p>
        </p:txBody>
      </p:sp>
      <p:sp>
        <p:nvSpPr>
          <p:cNvPr id="39" name="TextBox 39"/>
          <p:cNvSpPr txBox="1"/>
          <p:nvPr/>
        </p:nvSpPr>
        <p:spPr>
          <a:xfrm>
            <a:off x="1028700" y="78690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The central ideas or messages of the story, often exploring universal truths or moral lessons about human experience.</a:t>
            </a:r>
          </a:p>
        </p:txBody>
      </p:sp>
      <p:sp>
        <p:nvSpPr>
          <p:cNvPr id="40" name="TextBox 40"/>
          <p:cNvSpPr txBox="1"/>
          <p:nvPr/>
        </p:nvSpPr>
        <p:spPr>
          <a:xfrm>
            <a:off x="1028700" y="3684588"/>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conflict</a:t>
            </a:r>
          </a:p>
        </p:txBody>
      </p:sp>
      <p:sp>
        <p:nvSpPr>
          <p:cNvPr id="41" name="TextBox 41"/>
          <p:cNvSpPr txBox="1"/>
          <p:nvPr/>
        </p:nvSpPr>
        <p:spPr>
          <a:xfrm>
            <a:off x="977247" y="48317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The central problem or struggle faced by the protagonist, driving the narrative forward and creating tension and drama.</a:t>
            </a:r>
          </a:p>
        </p:txBody>
      </p:sp>
      <p:sp>
        <p:nvSpPr>
          <p:cNvPr id="42" name="TextBox 42"/>
          <p:cNvSpPr txBox="1"/>
          <p:nvPr/>
        </p:nvSpPr>
        <p:spPr>
          <a:xfrm>
            <a:off x="12601486" y="6725321"/>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symbols or motifs</a:t>
            </a:r>
          </a:p>
        </p:txBody>
      </p:sp>
      <p:sp>
        <p:nvSpPr>
          <p:cNvPr id="43" name="TextBox 43"/>
          <p:cNvSpPr txBox="1"/>
          <p:nvPr/>
        </p:nvSpPr>
        <p:spPr>
          <a:xfrm>
            <a:off x="12601486" y="78690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Recurring images, objects or patterns that carry symbolic significance and create deeper meaning and thematic complexity.</a:t>
            </a:r>
          </a:p>
        </p:txBody>
      </p:sp>
      <p:sp>
        <p:nvSpPr>
          <p:cNvPr id="44" name="TextBox 44"/>
          <p:cNvSpPr txBox="1"/>
          <p:nvPr/>
        </p:nvSpPr>
        <p:spPr>
          <a:xfrm>
            <a:off x="6459695" y="4321174"/>
            <a:ext cx="5368610" cy="1549403"/>
          </a:xfrm>
          <a:prstGeom prst="rect">
            <a:avLst/>
          </a:prstGeom>
        </p:spPr>
        <p:txBody>
          <a:bodyPr lIns="0" tIns="0" rIns="0" bIns="0" rtlCol="0" anchor="t">
            <a:spAutoFit/>
          </a:bodyPr>
          <a:lstStyle/>
          <a:p>
            <a:pPr algn="ctr">
              <a:lnSpc>
                <a:spcPts val="5500"/>
              </a:lnSpc>
            </a:pPr>
            <a:r>
              <a:rPr lang="en-US" sz="5000" b="1">
                <a:solidFill>
                  <a:srgbClr val="000000"/>
                </a:solidFill>
                <a:latin typeface="Agrandir Ultra-Bold"/>
                <a:ea typeface="Agrandir Ultra-Bold"/>
                <a:cs typeface="Agrandir Ultra-Bold"/>
                <a:sym typeface="Agrandir Ultra-Bold"/>
              </a:rPr>
              <a:t>did you identify...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3726746">
            <a:off x="12408521" y="8021685"/>
            <a:ext cx="2901753" cy="3011253"/>
          </a:xfrm>
          <a:custGeom>
            <a:avLst/>
            <a:gdLst/>
            <a:ahLst/>
            <a:cxnLst/>
            <a:rect l="l" t="t" r="r" b="b"/>
            <a:pathLst>
              <a:path w="2901753" h="3011253">
                <a:moveTo>
                  <a:pt x="0" y="0"/>
                </a:moveTo>
                <a:lnTo>
                  <a:pt x="2901753" y="0"/>
                </a:lnTo>
                <a:lnTo>
                  <a:pt x="2901753" y="3011253"/>
                </a:lnTo>
                <a:lnTo>
                  <a:pt x="0" y="30112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37364">
            <a:off x="-259490" y="3092214"/>
            <a:ext cx="3600450" cy="4114800"/>
          </a:xfrm>
          <a:custGeom>
            <a:avLst/>
            <a:gdLst/>
            <a:ahLst/>
            <a:cxnLst/>
            <a:rect l="l" t="t" r="r" b="b"/>
            <a:pathLst>
              <a:path w="3600450" h="4114800">
                <a:moveTo>
                  <a:pt x="0" y="0"/>
                </a:moveTo>
                <a:lnTo>
                  <a:pt x="3600450" y="0"/>
                </a:lnTo>
                <a:lnTo>
                  <a:pt x="360045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3144711" y="3375557"/>
            <a:ext cx="11998578" cy="5643277"/>
            <a:chOff x="0" y="0"/>
            <a:chExt cx="3160119" cy="1486295"/>
          </a:xfrm>
        </p:grpSpPr>
        <p:sp>
          <p:nvSpPr>
            <p:cNvPr id="6" name="Freeform 6"/>
            <p:cNvSpPr/>
            <p:nvPr/>
          </p:nvSpPr>
          <p:spPr>
            <a:xfrm>
              <a:off x="0" y="0"/>
              <a:ext cx="3160119" cy="1486295"/>
            </a:xfrm>
            <a:custGeom>
              <a:avLst/>
              <a:gdLst/>
              <a:ahLst/>
              <a:cxnLst/>
              <a:rect l="l" t="t" r="r" b="b"/>
              <a:pathLst>
                <a:path w="3160119" h="1486295">
                  <a:moveTo>
                    <a:pt x="12905" y="0"/>
                  </a:moveTo>
                  <a:lnTo>
                    <a:pt x="3147215" y="0"/>
                  </a:lnTo>
                  <a:cubicBezTo>
                    <a:pt x="3150637" y="0"/>
                    <a:pt x="3153920" y="1360"/>
                    <a:pt x="3156340" y="3780"/>
                  </a:cubicBezTo>
                  <a:cubicBezTo>
                    <a:pt x="3158760" y="6200"/>
                    <a:pt x="3160119" y="9482"/>
                    <a:pt x="3160119" y="12905"/>
                  </a:cubicBezTo>
                  <a:lnTo>
                    <a:pt x="3160119" y="1473390"/>
                  </a:lnTo>
                  <a:cubicBezTo>
                    <a:pt x="3160119" y="1480518"/>
                    <a:pt x="3154342" y="1486295"/>
                    <a:pt x="3147215" y="1486295"/>
                  </a:cubicBezTo>
                  <a:lnTo>
                    <a:pt x="12905" y="1486295"/>
                  </a:lnTo>
                  <a:cubicBezTo>
                    <a:pt x="5778" y="1486295"/>
                    <a:pt x="0" y="1480518"/>
                    <a:pt x="0" y="1473390"/>
                  </a:cubicBezTo>
                  <a:lnTo>
                    <a:pt x="0" y="12905"/>
                  </a:lnTo>
                  <a:cubicBezTo>
                    <a:pt x="0" y="5778"/>
                    <a:pt x="5778" y="0"/>
                    <a:pt x="12905" y="0"/>
                  </a:cubicBezTo>
                  <a:close/>
                </a:path>
              </a:pathLst>
            </a:custGeom>
            <a:solidFill>
              <a:srgbClr val="FFFFFF"/>
            </a:solidFill>
            <a:ln w="47625" cap="sq">
              <a:solidFill>
                <a:srgbClr val="000000"/>
              </a:solidFill>
              <a:prstDash val="solid"/>
              <a:miter/>
            </a:ln>
          </p:spPr>
        </p:sp>
        <p:sp>
          <p:nvSpPr>
            <p:cNvPr id="7" name="TextBox 7"/>
            <p:cNvSpPr txBox="1"/>
            <p:nvPr/>
          </p:nvSpPr>
          <p:spPr>
            <a:xfrm>
              <a:off x="0" y="-57150"/>
              <a:ext cx="3160119" cy="1543445"/>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4194216" y="2811512"/>
            <a:ext cx="9899567" cy="1128090"/>
            <a:chOff x="0" y="0"/>
            <a:chExt cx="13199423" cy="1504121"/>
          </a:xfrm>
        </p:grpSpPr>
        <p:grpSp>
          <p:nvGrpSpPr>
            <p:cNvPr id="9" name="Group 9"/>
            <p:cNvGrpSpPr/>
            <p:nvPr/>
          </p:nvGrpSpPr>
          <p:grpSpPr>
            <a:xfrm>
              <a:off x="0" y="0"/>
              <a:ext cx="13199423" cy="1504121"/>
              <a:chOff x="0" y="0"/>
              <a:chExt cx="3471127" cy="395547"/>
            </a:xfrm>
          </p:grpSpPr>
          <p:sp>
            <p:nvSpPr>
              <p:cNvPr id="10" name="Freeform 10"/>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1" name="TextBox 11"/>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407181" y="295707"/>
              <a:ext cx="8385062"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brainstorm</a:t>
              </a:r>
            </a:p>
          </p:txBody>
        </p:sp>
      </p:grpSp>
      <p:sp>
        <p:nvSpPr>
          <p:cNvPr id="13" name="Freeform 13"/>
          <p:cNvSpPr/>
          <p:nvPr/>
        </p:nvSpPr>
        <p:spPr>
          <a:xfrm>
            <a:off x="373931" y="-7392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rot="-5160545">
            <a:off x="15762011" y="4133421"/>
            <a:ext cx="2780997" cy="3261297"/>
          </a:xfrm>
          <a:custGeom>
            <a:avLst/>
            <a:gdLst/>
            <a:ahLst/>
            <a:cxnLst/>
            <a:rect l="l" t="t" r="r" b="b"/>
            <a:pathLst>
              <a:path w="2780997" h="3261297">
                <a:moveTo>
                  <a:pt x="0" y="0"/>
                </a:moveTo>
                <a:lnTo>
                  <a:pt x="2780998" y="0"/>
                </a:lnTo>
                <a:lnTo>
                  <a:pt x="2780998" y="3261297"/>
                </a:lnTo>
                <a:lnTo>
                  <a:pt x="0" y="32612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rot="-3363898">
            <a:off x="15847029" y="7993191"/>
            <a:ext cx="2100945" cy="2051286"/>
          </a:xfrm>
          <a:custGeom>
            <a:avLst/>
            <a:gdLst/>
            <a:ahLst/>
            <a:cxnLst/>
            <a:rect l="l" t="t" r="r" b="b"/>
            <a:pathLst>
              <a:path w="2100945" h="2051286">
                <a:moveTo>
                  <a:pt x="0" y="0"/>
                </a:moveTo>
                <a:lnTo>
                  <a:pt x="2100945" y="0"/>
                </a:lnTo>
                <a:lnTo>
                  <a:pt x="2100945" y="2051286"/>
                </a:lnTo>
                <a:lnTo>
                  <a:pt x="0" y="205128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6" name="TextBox 16"/>
          <p:cNvSpPr txBox="1"/>
          <p:nvPr/>
        </p:nvSpPr>
        <p:spPr>
          <a:xfrm>
            <a:off x="4182140" y="4206303"/>
            <a:ext cx="9923719" cy="44437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So we’ve considered the bigger ‘building blocks’ of narratives but what about the smaller parts. Undertake another quick brainstorm with your partner to identify some other language features and literary devices you might expect to find in narratives.</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As you identify them, see if you can define them.</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We’ll create a whole class brainstorm afterwards.</a:t>
            </a:r>
          </a:p>
        </p:txBody>
      </p:sp>
      <p:sp>
        <p:nvSpPr>
          <p:cNvPr id="17" name="TextBox 17"/>
          <p:cNvSpPr txBox="1"/>
          <p:nvPr/>
        </p:nvSpPr>
        <p:spPr>
          <a:xfrm>
            <a:off x="3280375" y="1106241"/>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activity</a:t>
            </a:r>
          </a:p>
        </p:txBody>
      </p:sp>
      <p:sp>
        <p:nvSpPr>
          <p:cNvPr id="18" name="Freeform 18"/>
          <p:cNvSpPr/>
          <p:nvPr/>
        </p:nvSpPr>
        <p:spPr>
          <a:xfrm rot="2803384">
            <a:off x="4873121" y="890155"/>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8"/>
                </a:ext>
              </a:extLst>
            </a:blip>
            <a:stretch>
              <a:fillRect r="-179368" b="-73951"/>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716799" y="8026372"/>
            <a:ext cx="5306887" cy="1510665"/>
            <a:chOff x="0" y="0"/>
            <a:chExt cx="1397699" cy="397871"/>
          </a:xfrm>
        </p:grpSpPr>
        <p:sp>
          <p:nvSpPr>
            <p:cNvPr id="4" name="Freeform 4"/>
            <p:cNvSpPr/>
            <p:nvPr/>
          </p:nvSpPr>
          <p:spPr>
            <a:xfrm>
              <a:off x="0" y="0"/>
              <a:ext cx="1397699" cy="397871"/>
            </a:xfrm>
            <a:custGeom>
              <a:avLst/>
              <a:gdLst/>
              <a:ahLst/>
              <a:cxnLst/>
              <a:rect l="l" t="t" r="r" b="b"/>
              <a:pathLst>
                <a:path w="1397699" h="397871">
                  <a:moveTo>
                    <a:pt x="29177" y="0"/>
                  </a:moveTo>
                  <a:lnTo>
                    <a:pt x="1368522" y="0"/>
                  </a:lnTo>
                  <a:cubicBezTo>
                    <a:pt x="1384636" y="0"/>
                    <a:pt x="1397699" y="13063"/>
                    <a:pt x="1397699" y="29177"/>
                  </a:cubicBezTo>
                  <a:lnTo>
                    <a:pt x="1397699" y="368694"/>
                  </a:lnTo>
                  <a:cubicBezTo>
                    <a:pt x="1397699" y="376432"/>
                    <a:pt x="1394625" y="383853"/>
                    <a:pt x="1389153" y="389325"/>
                  </a:cubicBezTo>
                  <a:cubicBezTo>
                    <a:pt x="1383681" y="394797"/>
                    <a:pt x="1376260" y="397871"/>
                    <a:pt x="1368522" y="397871"/>
                  </a:cubicBezTo>
                  <a:lnTo>
                    <a:pt x="29177" y="397871"/>
                  </a:lnTo>
                  <a:cubicBezTo>
                    <a:pt x="21439" y="397871"/>
                    <a:pt x="14017" y="394797"/>
                    <a:pt x="8546" y="389325"/>
                  </a:cubicBezTo>
                  <a:cubicBezTo>
                    <a:pt x="3074" y="383853"/>
                    <a:pt x="0" y="376432"/>
                    <a:pt x="0" y="368694"/>
                  </a:cubicBezTo>
                  <a:lnTo>
                    <a:pt x="0" y="29177"/>
                  </a:lnTo>
                  <a:cubicBezTo>
                    <a:pt x="0" y="21439"/>
                    <a:pt x="3074" y="14017"/>
                    <a:pt x="8546" y="8546"/>
                  </a:cubicBezTo>
                  <a:cubicBezTo>
                    <a:pt x="14017" y="3074"/>
                    <a:pt x="21439" y="0"/>
                    <a:pt x="29177" y="0"/>
                  </a:cubicBezTo>
                  <a:close/>
                </a:path>
              </a:pathLst>
            </a:custGeom>
            <a:solidFill>
              <a:srgbClr val="8BCBC0"/>
            </a:solidFill>
          </p:spPr>
        </p:sp>
        <p:sp>
          <p:nvSpPr>
            <p:cNvPr id="5" name="TextBox 5"/>
            <p:cNvSpPr txBox="1"/>
            <p:nvPr/>
          </p:nvSpPr>
          <p:spPr>
            <a:xfrm>
              <a:off x="0" y="-57150"/>
              <a:ext cx="1397699" cy="455021"/>
            </a:xfrm>
            <a:prstGeom prst="rect">
              <a:avLst/>
            </a:prstGeom>
          </p:spPr>
          <p:txBody>
            <a:bodyPr lIns="50800" tIns="50800" rIns="50800" bIns="50800" rtlCol="0" anchor="ctr"/>
            <a:lstStyle/>
            <a:p>
              <a:pPr algn="ctr">
                <a:lnSpc>
                  <a:spcPts val="3640"/>
                </a:lnSpc>
              </a:pPr>
              <a:endParaRPr/>
            </a:p>
          </p:txBody>
        </p:sp>
      </p:grpSp>
      <p:grpSp>
        <p:nvGrpSpPr>
          <p:cNvPr id="6" name="Group 6"/>
          <p:cNvGrpSpPr/>
          <p:nvPr/>
        </p:nvGrpSpPr>
        <p:grpSpPr>
          <a:xfrm>
            <a:off x="6490556" y="8026372"/>
            <a:ext cx="5306887" cy="1510665"/>
            <a:chOff x="0" y="0"/>
            <a:chExt cx="1397699" cy="397871"/>
          </a:xfrm>
        </p:grpSpPr>
        <p:sp>
          <p:nvSpPr>
            <p:cNvPr id="7" name="Freeform 7"/>
            <p:cNvSpPr/>
            <p:nvPr/>
          </p:nvSpPr>
          <p:spPr>
            <a:xfrm>
              <a:off x="0" y="0"/>
              <a:ext cx="1397699" cy="397871"/>
            </a:xfrm>
            <a:custGeom>
              <a:avLst/>
              <a:gdLst/>
              <a:ahLst/>
              <a:cxnLst/>
              <a:rect l="l" t="t" r="r" b="b"/>
              <a:pathLst>
                <a:path w="1397699" h="397871">
                  <a:moveTo>
                    <a:pt x="29177" y="0"/>
                  </a:moveTo>
                  <a:lnTo>
                    <a:pt x="1368522" y="0"/>
                  </a:lnTo>
                  <a:cubicBezTo>
                    <a:pt x="1384636" y="0"/>
                    <a:pt x="1397699" y="13063"/>
                    <a:pt x="1397699" y="29177"/>
                  </a:cubicBezTo>
                  <a:lnTo>
                    <a:pt x="1397699" y="368694"/>
                  </a:lnTo>
                  <a:cubicBezTo>
                    <a:pt x="1397699" y="376432"/>
                    <a:pt x="1394625" y="383853"/>
                    <a:pt x="1389153" y="389325"/>
                  </a:cubicBezTo>
                  <a:cubicBezTo>
                    <a:pt x="1383681" y="394797"/>
                    <a:pt x="1376260" y="397871"/>
                    <a:pt x="1368522" y="397871"/>
                  </a:cubicBezTo>
                  <a:lnTo>
                    <a:pt x="29177" y="397871"/>
                  </a:lnTo>
                  <a:cubicBezTo>
                    <a:pt x="21439" y="397871"/>
                    <a:pt x="14017" y="394797"/>
                    <a:pt x="8546" y="389325"/>
                  </a:cubicBezTo>
                  <a:cubicBezTo>
                    <a:pt x="3074" y="383853"/>
                    <a:pt x="0" y="376432"/>
                    <a:pt x="0" y="368694"/>
                  </a:cubicBezTo>
                  <a:lnTo>
                    <a:pt x="0" y="29177"/>
                  </a:lnTo>
                  <a:cubicBezTo>
                    <a:pt x="0" y="21439"/>
                    <a:pt x="3074" y="14017"/>
                    <a:pt x="8546" y="8546"/>
                  </a:cubicBezTo>
                  <a:cubicBezTo>
                    <a:pt x="14017" y="3074"/>
                    <a:pt x="21439" y="0"/>
                    <a:pt x="29177" y="0"/>
                  </a:cubicBezTo>
                  <a:close/>
                </a:path>
              </a:pathLst>
            </a:custGeom>
            <a:solidFill>
              <a:srgbClr val="D05C28"/>
            </a:solidFill>
          </p:spPr>
        </p:sp>
        <p:sp>
          <p:nvSpPr>
            <p:cNvPr id="8" name="TextBox 8"/>
            <p:cNvSpPr txBox="1"/>
            <p:nvPr/>
          </p:nvSpPr>
          <p:spPr>
            <a:xfrm>
              <a:off x="0" y="-57150"/>
              <a:ext cx="1397699" cy="455021"/>
            </a:xfrm>
            <a:prstGeom prst="rect">
              <a:avLst/>
            </a:prstGeom>
          </p:spPr>
          <p:txBody>
            <a:bodyPr lIns="50800" tIns="50800" rIns="50800" bIns="50800" rtlCol="0" anchor="ctr"/>
            <a:lstStyle/>
            <a:p>
              <a:pPr algn="ctr">
                <a:lnSpc>
                  <a:spcPts val="3640"/>
                </a:lnSpc>
              </a:pPr>
              <a:endParaRPr/>
            </a:p>
          </p:txBody>
        </p:sp>
      </p:grpSp>
      <p:grpSp>
        <p:nvGrpSpPr>
          <p:cNvPr id="9" name="Group 9"/>
          <p:cNvGrpSpPr/>
          <p:nvPr/>
        </p:nvGrpSpPr>
        <p:grpSpPr>
          <a:xfrm>
            <a:off x="12264314" y="8026372"/>
            <a:ext cx="5306887" cy="1510665"/>
            <a:chOff x="0" y="0"/>
            <a:chExt cx="1397699" cy="397871"/>
          </a:xfrm>
        </p:grpSpPr>
        <p:sp>
          <p:nvSpPr>
            <p:cNvPr id="10" name="Freeform 10"/>
            <p:cNvSpPr/>
            <p:nvPr/>
          </p:nvSpPr>
          <p:spPr>
            <a:xfrm>
              <a:off x="0" y="0"/>
              <a:ext cx="1397699" cy="397871"/>
            </a:xfrm>
            <a:custGeom>
              <a:avLst/>
              <a:gdLst/>
              <a:ahLst/>
              <a:cxnLst/>
              <a:rect l="l" t="t" r="r" b="b"/>
              <a:pathLst>
                <a:path w="1397699" h="397871">
                  <a:moveTo>
                    <a:pt x="29177" y="0"/>
                  </a:moveTo>
                  <a:lnTo>
                    <a:pt x="1368522" y="0"/>
                  </a:lnTo>
                  <a:cubicBezTo>
                    <a:pt x="1384636" y="0"/>
                    <a:pt x="1397699" y="13063"/>
                    <a:pt x="1397699" y="29177"/>
                  </a:cubicBezTo>
                  <a:lnTo>
                    <a:pt x="1397699" y="368694"/>
                  </a:lnTo>
                  <a:cubicBezTo>
                    <a:pt x="1397699" y="376432"/>
                    <a:pt x="1394625" y="383853"/>
                    <a:pt x="1389153" y="389325"/>
                  </a:cubicBezTo>
                  <a:cubicBezTo>
                    <a:pt x="1383681" y="394797"/>
                    <a:pt x="1376260" y="397871"/>
                    <a:pt x="1368522" y="397871"/>
                  </a:cubicBezTo>
                  <a:lnTo>
                    <a:pt x="29177" y="397871"/>
                  </a:lnTo>
                  <a:cubicBezTo>
                    <a:pt x="21439" y="397871"/>
                    <a:pt x="14017" y="394797"/>
                    <a:pt x="8546" y="389325"/>
                  </a:cubicBezTo>
                  <a:cubicBezTo>
                    <a:pt x="3074" y="383853"/>
                    <a:pt x="0" y="376432"/>
                    <a:pt x="0" y="368694"/>
                  </a:cubicBezTo>
                  <a:lnTo>
                    <a:pt x="0" y="29177"/>
                  </a:lnTo>
                  <a:cubicBezTo>
                    <a:pt x="0" y="21439"/>
                    <a:pt x="3074" y="14017"/>
                    <a:pt x="8546" y="8546"/>
                  </a:cubicBezTo>
                  <a:cubicBezTo>
                    <a:pt x="14017" y="3074"/>
                    <a:pt x="21439" y="0"/>
                    <a:pt x="29177" y="0"/>
                  </a:cubicBezTo>
                  <a:close/>
                </a:path>
              </a:pathLst>
            </a:custGeom>
            <a:solidFill>
              <a:srgbClr val="EF988F"/>
            </a:solidFill>
          </p:spPr>
        </p:sp>
        <p:sp>
          <p:nvSpPr>
            <p:cNvPr id="11" name="TextBox 11"/>
            <p:cNvSpPr txBox="1"/>
            <p:nvPr/>
          </p:nvSpPr>
          <p:spPr>
            <a:xfrm>
              <a:off x="0" y="-57150"/>
              <a:ext cx="1397699" cy="455021"/>
            </a:xfrm>
            <a:prstGeom prst="rect">
              <a:avLst/>
            </a:prstGeom>
          </p:spPr>
          <p:txBody>
            <a:bodyPr lIns="50800" tIns="50800" rIns="50800" bIns="50800" rtlCol="0" anchor="ctr"/>
            <a:lstStyle/>
            <a:p>
              <a:pPr algn="ctr">
                <a:lnSpc>
                  <a:spcPts val="3640"/>
                </a:lnSpc>
              </a:pPr>
              <a:endParaRPr/>
            </a:p>
          </p:txBody>
        </p:sp>
      </p:grpSp>
      <p:grpSp>
        <p:nvGrpSpPr>
          <p:cNvPr id="12" name="Group 12"/>
          <p:cNvGrpSpPr/>
          <p:nvPr/>
        </p:nvGrpSpPr>
        <p:grpSpPr>
          <a:xfrm>
            <a:off x="716654" y="4596225"/>
            <a:ext cx="5306887" cy="1906147"/>
            <a:chOff x="0" y="0"/>
            <a:chExt cx="1397699" cy="502031"/>
          </a:xfrm>
        </p:grpSpPr>
        <p:sp>
          <p:nvSpPr>
            <p:cNvPr id="13" name="Freeform 13"/>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FFD25E"/>
            </a:solidFill>
          </p:spPr>
        </p:sp>
        <p:sp>
          <p:nvSpPr>
            <p:cNvPr id="14" name="TextBox 14"/>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grpSp>
        <p:nvGrpSpPr>
          <p:cNvPr id="15" name="Group 15"/>
          <p:cNvGrpSpPr/>
          <p:nvPr/>
        </p:nvGrpSpPr>
        <p:grpSpPr>
          <a:xfrm>
            <a:off x="716654" y="1953959"/>
            <a:ext cx="5306887" cy="1511113"/>
            <a:chOff x="0" y="0"/>
            <a:chExt cx="1397699" cy="397989"/>
          </a:xfrm>
        </p:grpSpPr>
        <p:sp>
          <p:nvSpPr>
            <p:cNvPr id="16" name="Freeform 16"/>
            <p:cNvSpPr/>
            <p:nvPr/>
          </p:nvSpPr>
          <p:spPr>
            <a:xfrm>
              <a:off x="0" y="0"/>
              <a:ext cx="1397699" cy="397989"/>
            </a:xfrm>
            <a:custGeom>
              <a:avLst/>
              <a:gdLst/>
              <a:ahLst/>
              <a:cxnLst/>
              <a:rect l="l" t="t" r="r" b="b"/>
              <a:pathLst>
                <a:path w="1397699" h="397989">
                  <a:moveTo>
                    <a:pt x="29177" y="0"/>
                  </a:moveTo>
                  <a:lnTo>
                    <a:pt x="1368522" y="0"/>
                  </a:lnTo>
                  <a:cubicBezTo>
                    <a:pt x="1384636" y="0"/>
                    <a:pt x="1397699" y="13063"/>
                    <a:pt x="1397699" y="29177"/>
                  </a:cubicBezTo>
                  <a:lnTo>
                    <a:pt x="1397699" y="368812"/>
                  </a:lnTo>
                  <a:cubicBezTo>
                    <a:pt x="1397699" y="376550"/>
                    <a:pt x="1394625" y="383971"/>
                    <a:pt x="1389153" y="389443"/>
                  </a:cubicBezTo>
                  <a:cubicBezTo>
                    <a:pt x="1383681" y="394915"/>
                    <a:pt x="1376260" y="397989"/>
                    <a:pt x="1368522" y="397989"/>
                  </a:cubicBezTo>
                  <a:lnTo>
                    <a:pt x="29177" y="397989"/>
                  </a:lnTo>
                  <a:cubicBezTo>
                    <a:pt x="13063" y="397989"/>
                    <a:pt x="0" y="384926"/>
                    <a:pt x="0" y="368812"/>
                  </a:cubicBezTo>
                  <a:lnTo>
                    <a:pt x="0" y="29177"/>
                  </a:lnTo>
                  <a:cubicBezTo>
                    <a:pt x="0" y="21439"/>
                    <a:pt x="3074" y="14017"/>
                    <a:pt x="8546" y="8546"/>
                  </a:cubicBezTo>
                  <a:cubicBezTo>
                    <a:pt x="14017" y="3074"/>
                    <a:pt x="21439" y="0"/>
                    <a:pt x="29177" y="0"/>
                  </a:cubicBezTo>
                  <a:close/>
                </a:path>
              </a:pathLst>
            </a:custGeom>
            <a:solidFill>
              <a:srgbClr val="D05C28"/>
            </a:solidFill>
          </p:spPr>
        </p:sp>
        <p:sp>
          <p:nvSpPr>
            <p:cNvPr id="17" name="TextBox 17"/>
            <p:cNvSpPr txBox="1"/>
            <p:nvPr/>
          </p:nvSpPr>
          <p:spPr>
            <a:xfrm>
              <a:off x="0" y="-57150"/>
              <a:ext cx="1397699" cy="455139"/>
            </a:xfrm>
            <a:prstGeom prst="rect">
              <a:avLst/>
            </a:prstGeom>
          </p:spPr>
          <p:txBody>
            <a:bodyPr lIns="50800" tIns="50800" rIns="50800" bIns="50800" rtlCol="0" anchor="ctr"/>
            <a:lstStyle/>
            <a:p>
              <a:pPr algn="ctr">
                <a:lnSpc>
                  <a:spcPts val="3640"/>
                </a:lnSpc>
              </a:pPr>
              <a:endParaRPr/>
            </a:p>
          </p:txBody>
        </p:sp>
      </p:grpSp>
      <p:grpSp>
        <p:nvGrpSpPr>
          <p:cNvPr id="18" name="Group 18"/>
          <p:cNvGrpSpPr/>
          <p:nvPr/>
        </p:nvGrpSpPr>
        <p:grpSpPr>
          <a:xfrm>
            <a:off x="12264169" y="1953959"/>
            <a:ext cx="5306887" cy="1511113"/>
            <a:chOff x="0" y="0"/>
            <a:chExt cx="1397699" cy="397989"/>
          </a:xfrm>
        </p:grpSpPr>
        <p:sp>
          <p:nvSpPr>
            <p:cNvPr id="19" name="Freeform 19"/>
            <p:cNvSpPr/>
            <p:nvPr/>
          </p:nvSpPr>
          <p:spPr>
            <a:xfrm>
              <a:off x="0" y="0"/>
              <a:ext cx="1397699" cy="397989"/>
            </a:xfrm>
            <a:custGeom>
              <a:avLst/>
              <a:gdLst/>
              <a:ahLst/>
              <a:cxnLst/>
              <a:rect l="l" t="t" r="r" b="b"/>
              <a:pathLst>
                <a:path w="1397699" h="397989">
                  <a:moveTo>
                    <a:pt x="29177" y="0"/>
                  </a:moveTo>
                  <a:lnTo>
                    <a:pt x="1368522" y="0"/>
                  </a:lnTo>
                  <a:cubicBezTo>
                    <a:pt x="1384636" y="0"/>
                    <a:pt x="1397699" y="13063"/>
                    <a:pt x="1397699" y="29177"/>
                  </a:cubicBezTo>
                  <a:lnTo>
                    <a:pt x="1397699" y="368812"/>
                  </a:lnTo>
                  <a:cubicBezTo>
                    <a:pt x="1397699" y="376550"/>
                    <a:pt x="1394625" y="383971"/>
                    <a:pt x="1389153" y="389443"/>
                  </a:cubicBezTo>
                  <a:cubicBezTo>
                    <a:pt x="1383681" y="394915"/>
                    <a:pt x="1376260" y="397989"/>
                    <a:pt x="1368522" y="397989"/>
                  </a:cubicBezTo>
                  <a:lnTo>
                    <a:pt x="29177" y="397989"/>
                  </a:lnTo>
                  <a:cubicBezTo>
                    <a:pt x="13063" y="397989"/>
                    <a:pt x="0" y="384926"/>
                    <a:pt x="0" y="368812"/>
                  </a:cubicBezTo>
                  <a:lnTo>
                    <a:pt x="0" y="29177"/>
                  </a:lnTo>
                  <a:cubicBezTo>
                    <a:pt x="0" y="21439"/>
                    <a:pt x="3074" y="14017"/>
                    <a:pt x="8546" y="8546"/>
                  </a:cubicBezTo>
                  <a:cubicBezTo>
                    <a:pt x="14017" y="3074"/>
                    <a:pt x="21439" y="0"/>
                    <a:pt x="29177" y="0"/>
                  </a:cubicBezTo>
                  <a:close/>
                </a:path>
              </a:pathLst>
            </a:custGeom>
            <a:solidFill>
              <a:srgbClr val="8BCBC0"/>
            </a:solidFill>
          </p:spPr>
        </p:sp>
        <p:sp>
          <p:nvSpPr>
            <p:cNvPr id="20" name="TextBox 20"/>
            <p:cNvSpPr txBox="1"/>
            <p:nvPr/>
          </p:nvSpPr>
          <p:spPr>
            <a:xfrm>
              <a:off x="0" y="-57150"/>
              <a:ext cx="1397699" cy="455139"/>
            </a:xfrm>
            <a:prstGeom prst="rect">
              <a:avLst/>
            </a:prstGeom>
          </p:spPr>
          <p:txBody>
            <a:bodyPr lIns="50800" tIns="50800" rIns="50800" bIns="50800" rtlCol="0" anchor="ctr"/>
            <a:lstStyle/>
            <a:p>
              <a:pPr algn="ctr">
                <a:lnSpc>
                  <a:spcPts val="3640"/>
                </a:lnSpc>
              </a:pPr>
              <a:endParaRPr/>
            </a:p>
          </p:txBody>
        </p:sp>
      </p:grpSp>
      <p:grpSp>
        <p:nvGrpSpPr>
          <p:cNvPr id="21" name="Group 21"/>
          <p:cNvGrpSpPr/>
          <p:nvPr/>
        </p:nvGrpSpPr>
        <p:grpSpPr>
          <a:xfrm>
            <a:off x="6490411" y="1953959"/>
            <a:ext cx="5306887" cy="1511113"/>
            <a:chOff x="0" y="0"/>
            <a:chExt cx="1397699" cy="397989"/>
          </a:xfrm>
        </p:grpSpPr>
        <p:sp>
          <p:nvSpPr>
            <p:cNvPr id="22" name="Freeform 22"/>
            <p:cNvSpPr/>
            <p:nvPr/>
          </p:nvSpPr>
          <p:spPr>
            <a:xfrm>
              <a:off x="0" y="0"/>
              <a:ext cx="1397699" cy="397989"/>
            </a:xfrm>
            <a:custGeom>
              <a:avLst/>
              <a:gdLst/>
              <a:ahLst/>
              <a:cxnLst/>
              <a:rect l="l" t="t" r="r" b="b"/>
              <a:pathLst>
                <a:path w="1397699" h="397989">
                  <a:moveTo>
                    <a:pt x="29177" y="0"/>
                  </a:moveTo>
                  <a:lnTo>
                    <a:pt x="1368522" y="0"/>
                  </a:lnTo>
                  <a:cubicBezTo>
                    <a:pt x="1384636" y="0"/>
                    <a:pt x="1397699" y="13063"/>
                    <a:pt x="1397699" y="29177"/>
                  </a:cubicBezTo>
                  <a:lnTo>
                    <a:pt x="1397699" y="368812"/>
                  </a:lnTo>
                  <a:cubicBezTo>
                    <a:pt x="1397699" y="376550"/>
                    <a:pt x="1394625" y="383971"/>
                    <a:pt x="1389153" y="389443"/>
                  </a:cubicBezTo>
                  <a:cubicBezTo>
                    <a:pt x="1383681" y="394915"/>
                    <a:pt x="1376260" y="397989"/>
                    <a:pt x="1368522" y="397989"/>
                  </a:cubicBezTo>
                  <a:lnTo>
                    <a:pt x="29177" y="397989"/>
                  </a:lnTo>
                  <a:cubicBezTo>
                    <a:pt x="13063" y="397989"/>
                    <a:pt x="0" y="384926"/>
                    <a:pt x="0" y="368812"/>
                  </a:cubicBezTo>
                  <a:lnTo>
                    <a:pt x="0" y="29177"/>
                  </a:lnTo>
                  <a:cubicBezTo>
                    <a:pt x="0" y="21439"/>
                    <a:pt x="3074" y="14017"/>
                    <a:pt x="8546" y="8546"/>
                  </a:cubicBezTo>
                  <a:cubicBezTo>
                    <a:pt x="14017" y="3074"/>
                    <a:pt x="21439" y="0"/>
                    <a:pt x="29177" y="0"/>
                  </a:cubicBezTo>
                  <a:close/>
                </a:path>
              </a:pathLst>
            </a:custGeom>
            <a:solidFill>
              <a:srgbClr val="EF988F"/>
            </a:solidFill>
          </p:spPr>
        </p:sp>
        <p:sp>
          <p:nvSpPr>
            <p:cNvPr id="23" name="TextBox 23"/>
            <p:cNvSpPr txBox="1"/>
            <p:nvPr/>
          </p:nvSpPr>
          <p:spPr>
            <a:xfrm>
              <a:off x="0" y="-57150"/>
              <a:ext cx="1397699" cy="455139"/>
            </a:xfrm>
            <a:prstGeom prst="rect">
              <a:avLst/>
            </a:prstGeom>
          </p:spPr>
          <p:txBody>
            <a:bodyPr lIns="50800" tIns="50800" rIns="50800" bIns="50800" rtlCol="0" anchor="ctr"/>
            <a:lstStyle/>
            <a:p>
              <a:pPr algn="ctr">
                <a:lnSpc>
                  <a:spcPts val="3640"/>
                </a:lnSpc>
              </a:pPr>
              <a:endParaRPr/>
            </a:p>
          </p:txBody>
        </p:sp>
      </p:grpSp>
      <p:grpSp>
        <p:nvGrpSpPr>
          <p:cNvPr id="24" name="Group 24"/>
          <p:cNvGrpSpPr/>
          <p:nvPr/>
        </p:nvGrpSpPr>
        <p:grpSpPr>
          <a:xfrm>
            <a:off x="12264169" y="4596225"/>
            <a:ext cx="5306887" cy="1906147"/>
            <a:chOff x="0" y="0"/>
            <a:chExt cx="1397699" cy="502031"/>
          </a:xfrm>
        </p:grpSpPr>
        <p:sp>
          <p:nvSpPr>
            <p:cNvPr id="25" name="Freeform 25"/>
            <p:cNvSpPr/>
            <p:nvPr/>
          </p:nvSpPr>
          <p:spPr>
            <a:xfrm>
              <a:off x="0" y="0"/>
              <a:ext cx="1397699" cy="502031"/>
            </a:xfrm>
            <a:custGeom>
              <a:avLst/>
              <a:gdLst/>
              <a:ahLst/>
              <a:cxnLst/>
              <a:rect l="l" t="t" r="r" b="b"/>
              <a:pathLst>
                <a:path w="1397699" h="502031">
                  <a:moveTo>
                    <a:pt x="29177" y="0"/>
                  </a:moveTo>
                  <a:lnTo>
                    <a:pt x="1368522" y="0"/>
                  </a:lnTo>
                  <a:cubicBezTo>
                    <a:pt x="1384636" y="0"/>
                    <a:pt x="1397699" y="13063"/>
                    <a:pt x="1397699" y="29177"/>
                  </a:cubicBezTo>
                  <a:lnTo>
                    <a:pt x="1397699" y="472854"/>
                  </a:lnTo>
                  <a:cubicBezTo>
                    <a:pt x="1397699" y="480592"/>
                    <a:pt x="1394625" y="488013"/>
                    <a:pt x="1389153" y="493485"/>
                  </a:cubicBezTo>
                  <a:cubicBezTo>
                    <a:pt x="1383681" y="498957"/>
                    <a:pt x="1376260" y="502031"/>
                    <a:pt x="1368522" y="502031"/>
                  </a:cubicBezTo>
                  <a:lnTo>
                    <a:pt x="29177" y="502031"/>
                  </a:lnTo>
                  <a:cubicBezTo>
                    <a:pt x="13063" y="502031"/>
                    <a:pt x="0" y="488968"/>
                    <a:pt x="0" y="472854"/>
                  </a:cubicBezTo>
                  <a:lnTo>
                    <a:pt x="0" y="29177"/>
                  </a:lnTo>
                  <a:cubicBezTo>
                    <a:pt x="0" y="21439"/>
                    <a:pt x="3074" y="14017"/>
                    <a:pt x="8546" y="8546"/>
                  </a:cubicBezTo>
                  <a:cubicBezTo>
                    <a:pt x="14017" y="3074"/>
                    <a:pt x="21439" y="0"/>
                    <a:pt x="29177" y="0"/>
                  </a:cubicBezTo>
                  <a:close/>
                </a:path>
              </a:pathLst>
            </a:custGeom>
            <a:solidFill>
              <a:srgbClr val="037682"/>
            </a:solidFill>
          </p:spPr>
        </p:sp>
        <p:sp>
          <p:nvSpPr>
            <p:cNvPr id="26" name="TextBox 26"/>
            <p:cNvSpPr txBox="1"/>
            <p:nvPr/>
          </p:nvSpPr>
          <p:spPr>
            <a:xfrm>
              <a:off x="0" y="-57150"/>
              <a:ext cx="1397699" cy="559181"/>
            </a:xfrm>
            <a:prstGeom prst="rect">
              <a:avLst/>
            </a:prstGeom>
          </p:spPr>
          <p:txBody>
            <a:bodyPr lIns="50800" tIns="50800" rIns="50800" bIns="50800" rtlCol="0" anchor="ctr"/>
            <a:lstStyle/>
            <a:p>
              <a:pPr algn="ctr">
                <a:lnSpc>
                  <a:spcPts val="3640"/>
                </a:lnSpc>
              </a:pPr>
              <a:endParaRPr/>
            </a:p>
          </p:txBody>
        </p:sp>
      </p:grpSp>
      <p:sp>
        <p:nvSpPr>
          <p:cNvPr id="27" name="Freeform 27"/>
          <p:cNvSpPr/>
          <p:nvPr/>
        </p:nvSpPr>
        <p:spPr>
          <a:xfrm>
            <a:off x="7023191" y="3722558"/>
            <a:ext cx="4241618" cy="2841884"/>
          </a:xfrm>
          <a:custGeom>
            <a:avLst/>
            <a:gdLst/>
            <a:ahLst/>
            <a:cxnLst/>
            <a:rect l="l" t="t" r="r" b="b"/>
            <a:pathLst>
              <a:path w="4241618" h="2841884">
                <a:moveTo>
                  <a:pt x="0" y="0"/>
                </a:moveTo>
                <a:lnTo>
                  <a:pt x="4241618" y="0"/>
                </a:lnTo>
                <a:lnTo>
                  <a:pt x="4241618" y="2841884"/>
                </a:lnTo>
                <a:lnTo>
                  <a:pt x="0" y="28418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8" name="TextBox 28"/>
          <p:cNvSpPr txBox="1"/>
          <p:nvPr/>
        </p:nvSpPr>
        <p:spPr>
          <a:xfrm>
            <a:off x="6459695" y="4321174"/>
            <a:ext cx="5368610" cy="1549403"/>
          </a:xfrm>
          <a:prstGeom prst="rect">
            <a:avLst/>
          </a:prstGeom>
        </p:spPr>
        <p:txBody>
          <a:bodyPr lIns="0" tIns="0" rIns="0" bIns="0" rtlCol="0" anchor="t">
            <a:spAutoFit/>
          </a:bodyPr>
          <a:lstStyle/>
          <a:p>
            <a:pPr algn="ctr">
              <a:lnSpc>
                <a:spcPts val="5500"/>
              </a:lnSpc>
            </a:pPr>
            <a:r>
              <a:rPr lang="en-US" sz="5000" b="1">
                <a:solidFill>
                  <a:srgbClr val="000000"/>
                </a:solidFill>
                <a:latin typeface="Agrandir Ultra-Bold"/>
                <a:ea typeface="Agrandir Ultra-Bold"/>
                <a:cs typeface="Agrandir Ultra-Bold"/>
                <a:sym typeface="Agrandir Ultra-Bold"/>
              </a:rPr>
              <a:t>did you identify...</a:t>
            </a:r>
          </a:p>
        </p:txBody>
      </p:sp>
      <p:sp>
        <p:nvSpPr>
          <p:cNvPr id="29" name="TextBox 29"/>
          <p:cNvSpPr txBox="1"/>
          <p:nvPr/>
        </p:nvSpPr>
        <p:spPr>
          <a:xfrm>
            <a:off x="12550034" y="2168179"/>
            <a:ext cx="4606290" cy="1044575"/>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Simile, metaphor, personification, metonym, synecdoche, idiom, oxymoron, paradox, euphemism</a:t>
            </a:r>
          </a:p>
        </p:txBody>
      </p:sp>
      <p:sp>
        <p:nvSpPr>
          <p:cNvPr id="30" name="TextBox 30"/>
          <p:cNvSpPr txBox="1"/>
          <p:nvPr/>
        </p:nvSpPr>
        <p:spPr>
          <a:xfrm>
            <a:off x="716799" y="695325"/>
            <a:ext cx="5306743" cy="1082675"/>
          </a:xfrm>
          <a:prstGeom prst="rect">
            <a:avLst/>
          </a:prstGeom>
        </p:spPr>
        <p:txBody>
          <a:bodyPr lIns="0" tIns="0" rIns="0" bIns="0" rtlCol="0" anchor="t">
            <a:spAutoFit/>
          </a:bodyPr>
          <a:lstStyle/>
          <a:p>
            <a:pPr algn="ctr">
              <a:lnSpc>
                <a:spcPts val="3849"/>
              </a:lnSpc>
            </a:pPr>
            <a:r>
              <a:rPr lang="en-US" sz="3499" b="1" spc="34">
                <a:solidFill>
                  <a:srgbClr val="000000"/>
                </a:solidFill>
                <a:latin typeface="Agrandir Ultra-Bold"/>
                <a:ea typeface="Agrandir Ultra-Bold"/>
                <a:cs typeface="Agrandir Ultra-Bold"/>
                <a:sym typeface="Agrandir Ultra-Bold"/>
              </a:rPr>
              <a:t>descriptive language (imagery)</a:t>
            </a:r>
          </a:p>
        </p:txBody>
      </p:sp>
      <p:sp>
        <p:nvSpPr>
          <p:cNvPr id="31" name="TextBox 31"/>
          <p:cNvSpPr txBox="1"/>
          <p:nvPr/>
        </p:nvSpPr>
        <p:spPr>
          <a:xfrm>
            <a:off x="6763640" y="695325"/>
            <a:ext cx="4606290" cy="1082675"/>
          </a:xfrm>
          <a:prstGeom prst="rect">
            <a:avLst/>
          </a:prstGeom>
        </p:spPr>
        <p:txBody>
          <a:bodyPr lIns="0" tIns="0" rIns="0" bIns="0" rtlCol="0" anchor="t">
            <a:spAutoFit/>
          </a:bodyPr>
          <a:lstStyle/>
          <a:p>
            <a:pPr algn="ctr">
              <a:lnSpc>
                <a:spcPts val="3849"/>
              </a:lnSpc>
            </a:pPr>
            <a:r>
              <a:rPr lang="en-US" sz="3499" b="1" spc="34">
                <a:solidFill>
                  <a:srgbClr val="000000"/>
                </a:solidFill>
                <a:latin typeface="Agrandir Ultra-Bold"/>
                <a:ea typeface="Agrandir Ultra-Bold"/>
                <a:cs typeface="Agrandir Ultra-Bold"/>
                <a:sym typeface="Agrandir Ultra-Bold"/>
              </a:rPr>
              <a:t>lexical choice and connotation</a:t>
            </a:r>
          </a:p>
        </p:txBody>
      </p:sp>
      <p:sp>
        <p:nvSpPr>
          <p:cNvPr id="32" name="TextBox 32"/>
          <p:cNvSpPr txBox="1"/>
          <p:nvPr/>
        </p:nvSpPr>
        <p:spPr>
          <a:xfrm>
            <a:off x="12601486" y="695325"/>
            <a:ext cx="4606290" cy="1082675"/>
          </a:xfrm>
          <a:prstGeom prst="rect">
            <a:avLst/>
          </a:prstGeom>
        </p:spPr>
        <p:txBody>
          <a:bodyPr lIns="0" tIns="0" rIns="0" bIns="0" rtlCol="0" anchor="t">
            <a:spAutoFit/>
          </a:bodyPr>
          <a:lstStyle/>
          <a:p>
            <a:pPr algn="ctr">
              <a:lnSpc>
                <a:spcPts val="3849"/>
              </a:lnSpc>
            </a:pPr>
            <a:r>
              <a:rPr lang="en-US" sz="3499" b="1" spc="34">
                <a:solidFill>
                  <a:srgbClr val="000000"/>
                </a:solidFill>
                <a:latin typeface="Agrandir Ultra-Bold"/>
                <a:ea typeface="Agrandir Ultra-Bold"/>
                <a:cs typeface="Agrandir Ultra-Bold"/>
                <a:sym typeface="Agrandir Ultra-Bold"/>
              </a:rPr>
              <a:t>figurative language</a:t>
            </a:r>
          </a:p>
        </p:txBody>
      </p:sp>
      <p:sp>
        <p:nvSpPr>
          <p:cNvPr id="33" name="TextBox 33"/>
          <p:cNvSpPr txBox="1"/>
          <p:nvPr/>
        </p:nvSpPr>
        <p:spPr>
          <a:xfrm>
            <a:off x="12601486" y="7188172"/>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foreshadowing</a:t>
            </a:r>
          </a:p>
        </p:txBody>
      </p:sp>
      <p:sp>
        <p:nvSpPr>
          <p:cNvPr id="34" name="TextBox 34"/>
          <p:cNvSpPr txBox="1"/>
          <p:nvPr/>
        </p:nvSpPr>
        <p:spPr>
          <a:xfrm>
            <a:off x="6840855" y="6916739"/>
            <a:ext cx="4606290" cy="1082675"/>
          </a:xfrm>
          <a:prstGeom prst="rect">
            <a:avLst/>
          </a:prstGeom>
        </p:spPr>
        <p:txBody>
          <a:bodyPr lIns="0" tIns="0" rIns="0" bIns="0" rtlCol="0" anchor="t">
            <a:spAutoFit/>
          </a:bodyPr>
          <a:lstStyle/>
          <a:p>
            <a:pPr algn="ctr">
              <a:lnSpc>
                <a:spcPts val="3849"/>
              </a:lnSpc>
            </a:pPr>
            <a:r>
              <a:rPr lang="en-US" sz="3499" b="1" spc="34">
                <a:solidFill>
                  <a:srgbClr val="000000"/>
                </a:solidFill>
                <a:latin typeface="Agrandir Ultra-Bold"/>
                <a:ea typeface="Agrandir Ultra-Bold"/>
                <a:cs typeface="Agrandir Ultra-Bold"/>
                <a:sym typeface="Agrandir Ultra-Bold"/>
              </a:rPr>
              <a:t>flashbacks or </a:t>
            </a:r>
          </a:p>
          <a:p>
            <a:pPr algn="ctr">
              <a:lnSpc>
                <a:spcPts val="3849"/>
              </a:lnSpc>
            </a:pPr>
            <a:r>
              <a:rPr lang="en-US" sz="3499" b="1" spc="34">
                <a:solidFill>
                  <a:srgbClr val="000000"/>
                </a:solidFill>
                <a:latin typeface="Agrandir Ultra-Bold"/>
                <a:ea typeface="Agrandir Ultra-Bold"/>
                <a:cs typeface="Agrandir Ultra-Bold"/>
                <a:sym typeface="Agrandir Ultra-Bold"/>
              </a:rPr>
              <a:t>flash forward</a:t>
            </a:r>
          </a:p>
        </p:txBody>
      </p:sp>
      <p:sp>
        <p:nvSpPr>
          <p:cNvPr id="35" name="TextBox 35"/>
          <p:cNvSpPr txBox="1"/>
          <p:nvPr/>
        </p:nvSpPr>
        <p:spPr>
          <a:xfrm>
            <a:off x="977247" y="2344391"/>
            <a:ext cx="4606290" cy="692150"/>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Visual, aural, olfactory, tactile, gustatory, kineasthetic</a:t>
            </a:r>
          </a:p>
        </p:txBody>
      </p:sp>
      <p:sp>
        <p:nvSpPr>
          <p:cNvPr id="36" name="TextBox 36"/>
          <p:cNvSpPr txBox="1"/>
          <p:nvPr/>
        </p:nvSpPr>
        <p:spPr>
          <a:xfrm>
            <a:off x="6763640" y="2168179"/>
            <a:ext cx="4606290" cy="1044575"/>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Word class (noun, verb, adjective) plus the ideas or feelings associated with particular words</a:t>
            </a:r>
          </a:p>
        </p:txBody>
      </p:sp>
      <p:sp>
        <p:nvSpPr>
          <p:cNvPr id="37" name="TextBox 37"/>
          <p:cNvSpPr txBox="1"/>
          <p:nvPr/>
        </p:nvSpPr>
        <p:spPr>
          <a:xfrm>
            <a:off x="12601486" y="8240368"/>
            <a:ext cx="4606290" cy="1044575"/>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Hinting at future events or outcomes in the story to create anticipation and suspense </a:t>
            </a:r>
          </a:p>
        </p:txBody>
      </p:sp>
      <p:sp>
        <p:nvSpPr>
          <p:cNvPr id="38" name="TextBox 38"/>
          <p:cNvSpPr txBox="1"/>
          <p:nvPr/>
        </p:nvSpPr>
        <p:spPr>
          <a:xfrm>
            <a:off x="1067098" y="8240368"/>
            <a:ext cx="4606290" cy="346249"/>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@powerpointrus</a:t>
            </a:r>
            <a:endParaRPr lang="en-US" sz="2000" dirty="0">
              <a:solidFill>
                <a:srgbClr val="000000"/>
              </a:solidFill>
              <a:latin typeface="Garet"/>
              <a:ea typeface="Garet"/>
              <a:cs typeface="Garet"/>
              <a:sym typeface="Garet"/>
            </a:endParaRPr>
          </a:p>
        </p:txBody>
      </p:sp>
      <p:sp>
        <p:nvSpPr>
          <p:cNvPr id="39" name="TextBox 39"/>
          <p:cNvSpPr txBox="1"/>
          <p:nvPr/>
        </p:nvSpPr>
        <p:spPr>
          <a:xfrm>
            <a:off x="1028700" y="7188172"/>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allusions</a:t>
            </a:r>
          </a:p>
        </p:txBody>
      </p:sp>
      <p:sp>
        <p:nvSpPr>
          <p:cNvPr id="40" name="TextBox 40"/>
          <p:cNvSpPr txBox="1"/>
          <p:nvPr/>
        </p:nvSpPr>
        <p:spPr>
          <a:xfrm>
            <a:off x="6840855" y="8416580"/>
            <a:ext cx="4606290" cy="692150"/>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Historical, mythological, literary religious/biblical, cultural etc.</a:t>
            </a:r>
          </a:p>
        </p:txBody>
      </p:sp>
      <p:sp>
        <p:nvSpPr>
          <p:cNvPr id="41" name="TextBox 41"/>
          <p:cNvSpPr txBox="1"/>
          <p:nvPr/>
        </p:nvSpPr>
        <p:spPr>
          <a:xfrm>
            <a:off x="12601486" y="3741297"/>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irony</a:t>
            </a:r>
          </a:p>
        </p:txBody>
      </p:sp>
      <p:sp>
        <p:nvSpPr>
          <p:cNvPr id="42" name="TextBox 42"/>
          <p:cNvSpPr txBox="1"/>
          <p:nvPr/>
        </p:nvSpPr>
        <p:spPr>
          <a:xfrm>
            <a:off x="12601486" y="5007961"/>
            <a:ext cx="4606290" cy="1044575"/>
          </a:xfrm>
          <a:prstGeom prst="rect">
            <a:avLst/>
          </a:prstGeom>
        </p:spPr>
        <p:txBody>
          <a:bodyPr lIns="0" tIns="0" rIns="0" bIns="0" rtlCol="0" anchor="t">
            <a:spAutoFit/>
          </a:bodyPr>
          <a:lstStyle/>
          <a:p>
            <a:pPr algn="ctr">
              <a:lnSpc>
                <a:spcPts val="2800"/>
              </a:lnSpc>
            </a:pPr>
            <a:r>
              <a:rPr lang="en-US" sz="2000">
                <a:solidFill>
                  <a:srgbClr val="FFFFFF"/>
                </a:solidFill>
                <a:latin typeface="Garet"/>
                <a:ea typeface="Garet"/>
                <a:cs typeface="Garet"/>
                <a:sym typeface="Garet"/>
              </a:rPr>
              <a:t>When the intended meaning of words or actions is different from their literal interpretation </a:t>
            </a:r>
          </a:p>
        </p:txBody>
      </p:sp>
      <p:sp>
        <p:nvSpPr>
          <p:cNvPr id="43" name="TextBox 43"/>
          <p:cNvSpPr txBox="1"/>
          <p:nvPr/>
        </p:nvSpPr>
        <p:spPr>
          <a:xfrm>
            <a:off x="977247" y="3723100"/>
            <a:ext cx="4606290" cy="692150"/>
          </a:xfrm>
          <a:prstGeom prst="rect">
            <a:avLst/>
          </a:prstGeom>
        </p:spPr>
        <p:txBody>
          <a:bodyPr lIns="0" tIns="0" rIns="0" bIns="0" rtlCol="0" anchor="t">
            <a:spAutoFit/>
          </a:bodyPr>
          <a:lstStyle/>
          <a:p>
            <a:pPr algn="ctr">
              <a:lnSpc>
                <a:spcPts val="4899"/>
              </a:lnSpc>
            </a:pPr>
            <a:r>
              <a:rPr lang="en-US" sz="3499" b="1" spc="34">
                <a:solidFill>
                  <a:srgbClr val="000000"/>
                </a:solidFill>
                <a:latin typeface="Agrandir Ultra-Bold"/>
                <a:ea typeface="Agrandir Ultra-Bold"/>
                <a:cs typeface="Agrandir Ultra-Bold"/>
                <a:sym typeface="Agrandir Ultra-Bold"/>
              </a:rPr>
              <a:t>allegory</a:t>
            </a:r>
          </a:p>
        </p:txBody>
      </p:sp>
      <p:sp>
        <p:nvSpPr>
          <p:cNvPr id="44" name="TextBox 44"/>
          <p:cNvSpPr txBox="1"/>
          <p:nvPr/>
        </p:nvSpPr>
        <p:spPr>
          <a:xfrm>
            <a:off x="977247" y="4831749"/>
            <a:ext cx="4606290" cy="1397000"/>
          </a:xfrm>
          <a:prstGeom prst="rect">
            <a:avLst/>
          </a:prstGeom>
        </p:spPr>
        <p:txBody>
          <a:bodyPr lIns="0" tIns="0" rIns="0" bIns="0" rtlCol="0" anchor="t">
            <a:spAutoFit/>
          </a:bodyPr>
          <a:lstStyle/>
          <a:p>
            <a:pPr algn="ctr">
              <a:lnSpc>
                <a:spcPts val="2800"/>
              </a:lnSpc>
            </a:pPr>
            <a:r>
              <a:rPr lang="en-US" sz="2000">
                <a:solidFill>
                  <a:srgbClr val="000000"/>
                </a:solidFill>
                <a:latin typeface="Garet"/>
                <a:ea typeface="Garet"/>
                <a:cs typeface="Garet"/>
                <a:sym typeface="Garet"/>
              </a:rPr>
              <a:t>When characters, events, and settings (in the ‘surface’ story) are used to represent abstract ideas or a moral/philosophical message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TextBox 3"/>
          <p:cNvSpPr txBox="1"/>
          <p:nvPr/>
        </p:nvSpPr>
        <p:spPr>
          <a:xfrm>
            <a:off x="4689320" y="2526229"/>
            <a:ext cx="8909360" cy="3743325"/>
          </a:xfrm>
          <a:prstGeom prst="rect">
            <a:avLst/>
          </a:prstGeom>
        </p:spPr>
        <p:txBody>
          <a:bodyPr lIns="0" tIns="0" rIns="0" bIns="0" rtlCol="0" anchor="t">
            <a:spAutoFit/>
          </a:bodyPr>
          <a:lstStyle/>
          <a:p>
            <a:pPr algn="ctr">
              <a:lnSpc>
                <a:spcPts val="13200"/>
              </a:lnSpc>
            </a:pPr>
            <a:r>
              <a:rPr lang="en-US" sz="12000" b="1">
                <a:solidFill>
                  <a:srgbClr val="000000"/>
                </a:solidFill>
                <a:latin typeface="Agrandir Ultra-Bold"/>
                <a:ea typeface="Agrandir Ultra-Bold"/>
                <a:cs typeface="Agrandir Ultra-Bold"/>
                <a:sym typeface="Agrandir Ultra-Bold"/>
              </a:rPr>
              <a:t>book cover and blurb</a:t>
            </a:r>
          </a:p>
        </p:txBody>
      </p:sp>
      <p:sp>
        <p:nvSpPr>
          <p:cNvPr id="4" name="Freeform 4"/>
          <p:cNvSpPr/>
          <p:nvPr/>
        </p:nvSpPr>
        <p:spPr>
          <a:xfrm rot="-1866090">
            <a:off x="14130211" y="-439980"/>
            <a:ext cx="3334703" cy="4114800"/>
          </a:xfrm>
          <a:custGeom>
            <a:avLst/>
            <a:gdLst/>
            <a:ahLst/>
            <a:cxnLst/>
            <a:rect l="l" t="t" r="r" b="b"/>
            <a:pathLst>
              <a:path w="3334703" h="4114800">
                <a:moveTo>
                  <a:pt x="0" y="0"/>
                </a:moveTo>
                <a:lnTo>
                  <a:pt x="3334703" y="0"/>
                </a:lnTo>
                <a:lnTo>
                  <a:pt x="3334703"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171755">
            <a:off x="-1411232" y="6458062"/>
            <a:ext cx="6387788" cy="4114800"/>
          </a:xfrm>
          <a:custGeom>
            <a:avLst/>
            <a:gdLst/>
            <a:ahLst/>
            <a:cxnLst/>
            <a:rect l="l" t="t" r="r" b="b"/>
            <a:pathLst>
              <a:path w="6387788" h="4114800">
                <a:moveTo>
                  <a:pt x="0" y="0"/>
                </a:moveTo>
                <a:lnTo>
                  <a:pt x="6387788" y="0"/>
                </a:lnTo>
                <a:lnTo>
                  <a:pt x="6387788"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7018447">
            <a:off x="13402329" y="7833263"/>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735408">
            <a:off x="1812022" y="-159360"/>
            <a:ext cx="2877702" cy="2852523"/>
          </a:xfrm>
          <a:custGeom>
            <a:avLst/>
            <a:gdLst/>
            <a:ahLst/>
            <a:cxnLst/>
            <a:rect l="l" t="t" r="r" b="b"/>
            <a:pathLst>
              <a:path w="2877702" h="2852523">
                <a:moveTo>
                  <a:pt x="0" y="0"/>
                </a:moveTo>
                <a:lnTo>
                  <a:pt x="2877702" y="0"/>
                </a:lnTo>
                <a:lnTo>
                  <a:pt x="2877702" y="2852523"/>
                </a:lnTo>
                <a:lnTo>
                  <a:pt x="0" y="285252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983797" flipH="1">
            <a:off x="16175328" y="3637873"/>
            <a:ext cx="2901753" cy="3011253"/>
          </a:xfrm>
          <a:custGeom>
            <a:avLst/>
            <a:gdLst/>
            <a:ahLst/>
            <a:cxnLst/>
            <a:rect l="l" t="t" r="r" b="b"/>
            <a:pathLst>
              <a:path w="2901753" h="3011253">
                <a:moveTo>
                  <a:pt x="2901753" y="0"/>
                </a:moveTo>
                <a:lnTo>
                  <a:pt x="0" y="0"/>
                </a:lnTo>
                <a:lnTo>
                  <a:pt x="0" y="3011254"/>
                </a:lnTo>
                <a:lnTo>
                  <a:pt x="2901753" y="3011254"/>
                </a:lnTo>
                <a:lnTo>
                  <a:pt x="2901753"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9345240" y="-254848"/>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flipH="1" flipV="1">
            <a:off x="13598680" y="4459493"/>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rot="3120095">
            <a:off x="7127548" y="8487552"/>
            <a:ext cx="4401458" cy="3289089"/>
          </a:xfrm>
          <a:custGeom>
            <a:avLst/>
            <a:gdLst/>
            <a:ahLst/>
            <a:cxnLst/>
            <a:rect l="l" t="t" r="r" b="b"/>
            <a:pathLst>
              <a:path w="4401458" h="3289089">
                <a:moveTo>
                  <a:pt x="0" y="0"/>
                </a:moveTo>
                <a:lnTo>
                  <a:pt x="4401457" y="0"/>
                </a:lnTo>
                <a:lnTo>
                  <a:pt x="4401457" y="3289089"/>
                </a:lnTo>
                <a:lnTo>
                  <a:pt x="0" y="3289089"/>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Freeform 12"/>
          <p:cNvSpPr/>
          <p:nvPr/>
        </p:nvSpPr>
        <p:spPr>
          <a:xfrm flipV="1">
            <a:off x="5745138" y="-303121"/>
            <a:ext cx="1864671" cy="1920541"/>
          </a:xfrm>
          <a:custGeom>
            <a:avLst/>
            <a:gdLst/>
            <a:ahLst/>
            <a:cxnLst/>
            <a:rect l="l" t="t" r="r" b="b"/>
            <a:pathLst>
              <a:path w="1864671" h="1920541">
                <a:moveTo>
                  <a:pt x="0" y="1920541"/>
                </a:moveTo>
                <a:lnTo>
                  <a:pt x="1864671" y="1920541"/>
                </a:lnTo>
                <a:lnTo>
                  <a:pt x="1864671" y="0"/>
                </a:lnTo>
                <a:lnTo>
                  <a:pt x="0" y="0"/>
                </a:lnTo>
                <a:lnTo>
                  <a:pt x="0" y="1920541"/>
                </a:lnTo>
                <a:close/>
              </a:path>
            </a:pathLst>
          </a:custGeom>
          <a:blipFill>
            <a:blip>
              <a:extLst>
                <a:ext uri="{96DAC541-7B7A-43D3-8B79-37D633B846F1}">
                  <asvg:svgBlip xmlns:asvg="http://schemas.microsoft.com/office/drawing/2016/SVG/main" r:embed="rId11"/>
                </a:ext>
              </a:extLst>
            </a:blip>
            <a:stretch>
              <a:fillRect/>
            </a:stretch>
          </a:blipFill>
        </p:spPr>
      </p:sp>
      <p:sp>
        <p:nvSpPr>
          <p:cNvPr id="13" name="Freeform 13"/>
          <p:cNvSpPr/>
          <p:nvPr/>
        </p:nvSpPr>
        <p:spPr>
          <a:xfrm>
            <a:off x="-441078" y="2579119"/>
            <a:ext cx="2177275" cy="2558763"/>
          </a:xfrm>
          <a:custGeom>
            <a:avLst/>
            <a:gdLst/>
            <a:ahLst/>
            <a:cxnLst/>
            <a:rect l="l" t="t" r="r" b="b"/>
            <a:pathLst>
              <a:path w="2177275" h="2558763">
                <a:moveTo>
                  <a:pt x="0" y="0"/>
                </a:moveTo>
                <a:lnTo>
                  <a:pt x="2177275" y="0"/>
                </a:lnTo>
                <a:lnTo>
                  <a:pt x="2177275" y="2558763"/>
                </a:lnTo>
                <a:lnTo>
                  <a:pt x="0" y="2558763"/>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4" name="Freeform 14"/>
          <p:cNvSpPr/>
          <p:nvPr/>
        </p:nvSpPr>
        <p:spPr>
          <a:xfrm rot="2803384">
            <a:off x="17643690" y="8188876"/>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13"/>
                </a:ext>
              </a:extLst>
            </a:blip>
            <a:stretch>
              <a:fillRect r="-179368" b="-73951"/>
            </a:stretch>
          </a:blipFill>
        </p:spPr>
      </p:sp>
      <p:sp>
        <p:nvSpPr>
          <p:cNvPr id="15" name="Freeform 15"/>
          <p:cNvSpPr/>
          <p:nvPr/>
        </p:nvSpPr>
        <p:spPr>
          <a:xfrm rot="-2829106">
            <a:off x="-1519380" y="-1955513"/>
            <a:ext cx="3438645" cy="2838445"/>
          </a:xfrm>
          <a:custGeom>
            <a:avLst/>
            <a:gdLst/>
            <a:ahLst/>
            <a:cxnLst/>
            <a:rect l="l" t="t" r="r" b="b"/>
            <a:pathLst>
              <a:path w="3438645" h="2838445">
                <a:moveTo>
                  <a:pt x="0" y="0"/>
                </a:moveTo>
                <a:lnTo>
                  <a:pt x="3438644" y="0"/>
                </a:lnTo>
                <a:lnTo>
                  <a:pt x="3438644" y="2838445"/>
                </a:lnTo>
                <a:lnTo>
                  <a:pt x="0" y="2838445"/>
                </a:lnTo>
                <a:lnTo>
                  <a:pt x="0" y="0"/>
                </a:lnTo>
                <a:close/>
              </a:path>
            </a:pathLst>
          </a:custGeom>
          <a:blipFill>
            <a:blip>
              <a:extLst>
                <a:ext uri="{96DAC541-7B7A-43D3-8B79-37D633B846F1}">
                  <asvg:svgBlip xmlns:asvg="http://schemas.microsoft.com/office/drawing/2016/SVG/main" r:embed="rId14"/>
                </a:ext>
              </a:extLst>
            </a:blip>
            <a:stretch>
              <a:fillRect/>
            </a:stretch>
          </a:blipFill>
        </p:spPr>
      </p:sp>
      <p:grpSp>
        <p:nvGrpSpPr>
          <p:cNvPr id="16" name="Group 16"/>
          <p:cNvGrpSpPr/>
          <p:nvPr/>
        </p:nvGrpSpPr>
        <p:grpSpPr>
          <a:xfrm>
            <a:off x="4194216" y="6536254"/>
            <a:ext cx="9899567" cy="1128090"/>
            <a:chOff x="0" y="0"/>
            <a:chExt cx="3471127" cy="395547"/>
          </a:xfrm>
        </p:grpSpPr>
        <p:sp>
          <p:nvSpPr>
            <p:cNvPr id="17" name="Freeform 17"/>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8" name="TextBox 18"/>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5999602" y="6738984"/>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let’s predict!</a:t>
            </a:r>
          </a:p>
        </p:txBody>
      </p:sp>
      <p:sp>
        <p:nvSpPr>
          <p:cNvPr id="20" name="Freeform 20"/>
          <p:cNvSpPr/>
          <p:nvPr/>
        </p:nvSpPr>
        <p:spPr>
          <a:xfrm rot="-3363898">
            <a:off x="2735394" y="468878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5"/>
                </a:ext>
              </a:extLst>
            </a:blip>
            <a:stretch>
              <a:fillRect l="-103785" b="-128377"/>
            </a:stretch>
          </a:blipFill>
        </p:spPr>
      </p:sp>
      <p:sp>
        <p:nvSpPr>
          <p:cNvPr id="21" name="Freeform 21"/>
          <p:cNvSpPr/>
          <p:nvPr/>
        </p:nvSpPr>
        <p:spPr>
          <a:xfrm rot="-3363898">
            <a:off x="15067326" y="7618021"/>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5"/>
                </a:ext>
              </a:extLst>
            </a:blip>
            <a:stretch>
              <a:fillRect l="-103785" b="-128377"/>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3849193">
            <a:off x="15857313" y="6010000"/>
            <a:ext cx="3578620" cy="4957787"/>
          </a:xfrm>
          <a:custGeom>
            <a:avLst/>
            <a:gdLst/>
            <a:ahLst/>
            <a:cxnLst/>
            <a:rect l="l" t="t" r="r" b="b"/>
            <a:pathLst>
              <a:path w="3578620" h="4957787">
                <a:moveTo>
                  <a:pt x="0" y="0"/>
                </a:moveTo>
                <a:lnTo>
                  <a:pt x="3578621" y="0"/>
                </a:lnTo>
                <a:lnTo>
                  <a:pt x="3578621" y="4957787"/>
                </a:lnTo>
                <a:lnTo>
                  <a:pt x="0" y="495778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705329" y="1028700"/>
            <a:ext cx="6553971" cy="8229600"/>
            <a:chOff x="0" y="0"/>
            <a:chExt cx="16159963" cy="20291521"/>
          </a:xfrm>
        </p:grpSpPr>
        <p:sp>
          <p:nvSpPr>
            <p:cNvPr id="5" name="Freeform 5"/>
            <p:cNvSpPr/>
            <p:nvPr/>
          </p:nvSpPr>
          <p:spPr>
            <a:xfrm>
              <a:off x="0" y="0"/>
              <a:ext cx="16159964" cy="20291521"/>
            </a:xfrm>
            <a:custGeom>
              <a:avLst/>
              <a:gdLst/>
              <a:ahLst/>
              <a:cxnLst/>
              <a:rect l="l" t="t" r="r" b="b"/>
              <a:pathLst>
                <a:path w="16159964" h="20291521">
                  <a:moveTo>
                    <a:pt x="16159964" y="486607"/>
                  </a:moveTo>
                  <a:lnTo>
                    <a:pt x="16159964" y="19804914"/>
                  </a:lnTo>
                  <a:cubicBezTo>
                    <a:pt x="16159964" y="20073764"/>
                    <a:pt x="16038832" y="20291521"/>
                    <a:pt x="15889277" y="20291521"/>
                  </a:cubicBezTo>
                  <a:lnTo>
                    <a:pt x="270686" y="20291521"/>
                  </a:lnTo>
                  <a:cubicBezTo>
                    <a:pt x="121132" y="20291521"/>
                    <a:pt x="0" y="20073764"/>
                    <a:pt x="0" y="19804914"/>
                  </a:cubicBezTo>
                  <a:lnTo>
                    <a:pt x="0" y="486607"/>
                  </a:lnTo>
                  <a:cubicBezTo>
                    <a:pt x="0" y="217757"/>
                    <a:pt x="121132" y="0"/>
                    <a:pt x="270686" y="0"/>
                  </a:cubicBezTo>
                  <a:lnTo>
                    <a:pt x="15889277" y="0"/>
                  </a:lnTo>
                  <a:cubicBezTo>
                    <a:pt x="16038832" y="0"/>
                    <a:pt x="16159964" y="217757"/>
                    <a:pt x="16159964" y="486607"/>
                  </a:cubicBezTo>
                  <a:close/>
                </a:path>
              </a:pathLst>
            </a:custGeom>
            <a:blipFill>
              <a:blip r:embed="rId4"/>
              <a:stretch>
                <a:fillRect l="-44233" r="-44233"/>
              </a:stretch>
            </a:blipFill>
          </p:spPr>
        </p:sp>
      </p:grpSp>
      <p:sp>
        <p:nvSpPr>
          <p:cNvPr id="6" name="Freeform 6"/>
          <p:cNvSpPr/>
          <p:nvPr/>
        </p:nvSpPr>
        <p:spPr>
          <a:xfrm rot="2803384">
            <a:off x="542747" y="2265136"/>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5"/>
                </a:ext>
              </a:extLst>
            </a:blip>
            <a:stretch>
              <a:fillRect r="-179368" b="-73951"/>
            </a:stretch>
          </a:blipFill>
        </p:spPr>
      </p:sp>
      <p:grpSp>
        <p:nvGrpSpPr>
          <p:cNvPr id="7" name="Group 7"/>
          <p:cNvGrpSpPr/>
          <p:nvPr/>
        </p:nvGrpSpPr>
        <p:grpSpPr>
          <a:xfrm>
            <a:off x="1028700" y="3120453"/>
            <a:ext cx="8946258" cy="6137847"/>
            <a:chOff x="0" y="0"/>
            <a:chExt cx="2356216" cy="1616552"/>
          </a:xfrm>
        </p:grpSpPr>
        <p:sp>
          <p:nvSpPr>
            <p:cNvPr id="8" name="Freeform 8"/>
            <p:cNvSpPr/>
            <p:nvPr/>
          </p:nvSpPr>
          <p:spPr>
            <a:xfrm>
              <a:off x="0" y="0"/>
              <a:ext cx="2356216" cy="1616552"/>
            </a:xfrm>
            <a:custGeom>
              <a:avLst/>
              <a:gdLst/>
              <a:ahLst/>
              <a:cxnLst/>
              <a:rect l="l" t="t" r="r" b="b"/>
              <a:pathLst>
                <a:path w="2356216" h="1616552">
                  <a:moveTo>
                    <a:pt x="17308" y="0"/>
                  </a:moveTo>
                  <a:lnTo>
                    <a:pt x="2338908" y="0"/>
                  </a:lnTo>
                  <a:cubicBezTo>
                    <a:pt x="2348467" y="0"/>
                    <a:pt x="2356216" y="7749"/>
                    <a:pt x="2356216" y="17308"/>
                  </a:cubicBezTo>
                  <a:lnTo>
                    <a:pt x="2356216" y="1599245"/>
                  </a:lnTo>
                  <a:cubicBezTo>
                    <a:pt x="2356216" y="1608803"/>
                    <a:pt x="2348467" y="1616552"/>
                    <a:pt x="2338908" y="1616552"/>
                  </a:cubicBezTo>
                  <a:lnTo>
                    <a:pt x="17308" y="1616552"/>
                  </a:lnTo>
                  <a:cubicBezTo>
                    <a:pt x="7749" y="1616552"/>
                    <a:pt x="0" y="1608803"/>
                    <a:pt x="0" y="1599245"/>
                  </a:cubicBezTo>
                  <a:lnTo>
                    <a:pt x="0" y="17308"/>
                  </a:lnTo>
                  <a:cubicBezTo>
                    <a:pt x="0" y="7749"/>
                    <a:pt x="7749" y="0"/>
                    <a:pt x="17308" y="0"/>
                  </a:cubicBezTo>
                  <a:close/>
                </a:path>
              </a:pathLst>
            </a:custGeom>
            <a:solidFill>
              <a:srgbClr val="FFFFFF"/>
            </a:solidFill>
            <a:ln w="47625" cap="sq">
              <a:solidFill>
                <a:srgbClr val="000000"/>
              </a:solidFill>
              <a:prstDash val="solid"/>
              <a:miter/>
            </a:ln>
          </p:spPr>
        </p:sp>
        <p:sp>
          <p:nvSpPr>
            <p:cNvPr id="9" name="TextBox 9"/>
            <p:cNvSpPr txBox="1"/>
            <p:nvPr/>
          </p:nvSpPr>
          <p:spPr>
            <a:xfrm>
              <a:off x="0" y="-57150"/>
              <a:ext cx="2356216" cy="1673702"/>
            </a:xfrm>
            <a:prstGeom prst="rect">
              <a:avLst/>
            </a:prstGeom>
          </p:spPr>
          <p:txBody>
            <a:bodyPr lIns="50800" tIns="50800" rIns="50800" bIns="50800" rtlCol="0" anchor="ctr"/>
            <a:lstStyle/>
            <a:p>
              <a:pPr algn="ctr">
                <a:lnSpc>
                  <a:spcPts val="3640"/>
                </a:lnSpc>
              </a:pPr>
              <a:endParaRPr/>
            </a:p>
          </p:txBody>
        </p:sp>
      </p:grpSp>
      <p:grpSp>
        <p:nvGrpSpPr>
          <p:cNvPr id="10" name="Group 10"/>
          <p:cNvGrpSpPr/>
          <p:nvPr/>
        </p:nvGrpSpPr>
        <p:grpSpPr>
          <a:xfrm>
            <a:off x="2567118" y="2556408"/>
            <a:ext cx="5869421" cy="1128090"/>
            <a:chOff x="0" y="0"/>
            <a:chExt cx="7825895" cy="1504121"/>
          </a:xfrm>
        </p:grpSpPr>
        <p:grpSp>
          <p:nvGrpSpPr>
            <p:cNvPr id="11" name="Group 11"/>
            <p:cNvGrpSpPr/>
            <p:nvPr/>
          </p:nvGrpSpPr>
          <p:grpSpPr>
            <a:xfrm>
              <a:off x="0" y="0"/>
              <a:ext cx="7825895" cy="1504121"/>
              <a:chOff x="0" y="0"/>
              <a:chExt cx="2058020" cy="395547"/>
            </a:xfrm>
          </p:grpSpPr>
          <p:sp>
            <p:nvSpPr>
              <p:cNvPr id="12" name="Freeform 12"/>
              <p:cNvSpPr/>
              <p:nvPr/>
            </p:nvSpPr>
            <p:spPr>
              <a:xfrm>
                <a:off x="0" y="0"/>
                <a:ext cx="2058020" cy="395547"/>
              </a:xfrm>
              <a:custGeom>
                <a:avLst/>
                <a:gdLst/>
                <a:ahLst/>
                <a:cxnLst/>
                <a:rect l="l" t="t" r="r" b="b"/>
                <a:pathLst>
                  <a:path w="2058020" h="395547">
                    <a:moveTo>
                      <a:pt x="1854820" y="0"/>
                    </a:moveTo>
                    <a:cubicBezTo>
                      <a:pt x="1967044" y="0"/>
                      <a:pt x="2058020" y="88546"/>
                      <a:pt x="2058020" y="197774"/>
                    </a:cubicBezTo>
                    <a:cubicBezTo>
                      <a:pt x="2058020" y="307001"/>
                      <a:pt x="1967044" y="395547"/>
                      <a:pt x="1854820"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3" name="TextBox 13"/>
              <p:cNvSpPr txBox="1"/>
              <p:nvPr/>
            </p:nvSpPr>
            <p:spPr>
              <a:xfrm>
                <a:off x="0" y="-38100"/>
                <a:ext cx="2058020" cy="433647"/>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27210" y="295707"/>
              <a:ext cx="4971476"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analysis</a:t>
              </a:r>
            </a:p>
          </p:txBody>
        </p:sp>
      </p:grpSp>
      <p:sp>
        <p:nvSpPr>
          <p:cNvPr id="15" name="Freeform 15"/>
          <p:cNvSpPr/>
          <p:nvPr/>
        </p:nvSpPr>
        <p:spPr>
          <a:xfrm rot="-928925">
            <a:off x="-178479" y="-185154"/>
            <a:ext cx="2414357" cy="2146583"/>
          </a:xfrm>
          <a:custGeom>
            <a:avLst/>
            <a:gdLst/>
            <a:ahLst/>
            <a:cxnLst/>
            <a:rect l="l" t="t" r="r" b="b"/>
            <a:pathLst>
              <a:path w="2414357" h="2146583">
                <a:moveTo>
                  <a:pt x="0" y="0"/>
                </a:moveTo>
                <a:lnTo>
                  <a:pt x="2414358" y="0"/>
                </a:lnTo>
                <a:lnTo>
                  <a:pt x="2414358" y="2146583"/>
                </a:lnTo>
                <a:lnTo>
                  <a:pt x="0" y="214658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2072214" y="638175"/>
            <a:ext cx="6859230" cy="1606549"/>
          </a:xfrm>
          <a:prstGeom prst="rect">
            <a:avLst/>
          </a:prstGeom>
        </p:spPr>
        <p:txBody>
          <a:bodyPr lIns="0" tIns="0" rIns="0" bIns="0" rtlCol="0" anchor="t">
            <a:spAutoFit/>
          </a:bodyPr>
          <a:lstStyle/>
          <a:p>
            <a:pPr algn="ctr">
              <a:lnSpc>
                <a:spcPts val="11200"/>
              </a:lnSpc>
            </a:pPr>
            <a:r>
              <a:rPr lang="en-US" sz="8000" b="1">
                <a:solidFill>
                  <a:srgbClr val="000000"/>
                </a:solidFill>
                <a:latin typeface="Agrandir Ultra-Bold"/>
                <a:ea typeface="Agrandir Ultra-Bold"/>
                <a:cs typeface="Agrandir Ultra-Bold"/>
                <a:sym typeface="Agrandir Ultra-Bold"/>
              </a:rPr>
              <a:t>front cover</a:t>
            </a:r>
          </a:p>
        </p:txBody>
      </p:sp>
      <p:sp>
        <p:nvSpPr>
          <p:cNvPr id="17" name="TextBox 17"/>
          <p:cNvSpPr txBox="1"/>
          <p:nvPr/>
        </p:nvSpPr>
        <p:spPr>
          <a:xfrm>
            <a:off x="1740903" y="4479059"/>
            <a:ext cx="7521853" cy="39484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Read and view the front cover of the novel, considering each element. </a:t>
            </a:r>
          </a:p>
          <a:p>
            <a:pPr algn="l">
              <a:lnSpc>
                <a:spcPts val="3919"/>
              </a:lnSpc>
            </a:pPr>
            <a:r>
              <a:rPr lang="en-US" sz="2799">
                <a:solidFill>
                  <a:srgbClr val="000000"/>
                </a:solidFill>
                <a:latin typeface="Garet"/>
                <a:ea typeface="Garet"/>
                <a:cs typeface="Garet"/>
                <a:sym typeface="Garet"/>
              </a:rPr>
              <a:t>These might include:</a:t>
            </a:r>
          </a:p>
          <a:p>
            <a:pPr marL="604519" lvl="1" indent="-302260" algn="l">
              <a:lnSpc>
                <a:spcPts val="3919"/>
              </a:lnSpc>
              <a:buFont typeface="Arial"/>
              <a:buChar char="•"/>
            </a:pPr>
            <a:r>
              <a:rPr lang="en-US" sz="2799">
                <a:solidFill>
                  <a:srgbClr val="000000"/>
                </a:solidFill>
                <a:latin typeface="Garet"/>
                <a:ea typeface="Garet"/>
                <a:cs typeface="Garet"/>
                <a:sym typeface="Garet"/>
              </a:rPr>
              <a:t>the title</a:t>
            </a:r>
          </a:p>
          <a:p>
            <a:pPr marL="604519" lvl="1" indent="-302260" algn="l">
              <a:lnSpc>
                <a:spcPts val="3919"/>
              </a:lnSpc>
              <a:buFont typeface="Arial"/>
              <a:buChar char="•"/>
            </a:pPr>
            <a:r>
              <a:rPr lang="en-US" sz="2799">
                <a:solidFill>
                  <a:srgbClr val="000000"/>
                </a:solidFill>
                <a:latin typeface="Garet"/>
                <a:ea typeface="Garet"/>
                <a:cs typeface="Garet"/>
                <a:sym typeface="Garet"/>
              </a:rPr>
              <a:t>name of author</a:t>
            </a:r>
          </a:p>
          <a:p>
            <a:pPr marL="604519" lvl="1" indent="-302260" algn="l">
              <a:lnSpc>
                <a:spcPts val="3919"/>
              </a:lnSpc>
              <a:buFont typeface="Arial"/>
              <a:buChar char="•"/>
            </a:pPr>
            <a:r>
              <a:rPr lang="en-US" sz="2799">
                <a:solidFill>
                  <a:srgbClr val="000000"/>
                </a:solidFill>
                <a:latin typeface="Garet"/>
                <a:ea typeface="Garet"/>
                <a:cs typeface="Garet"/>
                <a:sym typeface="Garet"/>
              </a:rPr>
              <a:t>cover art or image</a:t>
            </a:r>
          </a:p>
          <a:p>
            <a:pPr marL="604519" lvl="1" indent="-302260" algn="l">
              <a:lnSpc>
                <a:spcPts val="3919"/>
              </a:lnSpc>
              <a:buFont typeface="Arial"/>
              <a:buChar char="•"/>
            </a:pPr>
            <a:r>
              <a:rPr lang="en-US" sz="2799">
                <a:solidFill>
                  <a:srgbClr val="000000"/>
                </a:solidFill>
                <a:latin typeface="Garet"/>
                <a:ea typeface="Garet"/>
                <a:cs typeface="Garet"/>
                <a:sym typeface="Garet"/>
              </a:rPr>
              <a:t>additional design elements</a:t>
            </a:r>
          </a:p>
          <a:p>
            <a:pPr marL="604519" lvl="1" indent="-302260" algn="l">
              <a:lnSpc>
                <a:spcPts val="3919"/>
              </a:lnSpc>
              <a:buFont typeface="Arial"/>
              <a:buChar char="•"/>
            </a:pPr>
            <a:r>
              <a:rPr lang="en-US" sz="2799">
                <a:solidFill>
                  <a:srgbClr val="000000"/>
                </a:solidFill>
                <a:latin typeface="Garet"/>
                <a:ea typeface="Garet"/>
                <a:cs typeface="Garet"/>
                <a:sym typeface="Garet"/>
              </a:rPr>
              <a:t>endorsements from authors or critics</a:t>
            </a:r>
          </a:p>
        </p:txBody>
      </p:sp>
      <p:sp>
        <p:nvSpPr>
          <p:cNvPr id="18" name="TextBox 18"/>
          <p:cNvSpPr txBox="1"/>
          <p:nvPr/>
        </p:nvSpPr>
        <p:spPr>
          <a:xfrm>
            <a:off x="11696315" y="4811712"/>
            <a:ext cx="4572000" cy="986155"/>
          </a:xfrm>
          <a:prstGeom prst="rect">
            <a:avLst/>
          </a:prstGeom>
        </p:spPr>
        <p:txBody>
          <a:bodyPr lIns="0" tIns="0" rIns="0" bIns="0" rtlCol="0" anchor="t">
            <a:spAutoFit/>
          </a:bodyPr>
          <a:lstStyle/>
          <a:p>
            <a:pPr algn="ctr">
              <a:lnSpc>
                <a:spcPts val="3920"/>
              </a:lnSpc>
            </a:pPr>
            <a:r>
              <a:rPr lang="en-US" sz="2800" spc="28">
                <a:solidFill>
                  <a:srgbClr val="000000"/>
                </a:solidFill>
                <a:latin typeface="Garet"/>
                <a:ea typeface="Garet"/>
                <a:cs typeface="Garet"/>
                <a:sym typeface="Garet"/>
              </a:rPr>
              <a:t>drag and drop book cover here</a:t>
            </a:r>
          </a:p>
        </p:txBody>
      </p:sp>
      <p:sp>
        <p:nvSpPr>
          <p:cNvPr id="19" name="Freeform 19"/>
          <p:cNvSpPr/>
          <p:nvPr/>
        </p:nvSpPr>
        <p:spPr>
          <a:xfrm rot="-3363898">
            <a:off x="2712012" y="-239353"/>
            <a:ext cx="1030958" cy="898201"/>
          </a:xfrm>
          <a:custGeom>
            <a:avLst/>
            <a:gdLst/>
            <a:ahLst/>
            <a:cxnLst/>
            <a:rect l="l" t="t" r="r" b="b"/>
            <a:pathLst>
              <a:path w="1030958" h="898201">
                <a:moveTo>
                  <a:pt x="0" y="0"/>
                </a:moveTo>
                <a:lnTo>
                  <a:pt x="1030959" y="0"/>
                </a:lnTo>
                <a:lnTo>
                  <a:pt x="1030959"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0" name="Freeform 20"/>
          <p:cNvSpPr/>
          <p:nvPr/>
        </p:nvSpPr>
        <p:spPr>
          <a:xfrm rot="-3363898">
            <a:off x="13833057" y="9837900"/>
            <a:ext cx="1030958" cy="898201"/>
          </a:xfrm>
          <a:custGeom>
            <a:avLst/>
            <a:gdLst/>
            <a:ahLst/>
            <a:cxnLst/>
            <a:rect l="l" t="t" r="r" b="b"/>
            <a:pathLst>
              <a:path w="1030958" h="898201">
                <a:moveTo>
                  <a:pt x="0" y="0"/>
                </a:moveTo>
                <a:lnTo>
                  <a:pt x="1030958" y="0"/>
                </a:lnTo>
                <a:lnTo>
                  <a:pt x="1030958" y="898200"/>
                </a:lnTo>
                <a:lnTo>
                  <a:pt x="0" y="898200"/>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15158656" y="6618838"/>
            <a:ext cx="3426506" cy="4114800"/>
          </a:xfrm>
          <a:custGeom>
            <a:avLst/>
            <a:gdLst/>
            <a:ahLst/>
            <a:cxnLst/>
            <a:rect l="l" t="t" r="r" b="b"/>
            <a:pathLst>
              <a:path w="3426506" h="4114800">
                <a:moveTo>
                  <a:pt x="0" y="0"/>
                </a:moveTo>
                <a:lnTo>
                  <a:pt x="3426506" y="0"/>
                </a:lnTo>
                <a:lnTo>
                  <a:pt x="342650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2803384">
            <a:off x="17256299" y="4805514"/>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4"/>
                </a:ext>
              </a:extLst>
            </a:blip>
            <a:stretch>
              <a:fillRect r="-179368" b="-73951"/>
            </a:stretch>
          </a:blipFill>
        </p:spPr>
      </p:sp>
      <p:grpSp>
        <p:nvGrpSpPr>
          <p:cNvPr id="5" name="Group 5"/>
          <p:cNvGrpSpPr/>
          <p:nvPr/>
        </p:nvGrpSpPr>
        <p:grpSpPr>
          <a:xfrm>
            <a:off x="8313042" y="3120453"/>
            <a:ext cx="8946258" cy="6137847"/>
            <a:chOff x="0" y="0"/>
            <a:chExt cx="2356216" cy="1616552"/>
          </a:xfrm>
        </p:grpSpPr>
        <p:sp>
          <p:nvSpPr>
            <p:cNvPr id="6" name="Freeform 6"/>
            <p:cNvSpPr/>
            <p:nvPr/>
          </p:nvSpPr>
          <p:spPr>
            <a:xfrm>
              <a:off x="0" y="0"/>
              <a:ext cx="2356216" cy="1616552"/>
            </a:xfrm>
            <a:custGeom>
              <a:avLst/>
              <a:gdLst/>
              <a:ahLst/>
              <a:cxnLst/>
              <a:rect l="l" t="t" r="r" b="b"/>
              <a:pathLst>
                <a:path w="2356216" h="1616552">
                  <a:moveTo>
                    <a:pt x="17308" y="0"/>
                  </a:moveTo>
                  <a:lnTo>
                    <a:pt x="2338908" y="0"/>
                  </a:lnTo>
                  <a:cubicBezTo>
                    <a:pt x="2348467" y="0"/>
                    <a:pt x="2356216" y="7749"/>
                    <a:pt x="2356216" y="17308"/>
                  </a:cubicBezTo>
                  <a:lnTo>
                    <a:pt x="2356216" y="1599245"/>
                  </a:lnTo>
                  <a:cubicBezTo>
                    <a:pt x="2356216" y="1608803"/>
                    <a:pt x="2348467" y="1616552"/>
                    <a:pt x="2338908" y="1616552"/>
                  </a:cubicBezTo>
                  <a:lnTo>
                    <a:pt x="17308" y="1616552"/>
                  </a:lnTo>
                  <a:cubicBezTo>
                    <a:pt x="7749" y="1616552"/>
                    <a:pt x="0" y="1608803"/>
                    <a:pt x="0" y="1599245"/>
                  </a:cubicBezTo>
                  <a:lnTo>
                    <a:pt x="0" y="17308"/>
                  </a:lnTo>
                  <a:cubicBezTo>
                    <a:pt x="0" y="7749"/>
                    <a:pt x="7749" y="0"/>
                    <a:pt x="17308" y="0"/>
                  </a:cubicBezTo>
                  <a:close/>
                </a:path>
              </a:pathLst>
            </a:custGeom>
            <a:solidFill>
              <a:srgbClr val="FFFFFF"/>
            </a:solidFill>
            <a:ln w="47625" cap="sq">
              <a:solidFill>
                <a:srgbClr val="000000"/>
              </a:solidFill>
              <a:prstDash val="solid"/>
              <a:miter/>
            </a:ln>
          </p:spPr>
        </p:sp>
        <p:sp>
          <p:nvSpPr>
            <p:cNvPr id="7" name="TextBox 7"/>
            <p:cNvSpPr txBox="1"/>
            <p:nvPr/>
          </p:nvSpPr>
          <p:spPr>
            <a:xfrm>
              <a:off x="0" y="-57150"/>
              <a:ext cx="2356216" cy="1673702"/>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9851460" y="2556408"/>
            <a:ext cx="5869421" cy="1128090"/>
            <a:chOff x="0" y="0"/>
            <a:chExt cx="7825895" cy="1504121"/>
          </a:xfrm>
        </p:grpSpPr>
        <p:grpSp>
          <p:nvGrpSpPr>
            <p:cNvPr id="9" name="Group 9"/>
            <p:cNvGrpSpPr/>
            <p:nvPr/>
          </p:nvGrpSpPr>
          <p:grpSpPr>
            <a:xfrm>
              <a:off x="0" y="0"/>
              <a:ext cx="7825895" cy="1504121"/>
              <a:chOff x="0" y="0"/>
              <a:chExt cx="2058020" cy="395547"/>
            </a:xfrm>
          </p:grpSpPr>
          <p:sp>
            <p:nvSpPr>
              <p:cNvPr id="10" name="Freeform 10"/>
              <p:cNvSpPr/>
              <p:nvPr/>
            </p:nvSpPr>
            <p:spPr>
              <a:xfrm>
                <a:off x="0" y="0"/>
                <a:ext cx="2058020" cy="395547"/>
              </a:xfrm>
              <a:custGeom>
                <a:avLst/>
                <a:gdLst/>
                <a:ahLst/>
                <a:cxnLst/>
                <a:rect l="l" t="t" r="r" b="b"/>
                <a:pathLst>
                  <a:path w="2058020" h="395547">
                    <a:moveTo>
                      <a:pt x="1854820" y="0"/>
                    </a:moveTo>
                    <a:cubicBezTo>
                      <a:pt x="1967044" y="0"/>
                      <a:pt x="2058020" y="88546"/>
                      <a:pt x="2058020" y="197774"/>
                    </a:cubicBezTo>
                    <a:cubicBezTo>
                      <a:pt x="2058020" y="307001"/>
                      <a:pt x="1967044" y="395547"/>
                      <a:pt x="1854820"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1" name="TextBox 11"/>
              <p:cNvSpPr txBox="1"/>
              <p:nvPr/>
            </p:nvSpPr>
            <p:spPr>
              <a:xfrm>
                <a:off x="0" y="-38100"/>
                <a:ext cx="2058020" cy="43364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427210" y="295707"/>
              <a:ext cx="4971476"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analysis</a:t>
              </a:r>
            </a:p>
          </p:txBody>
        </p:sp>
      </p:grpSp>
      <p:sp>
        <p:nvSpPr>
          <p:cNvPr id="13" name="Freeform 13"/>
          <p:cNvSpPr/>
          <p:nvPr/>
        </p:nvSpPr>
        <p:spPr>
          <a:xfrm>
            <a:off x="-882068" y="1672507"/>
            <a:ext cx="2901753" cy="3011253"/>
          </a:xfrm>
          <a:custGeom>
            <a:avLst/>
            <a:gdLst/>
            <a:ahLst/>
            <a:cxnLst/>
            <a:rect l="l" t="t" r="r" b="b"/>
            <a:pathLst>
              <a:path w="2901753" h="3011253">
                <a:moveTo>
                  <a:pt x="0" y="0"/>
                </a:moveTo>
                <a:lnTo>
                  <a:pt x="2901753" y="0"/>
                </a:lnTo>
                <a:lnTo>
                  <a:pt x="2901753" y="3011253"/>
                </a:lnTo>
                <a:lnTo>
                  <a:pt x="0" y="301125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rot="-8914374">
            <a:off x="226971" y="-1505627"/>
            <a:ext cx="2901753" cy="3011253"/>
          </a:xfrm>
          <a:custGeom>
            <a:avLst/>
            <a:gdLst/>
            <a:ahLst/>
            <a:cxnLst/>
            <a:rect l="l" t="t" r="r" b="b"/>
            <a:pathLst>
              <a:path w="2901753" h="3011253">
                <a:moveTo>
                  <a:pt x="0" y="0"/>
                </a:moveTo>
                <a:lnTo>
                  <a:pt x="2901754" y="0"/>
                </a:lnTo>
                <a:lnTo>
                  <a:pt x="2901754" y="3011254"/>
                </a:lnTo>
                <a:lnTo>
                  <a:pt x="0" y="3011254"/>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5" name="Group 15"/>
          <p:cNvGrpSpPr/>
          <p:nvPr/>
        </p:nvGrpSpPr>
        <p:grpSpPr>
          <a:xfrm>
            <a:off x="1028700" y="1028700"/>
            <a:ext cx="6553971" cy="8229600"/>
            <a:chOff x="0" y="0"/>
            <a:chExt cx="16159963" cy="20291521"/>
          </a:xfrm>
        </p:grpSpPr>
        <p:sp>
          <p:nvSpPr>
            <p:cNvPr id="16" name="Freeform 16"/>
            <p:cNvSpPr/>
            <p:nvPr/>
          </p:nvSpPr>
          <p:spPr>
            <a:xfrm>
              <a:off x="0" y="0"/>
              <a:ext cx="16159964" cy="20291521"/>
            </a:xfrm>
            <a:custGeom>
              <a:avLst/>
              <a:gdLst/>
              <a:ahLst/>
              <a:cxnLst/>
              <a:rect l="l" t="t" r="r" b="b"/>
              <a:pathLst>
                <a:path w="16159964" h="20291521">
                  <a:moveTo>
                    <a:pt x="16159964" y="486607"/>
                  </a:moveTo>
                  <a:lnTo>
                    <a:pt x="16159964" y="19804914"/>
                  </a:lnTo>
                  <a:cubicBezTo>
                    <a:pt x="16159964" y="20073764"/>
                    <a:pt x="16038832" y="20291521"/>
                    <a:pt x="15889277" y="20291521"/>
                  </a:cubicBezTo>
                  <a:lnTo>
                    <a:pt x="270686" y="20291521"/>
                  </a:lnTo>
                  <a:cubicBezTo>
                    <a:pt x="121132" y="20291521"/>
                    <a:pt x="0" y="20073764"/>
                    <a:pt x="0" y="19804914"/>
                  </a:cubicBezTo>
                  <a:lnTo>
                    <a:pt x="0" y="486607"/>
                  </a:lnTo>
                  <a:cubicBezTo>
                    <a:pt x="0" y="217757"/>
                    <a:pt x="121132" y="0"/>
                    <a:pt x="270686" y="0"/>
                  </a:cubicBezTo>
                  <a:lnTo>
                    <a:pt x="15889277" y="0"/>
                  </a:lnTo>
                  <a:cubicBezTo>
                    <a:pt x="16038832" y="0"/>
                    <a:pt x="16159964" y="217757"/>
                    <a:pt x="16159964" y="486607"/>
                  </a:cubicBezTo>
                  <a:close/>
                </a:path>
              </a:pathLst>
            </a:custGeom>
            <a:blipFill>
              <a:blip r:embed="rId7"/>
              <a:stretch>
                <a:fillRect l="-44233" r="-44233"/>
              </a:stretch>
            </a:blipFill>
          </p:spPr>
        </p:sp>
      </p:grpSp>
      <p:sp>
        <p:nvSpPr>
          <p:cNvPr id="17" name="TextBox 17"/>
          <p:cNvSpPr txBox="1"/>
          <p:nvPr/>
        </p:nvSpPr>
        <p:spPr>
          <a:xfrm>
            <a:off x="9047444" y="4232508"/>
            <a:ext cx="7477455" cy="44437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Read and view the back cover of the novel, considering each element. </a:t>
            </a:r>
          </a:p>
          <a:p>
            <a:pPr algn="l">
              <a:lnSpc>
                <a:spcPts val="3919"/>
              </a:lnSpc>
            </a:pPr>
            <a:r>
              <a:rPr lang="en-US" sz="2799">
                <a:solidFill>
                  <a:srgbClr val="000000"/>
                </a:solidFill>
                <a:latin typeface="Garet"/>
                <a:ea typeface="Garet"/>
                <a:cs typeface="Garet"/>
                <a:sym typeface="Garet"/>
              </a:rPr>
              <a:t>These might include:</a:t>
            </a:r>
          </a:p>
          <a:p>
            <a:pPr marL="604519" lvl="1" indent="-302260" algn="l">
              <a:lnSpc>
                <a:spcPts val="3919"/>
              </a:lnSpc>
              <a:buFont typeface="Arial"/>
              <a:buChar char="•"/>
            </a:pPr>
            <a:r>
              <a:rPr lang="en-US" sz="2799">
                <a:solidFill>
                  <a:srgbClr val="000000"/>
                </a:solidFill>
                <a:latin typeface="Garet"/>
                <a:ea typeface="Garet"/>
                <a:cs typeface="Garet"/>
                <a:sym typeface="Garet"/>
              </a:rPr>
              <a:t>blurb or summary</a:t>
            </a:r>
          </a:p>
          <a:p>
            <a:pPr marL="604519" lvl="1" indent="-302260" algn="l">
              <a:lnSpc>
                <a:spcPts val="3919"/>
              </a:lnSpc>
              <a:buFont typeface="Arial"/>
              <a:buChar char="•"/>
            </a:pPr>
            <a:r>
              <a:rPr lang="en-US" sz="2799">
                <a:solidFill>
                  <a:srgbClr val="000000"/>
                </a:solidFill>
                <a:latin typeface="Garet"/>
                <a:ea typeface="Garet"/>
                <a:cs typeface="Garet"/>
                <a:sym typeface="Garet"/>
              </a:rPr>
              <a:t>author’s bio (usually inside cover)</a:t>
            </a:r>
          </a:p>
          <a:p>
            <a:pPr marL="604519" lvl="1" indent="-302260" algn="l">
              <a:lnSpc>
                <a:spcPts val="3919"/>
              </a:lnSpc>
              <a:buFont typeface="Arial"/>
              <a:buChar char="•"/>
            </a:pPr>
            <a:r>
              <a:rPr lang="en-US" sz="2799">
                <a:solidFill>
                  <a:srgbClr val="000000"/>
                </a:solidFill>
                <a:latin typeface="Garet"/>
                <a:ea typeface="Garet"/>
                <a:cs typeface="Garet"/>
                <a:sym typeface="Garet"/>
              </a:rPr>
              <a:t>endorsements from authors or critics</a:t>
            </a:r>
          </a:p>
          <a:p>
            <a:pPr marL="604519" lvl="1" indent="-302260" algn="l">
              <a:lnSpc>
                <a:spcPts val="3919"/>
              </a:lnSpc>
              <a:buFont typeface="Arial"/>
              <a:buChar char="•"/>
            </a:pPr>
            <a:r>
              <a:rPr lang="en-US" sz="2799">
                <a:solidFill>
                  <a:srgbClr val="000000"/>
                </a:solidFill>
                <a:latin typeface="Garet"/>
                <a:ea typeface="Garet"/>
                <a:cs typeface="Garet"/>
                <a:sym typeface="Garet"/>
              </a:rPr>
              <a:t>quotes or excerpts</a:t>
            </a:r>
          </a:p>
          <a:p>
            <a:pPr marL="604519" lvl="1" indent="-302260" algn="l">
              <a:lnSpc>
                <a:spcPts val="3919"/>
              </a:lnSpc>
              <a:buFont typeface="Arial"/>
              <a:buChar char="•"/>
            </a:pPr>
            <a:r>
              <a:rPr lang="en-US" sz="2799">
                <a:solidFill>
                  <a:srgbClr val="000000"/>
                </a:solidFill>
                <a:latin typeface="Garet"/>
                <a:ea typeface="Garet"/>
                <a:cs typeface="Garet"/>
                <a:sym typeface="Garet"/>
              </a:rPr>
              <a:t>visual design elements</a:t>
            </a:r>
          </a:p>
        </p:txBody>
      </p:sp>
      <p:sp>
        <p:nvSpPr>
          <p:cNvPr id="18" name="TextBox 18"/>
          <p:cNvSpPr txBox="1"/>
          <p:nvPr/>
        </p:nvSpPr>
        <p:spPr>
          <a:xfrm>
            <a:off x="9443607" y="638175"/>
            <a:ext cx="6685128" cy="1606549"/>
          </a:xfrm>
          <a:prstGeom prst="rect">
            <a:avLst/>
          </a:prstGeom>
        </p:spPr>
        <p:txBody>
          <a:bodyPr lIns="0" tIns="0" rIns="0" bIns="0" rtlCol="0" anchor="t">
            <a:spAutoFit/>
          </a:bodyPr>
          <a:lstStyle/>
          <a:p>
            <a:pPr algn="ctr">
              <a:lnSpc>
                <a:spcPts val="11200"/>
              </a:lnSpc>
            </a:pPr>
            <a:r>
              <a:rPr lang="en-US" sz="8000" b="1">
                <a:solidFill>
                  <a:srgbClr val="000000"/>
                </a:solidFill>
                <a:latin typeface="Agrandir Ultra-Bold"/>
                <a:ea typeface="Agrandir Ultra-Bold"/>
                <a:cs typeface="Agrandir Ultra-Bold"/>
                <a:sym typeface="Agrandir Ultra-Bold"/>
              </a:rPr>
              <a:t>back cover</a:t>
            </a:r>
          </a:p>
        </p:txBody>
      </p:sp>
      <p:sp>
        <p:nvSpPr>
          <p:cNvPr id="19" name="TextBox 19"/>
          <p:cNvSpPr txBox="1"/>
          <p:nvPr/>
        </p:nvSpPr>
        <p:spPr>
          <a:xfrm>
            <a:off x="2019685" y="4617085"/>
            <a:ext cx="4572000" cy="986155"/>
          </a:xfrm>
          <a:prstGeom prst="rect">
            <a:avLst/>
          </a:prstGeom>
        </p:spPr>
        <p:txBody>
          <a:bodyPr lIns="0" tIns="0" rIns="0" bIns="0" rtlCol="0" anchor="t">
            <a:spAutoFit/>
          </a:bodyPr>
          <a:lstStyle/>
          <a:p>
            <a:pPr algn="ctr">
              <a:lnSpc>
                <a:spcPts val="3920"/>
              </a:lnSpc>
            </a:pPr>
            <a:r>
              <a:rPr lang="en-US" sz="2800" spc="28">
                <a:solidFill>
                  <a:srgbClr val="000000"/>
                </a:solidFill>
                <a:latin typeface="Garet"/>
                <a:ea typeface="Garet"/>
                <a:cs typeface="Garet"/>
                <a:sym typeface="Garet"/>
              </a:rPr>
              <a:t>drag and drop book cover here</a:t>
            </a:r>
          </a:p>
        </p:txBody>
      </p:sp>
      <p:sp>
        <p:nvSpPr>
          <p:cNvPr id="20" name="Freeform 20"/>
          <p:cNvSpPr/>
          <p:nvPr/>
        </p:nvSpPr>
        <p:spPr>
          <a:xfrm rot="-3363898">
            <a:off x="13371656" y="9801914"/>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8"/>
                </a:ext>
              </a:extLst>
            </a:blip>
            <a:stretch>
              <a:fillRect l="-103785" b="-128377"/>
            </a:stretch>
          </a:blipFill>
        </p:spPr>
      </p:sp>
      <p:sp>
        <p:nvSpPr>
          <p:cNvPr id="21" name="Freeform 21"/>
          <p:cNvSpPr/>
          <p:nvPr/>
        </p:nvSpPr>
        <p:spPr>
          <a:xfrm rot="-3363898">
            <a:off x="3790206" y="-98790"/>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8"/>
                </a:ext>
              </a:extLst>
            </a:blip>
            <a:stretch>
              <a:fillRect l="-103785" b="-128377"/>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2508205">
            <a:off x="-259663" y="8199159"/>
            <a:ext cx="2576725" cy="2126970"/>
          </a:xfrm>
          <a:custGeom>
            <a:avLst/>
            <a:gdLst/>
            <a:ahLst/>
            <a:cxnLst/>
            <a:rect l="l" t="t" r="r" b="b"/>
            <a:pathLst>
              <a:path w="2576725" h="2126970">
                <a:moveTo>
                  <a:pt x="0" y="0"/>
                </a:moveTo>
                <a:lnTo>
                  <a:pt x="2576726" y="0"/>
                </a:lnTo>
                <a:lnTo>
                  <a:pt x="2576726" y="2126970"/>
                </a:lnTo>
                <a:lnTo>
                  <a:pt x="0" y="21269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203833" y="8122735"/>
            <a:ext cx="1919193" cy="2279819"/>
          </a:xfrm>
          <a:custGeom>
            <a:avLst/>
            <a:gdLst/>
            <a:ahLst/>
            <a:cxnLst/>
            <a:rect l="l" t="t" r="r" b="b"/>
            <a:pathLst>
              <a:path w="1919193" h="2279819">
                <a:moveTo>
                  <a:pt x="0" y="0"/>
                </a:moveTo>
                <a:lnTo>
                  <a:pt x="1919192" y="0"/>
                </a:lnTo>
                <a:lnTo>
                  <a:pt x="1919192" y="2279819"/>
                </a:lnTo>
                <a:lnTo>
                  <a:pt x="0" y="227981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4903153"/>
            <a:ext cx="5165399" cy="4359492"/>
            <a:chOff x="0" y="0"/>
            <a:chExt cx="1360434" cy="1148179"/>
          </a:xfrm>
        </p:grpSpPr>
        <p:sp>
          <p:nvSpPr>
            <p:cNvPr id="6" name="Freeform 6"/>
            <p:cNvSpPr/>
            <p:nvPr/>
          </p:nvSpPr>
          <p:spPr>
            <a:xfrm>
              <a:off x="0" y="0"/>
              <a:ext cx="1360434" cy="1148179"/>
            </a:xfrm>
            <a:custGeom>
              <a:avLst/>
              <a:gdLst/>
              <a:ahLst/>
              <a:cxnLst/>
              <a:rect l="l" t="t" r="r" b="b"/>
              <a:pathLst>
                <a:path w="1360434" h="1148179">
                  <a:moveTo>
                    <a:pt x="29976" y="0"/>
                  </a:moveTo>
                  <a:lnTo>
                    <a:pt x="1330458" y="0"/>
                  </a:lnTo>
                  <a:cubicBezTo>
                    <a:pt x="1347014" y="0"/>
                    <a:pt x="1360434" y="13421"/>
                    <a:pt x="1360434" y="29976"/>
                  </a:cubicBezTo>
                  <a:lnTo>
                    <a:pt x="1360434" y="1118203"/>
                  </a:lnTo>
                  <a:cubicBezTo>
                    <a:pt x="1360434" y="1134758"/>
                    <a:pt x="1347014" y="1148179"/>
                    <a:pt x="1330458" y="1148179"/>
                  </a:cubicBezTo>
                  <a:lnTo>
                    <a:pt x="29976" y="1148179"/>
                  </a:lnTo>
                  <a:cubicBezTo>
                    <a:pt x="13421" y="1148179"/>
                    <a:pt x="0" y="1134758"/>
                    <a:pt x="0" y="1118203"/>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7" name="TextBox 7"/>
            <p:cNvSpPr txBox="1"/>
            <p:nvPr/>
          </p:nvSpPr>
          <p:spPr>
            <a:xfrm>
              <a:off x="0" y="-57150"/>
              <a:ext cx="1360434" cy="1205329"/>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6561300" y="4903153"/>
            <a:ext cx="5165399" cy="4359492"/>
            <a:chOff x="0" y="0"/>
            <a:chExt cx="1360434" cy="1148179"/>
          </a:xfrm>
        </p:grpSpPr>
        <p:sp>
          <p:nvSpPr>
            <p:cNvPr id="9" name="Freeform 9"/>
            <p:cNvSpPr/>
            <p:nvPr/>
          </p:nvSpPr>
          <p:spPr>
            <a:xfrm>
              <a:off x="0" y="0"/>
              <a:ext cx="1360434" cy="1148179"/>
            </a:xfrm>
            <a:custGeom>
              <a:avLst/>
              <a:gdLst/>
              <a:ahLst/>
              <a:cxnLst/>
              <a:rect l="l" t="t" r="r" b="b"/>
              <a:pathLst>
                <a:path w="1360434" h="1148179">
                  <a:moveTo>
                    <a:pt x="29976" y="0"/>
                  </a:moveTo>
                  <a:lnTo>
                    <a:pt x="1330458" y="0"/>
                  </a:lnTo>
                  <a:cubicBezTo>
                    <a:pt x="1347014" y="0"/>
                    <a:pt x="1360434" y="13421"/>
                    <a:pt x="1360434" y="29976"/>
                  </a:cubicBezTo>
                  <a:lnTo>
                    <a:pt x="1360434" y="1118203"/>
                  </a:lnTo>
                  <a:cubicBezTo>
                    <a:pt x="1360434" y="1134758"/>
                    <a:pt x="1347014" y="1148179"/>
                    <a:pt x="1330458" y="1148179"/>
                  </a:cubicBezTo>
                  <a:lnTo>
                    <a:pt x="29976" y="1148179"/>
                  </a:lnTo>
                  <a:cubicBezTo>
                    <a:pt x="13421" y="1148179"/>
                    <a:pt x="0" y="1134758"/>
                    <a:pt x="0" y="1118203"/>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0" name="TextBox 10"/>
            <p:cNvSpPr txBox="1"/>
            <p:nvPr/>
          </p:nvSpPr>
          <p:spPr>
            <a:xfrm>
              <a:off x="0" y="-57150"/>
              <a:ext cx="1360434" cy="1205329"/>
            </a:xfrm>
            <a:prstGeom prst="rect">
              <a:avLst/>
            </a:prstGeom>
          </p:spPr>
          <p:txBody>
            <a:bodyPr lIns="50800" tIns="50800" rIns="50800" bIns="50800" rtlCol="0" anchor="ctr"/>
            <a:lstStyle/>
            <a:p>
              <a:pPr algn="ctr">
                <a:lnSpc>
                  <a:spcPts val="3640"/>
                </a:lnSpc>
              </a:pPr>
              <a:endParaRPr/>
            </a:p>
          </p:txBody>
        </p:sp>
      </p:grpSp>
      <p:grpSp>
        <p:nvGrpSpPr>
          <p:cNvPr id="11" name="Group 11"/>
          <p:cNvGrpSpPr/>
          <p:nvPr/>
        </p:nvGrpSpPr>
        <p:grpSpPr>
          <a:xfrm>
            <a:off x="12093901" y="4903153"/>
            <a:ext cx="5165399" cy="4359492"/>
            <a:chOff x="0" y="0"/>
            <a:chExt cx="1360434" cy="1148179"/>
          </a:xfrm>
        </p:grpSpPr>
        <p:sp>
          <p:nvSpPr>
            <p:cNvPr id="12" name="Freeform 12"/>
            <p:cNvSpPr/>
            <p:nvPr/>
          </p:nvSpPr>
          <p:spPr>
            <a:xfrm>
              <a:off x="0" y="0"/>
              <a:ext cx="1360434" cy="1148179"/>
            </a:xfrm>
            <a:custGeom>
              <a:avLst/>
              <a:gdLst/>
              <a:ahLst/>
              <a:cxnLst/>
              <a:rect l="l" t="t" r="r" b="b"/>
              <a:pathLst>
                <a:path w="1360434" h="1148179">
                  <a:moveTo>
                    <a:pt x="29976" y="0"/>
                  </a:moveTo>
                  <a:lnTo>
                    <a:pt x="1330458" y="0"/>
                  </a:lnTo>
                  <a:cubicBezTo>
                    <a:pt x="1347014" y="0"/>
                    <a:pt x="1360434" y="13421"/>
                    <a:pt x="1360434" y="29976"/>
                  </a:cubicBezTo>
                  <a:lnTo>
                    <a:pt x="1360434" y="1118203"/>
                  </a:lnTo>
                  <a:cubicBezTo>
                    <a:pt x="1360434" y="1134758"/>
                    <a:pt x="1347014" y="1148179"/>
                    <a:pt x="1330458" y="1148179"/>
                  </a:cubicBezTo>
                  <a:lnTo>
                    <a:pt x="29976" y="1148179"/>
                  </a:lnTo>
                  <a:cubicBezTo>
                    <a:pt x="13421" y="1148179"/>
                    <a:pt x="0" y="1134758"/>
                    <a:pt x="0" y="1118203"/>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3" name="TextBox 13"/>
            <p:cNvSpPr txBox="1"/>
            <p:nvPr/>
          </p:nvSpPr>
          <p:spPr>
            <a:xfrm>
              <a:off x="0" y="-57150"/>
              <a:ext cx="1360434" cy="1205329"/>
            </a:xfrm>
            <a:prstGeom prst="rect">
              <a:avLst/>
            </a:prstGeom>
          </p:spPr>
          <p:txBody>
            <a:bodyPr lIns="50800" tIns="50800" rIns="50800" bIns="50800" rtlCol="0" anchor="ctr"/>
            <a:lstStyle/>
            <a:p>
              <a:pPr algn="ctr">
                <a:lnSpc>
                  <a:spcPts val="3640"/>
                </a:lnSpc>
              </a:pPr>
              <a:endParaRPr/>
            </a:p>
          </p:txBody>
        </p:sp>
      </p:grpSp>
      <p:sp>
        <p:nvSpPr>
          <p:cNvPr id="14" name="Freeform 14"/>
          <p:cNvSpPr/>
          <p:nvPr/>
        </p:nvSpPr>
        <p:spPr>
          <a:xfrm rot="2315851">
            <a:off x="14200441" y="80146"/>
            <a:ext cx="5048069" cy="2624996"/>
          </a:xfrm>
          <a:custGeom>
            <a:avLst/>
            <a:gdLst/>
            <a:ahLst/>
            <a:cxnLst/>
            <a:rect l="l" t="t" r="r" b="b"/>
            <a:pathLst>
              <a:path w="5048069" h="2624996">
                <a:moveTo>
                  <a:pt x="0" y="0"/>
                </a:moveTo>
                <a:lnTo>
                  <a:pt x="5048069" y="0"/>
                </a:lnTo>
                <a:lnTo>
                  <a:pt x="5048069" y="2624996"/>
                </a:lnTo>
                <a:lnTo>
                  <a:pt x="0" y="26249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6289345" y="638175"/>
            <a:ext cx="5709309" cy="1606549"/>
          </a:xfrm>
          <a:prstGeom prst="rect">
            <a:avLst/>
          </a:prstGeom>
        </p:spPr>
        <p:txBody>
          <a:bodyPr lIns="0" tIns="0" rIns="0" bIns="0" rtlCol="0" anchor="t">
            <a:spAutoFit/>
          </a:bodyPr>
          <a:lstStyle/>
          <a:p>
            <a:pPr algn="ctr">
              <a:lnSpc>
                <a:spcPts val="11200"/>
              </a:lnSpc>
            </a:pPr>
            <a:r>
              <a:rPr lang="en-US" sz="8000" b="1">
                <a:solidFill>
                  <a:srgbClr val="000000"/>
                </a:solidFill>
                <a:latin typeface="Agrandir Ultra-Bold"/>
                <a:ea typeface="Agrandir Ultra-Bold"/>
                <a:cs typeface="Agrandir Ultra-Bold"/>
                <a:sym typeface="Agrandir Ultra-Bold"/>
              </a:rPr>
              <a:t>activity </a:t>
            </a:r>
          </a:p>
        </p:txBody>
      </p:sp>
      <p:sp>
        <p:nvSpPr>
          <p:cNvPr id="16" name="TextBox 16"/>
          <p:cNvSpPr txBox="1"/>
          <p:nvPr/>
        </p:nvSpPr>
        <p:spPr>
          <a:xfrm>
            <a:off x="1563525" y="2521102"/>
            <a:ext cx="15160951" cy="14719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After reading and viewing the front and back cover of the novel (including the blurb) have a guided discussion with a partner based on the following questions. Record your thoughts and ideas and be ready to share these with the class.</a:t>
            </a:r>
          </a:p>
        </p:txBody>
      </p:sp>
      <p:sp>
        <p:nvSpPr>
          <p:cNvPr id="17" name="TextBox 17"/>
          <p:cNvSpPr txBox="1"/>
          <p:nvPr/>
        </p:nvSpPr>
        <p:spPr>
          <a:xfrm>
            <a:off x="1563525" y="6011203"/>
            <a:ext cx="4095750" cy="24917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What genre/s might the novel fit into based on clues from the book cover and blurb? Justify your answer with evidence.</a:t>
            </a:r>
          </a:p>
        </p:txBody>
      </p:sp>
      <p:sp>
        <p:nvSpPr>
          <p:cNvPr id="18" name="TextBox 18"/>
          <p:cNvSpPr txBox="1"/>
          <p:nvPr/>
        </p:nvSpPr>
        <p:spPr>
          <a:xfrm>
            <a:off x="7096125" y="5592103"/>
            <a:ext cx="4095750" cy="33299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What do you think might happen in the story? Make predictions about the plot, characters, </a:t>
            </a:r>
          </a:p>
          <a:p>
            <a:pPr algn="ctr">
              <a:lnSpc>
                <a:spcPts val="3360"/>
              </a:lnSpc>
            </a:pPr>
            <a:r>
              <a:rPr lang="en-US" sz="2400">
                <a:solidFill>
                  <a:srgbClr val="000000"/>
                </a:solidFill>
                <a:latin typeface="Garet"/>
                <a:ea typeface="Garet"/>
                <a:cs typeface="Garet"/>
                <a:sym typeface="Garet"/>
              </a:rPr>
              <a:t>and themes based on </a:t>
            </a:r>
          </a:p>
          <a:p>
            <a:pPr algn="ctr">
              <a:lnSpc>
                <a:spcPts val="3360"/>
              </a:lnSpc>
            </a:pPr>
            <a:r>
              <a:rPr lang="en-US" sz="2400">
                <a:solidFill>
                  <a:srgbClr val="000000"/>
                </a:solidFill>
                <a:latin typeface="Garet"/>
                <a:ea typeface="Garet"/>
                <a:cs typeface="Garet"/>
                <a:sym typeface="Garet"/>
              </a:rPr>
              <a:t>the information provided in the blurb and on </a:t>
            </a:r>
          </a:p>
          <a:p>
            <a:pPr algn="ctr">
              <a:lnSpc>
                <a:spcPts val="3360"/>
              </a:lnSpc>
            </a:pPr>
            <a:r>
              <a:rPr lang="en-US" sz="2400">
                <a:solidFill>
                  <a:srgbClr val="000000"/>
                </a:solidFill>
                <a:latin typeface="Garet"/>
                <a:ea typeface="Garet"/>
                <a:cs typeface="Garet"/>
                <a:sym typeface="Garet"/>
              </a:rPr>
              <a:t>the cover.</a:t>
            </a:r>
          </a:p>
        </p:txBody>
      </p:sp>
      <p:sp>
        <p:nvSpPr>
          <p:cNvPr id="19" name="TextBox 19"/>
          <p:cNvSpPr txBox="1"/>
          <p:nvPr/>
        </p:nvSpPr>
        <p:spPr>
          <a:xfrm>
            <a:off x="1325400" y="4596130"/>
            <a:ext cx="4572000" cy="490855"/>
          </a:xfrm>
          <a:prstGeom prst="rect">
            <a:avLst/>
          </a:prstGeom>
        </p:spPr>
        <p:txBody>
          <a:bodyPr lIns="0" tIns="0" rIns="0" bIns="0" rtlCol="0" anchor="t">
            <a:spAutoFit/>
          </a:bodyPr>
          <a:lstStyle/>
          <a:p>
            <a:pPr algn="ctr">
              <a:lnSpc>
                <a:spcPts val="3920"/>
              </a:lnSpc>
            </a:pPr>
            <a:r>
              <a:rPr lang="en-US" sz="2800" spc="28">
                <a:solidFill>
                  <a:srgbClr val="020302"/>
                </a:solidFill>
                <a:latin typeface="Garet"/>
                <a:ea typeface="Garet"/>
                <a:cs typeface="Garet"/>
                <a:sym typeface="Garet"/>
              </a:rPr>
              <a:t>identifying genre</a:t>
            </a:r>
          </a:p>
        </p:txBody>
      </p:sp>
      <p:sp>
        <p:nvSpPr>
          <p:cNvPr id="20" name="TextBox 20"/>
          <p:cNvSpPr txBox="1"/>
          <p:nvPr/>
        </p:nvSpPr>
        <p:spPr>
          <a:xfrm>
            <a:off x="6858000" y="4596130"/>
            <a:ext cx="4572000" cy="490855"/>
          </a:xfrm>
          <a:prstGeom prst="rect">
            <a:avLst/>
          </a:prstGeom>
        </p:spPr>
        <p:txBody>
          <a:bodyPr lIns="0" tIns="0" rIns="0" bIns="0" rtlCol="0" anchor="t">
            <a:spAutoFit/>
          </a:bodyPr>
          <a:lstStyle/>
          <a:p>
            <a:pPr algn="ctr">
              <a:lnSpc>
                <a:spcPts val="3920"/>
              </a:lnSpc>
            </a:pPr>
            <a:r>
              <a:rPr lang="en-US" sz="2800" spc="28">
                <a:solidFill>
                  <a:srgbClr val="020302"/>
                </a:solidFill>
                <a:latin typeface="Garet"/>
                <a:ea typeface="Garet"/>
                <a:cs typeface="Garet"/>
                <a:sym typeface="Garet"/>
              </a:rPr>
              <a:t>making predictions</a:t>
            </a:r>
          </a:p>
        </p:txBody>
      </p:sp>
      <p:sp>
        <p:nvSpPr>
          <p:cNvPr id="21" name="TextBox 21"/>
          <p:cNvSpPr txBox="1"/>
          <p:nvPr/>
        </p:nvSpPr>
        <p:spPr>
          <a:xfrm>
            <a:off x="12390600" y="4596130"/>
            <a:ext cx="4572000" cy="490855"/>
          </a:xfrm>
          <a:prstGeom prst="rect">
            <a:avLst/>
          </a:prstGeom>
        </p:spPr>
        <p:txBody>
          <a:bodyPr lIns="0" tIns="0" rIns="0" bIns="0" rtlCol="0" anchor="t">
            <a:spAutoFit/>
          </a:bodyPr>
          <a:lstStyle/>
          <a:p>
            <a:pPr algn="ctr">
              <a:lnSpc>
                <a:spcPts val="3920"/>
              </a:lnSpc>
            </a:pPr>
            <a:r>
              <a:rPr lang="en-US" sz="2800" spc="28">
                <a:solidFill>
                  <a:srgbClr val="020302"/>
                </a:solidFill>
                <a:latin typeface="Garet"/>
                <a:ea typeface="Garet"/>
                <a:cs typeface="Garet"/>
                <a:sym typeface="Garet"/>
              </a:rPr>
              <a:t>hinting at themes</a:t>
            </a:r>
          </a:p>
        </p:txBody>
      </p:sp>
      <p:sp>
        <p:nvSpPr>
          <p:cNvPr id="22" name="TextBox 22"/>
          <p:cNvSpPr txBox="1"/>
          <p:nvPr/>
        </p:nvSpPr>
        <p:spPr>
          <a:xfrm>
            <a:off x="12628725" y="5592103"/>
            <a:ext cx="4095750" cy="33299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What themes do you think the novel might explore? Support your answer with evidence. Consider how these themes might be developed throughout the novel.</a:t>
            </a:r>
          </a:p>
        </p:txBody>
      </p:sp>
      <p:sp>
        <p:nvSpPr>
          <p:cNvPr id="23" name="Freeform 23"/>
          <p:cNvSpPr/>
          <p:nvPr/>
        </p:nvSpPr>
        <p:spPr>
          <a:xfrm rot="2352854">
            <a:off x="-1395055" y="6471182"/>
            <a:ext cx="1919193" cy="2279819"/>
          </a:xfrm>
          <a:custGeom>
            <a:avLst/>
            <a:gdLst/>
            <a:ahLst/>
            <a:cxnLst/>
            <a:rect l="l" t="t" r="r" b="b"/>
            <a:pathLst>
              <a:path w="1919193" h="2279819">
                <a:moveTo>
                  <a:pt x="0" y="0"/>
                </a:moveTo>
                <a:lnTo>
                  <a:pt x="1919193" y="0"/>
                </a:lnTo>
                <a:lnTo>
                  <a:pt x="1919193" y="2279818"/>
                </a:lnTo>
                <a:lnTo>
                  <a:pt x="0" y="227981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4" name="Freeform 24"/>
          <p:cNvSpPr/>
          <p:nvPr/>
        </p:nvSpPr>
        <p:spPr>
          <a:xfrm flipH="1" flipV="1">
            <a:off x="12093901" y="-527897"/>
            <a:ext cx="1864671" cy="1920541"/>
          </a:xfrm>
          <a:custGeom>
            <a:avLst/>
            <a:gdLst/>
            <a:ahLst/>
            <a:cxnLst/>
            <a:rect l="l" t="t" r="r" b="b"/>
            <a:pathLst>
              <a:path w="1864671" h="1920541">
                <a:moveTo>
                  <a:pt x="1864671" y="1920541"/>
                </a:moveTo>
                <a:lnTo>
                  <a:pt x="0" y="1920541"/>
                </a:lnTo>
                <a:lnTo>
                  <a:pt x="0" y="0"/>
                </a:lnTo>
                <a:lnTo>
                  <a:pt x="1864671" y="0"/>
                </a:lnTo>
                <a:lnTo>
                  <a:pt x="1864671" y="1920541"/>
                </a:lnTo>
                <a:close/>
              </a:path>
            </a:pathLst>
          </a:custGeom>
          <a:blipFill>
            <a:blip>
              <a:extLst>
                <a:ext uri="{96DAC541-7B7A-43D3-8B79-37D633B846F1}">
                  <asvg:svgBlip xmlns:asvg="http://schemas.microsoft.com/office/drawing/2016/SVG/main" r:embed="rId6"/>
                </a:ext>
              </a:extLst>
            </a:blip>
            <a:stretch>
              <a:fillRect/>
            </a:stretch>
          </a:blipFill>
        </p:spPr>
      </p:sp>
      <p:sp>
        <p:nvSpPr>
          <p:cNvPr id="25" name="Freeform 25"/>
          <p:cNvSpPr/>
          <p:nvPr/>
        </p:nvSpPr>
        <p:spPr>
          <a:xfrm rot="2803384">
            <a:off x="17643690" y="3407396"/>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7"/>
                </a:ext>
              </a:extLst>
            </a:blip>
            <a:stretch>
              <a:fillRect r="-179368" b="-73951"/>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TextBox 3"/>
          <p:cNvSpPr txBox="1"/>
          <p:nvPr/>
        </p:nvSpPr>
        <p:spPr>
          <a:xfrm>
            <a:off x="2859010" y="2792929"/>
            <a:ext cx="12569980" cy="3743325"/>
          </a:xfrm>
          <a:prstGeom prst="rect">
            <a:avLst/>
          </a:prstGeom>
        </p:spPr>
        <p:txBody>
          <a:bodyPr lIns="0" tIns="0" rIns="0" bIns="0" rtlCol="0" anchor="t">
            <a:spAutoFit/>
          </a:bodyPr>
          <a:lstStyle/>
          <a:p>
            <a:pPr algn="ctr">
              <a:lnSpc>
                <a:spcPts val="13200"/>
              </a:lnSpc>
            </a:pPr>
            <a:r>
              <a:rPr lang="en-US" sz="12000" b="1">
                <a:solidFill>
                  <a:srgbClr val="000000"/>
                </a:solidFill>
                <a:latin typeface="Agrandir Ultra-Bold"/>
                <a:ea typeface="Agrandir Ultra-Bold"/>
                <a:cs typeface="Agrandir Ultra-Bold"/>
                <a:sym typeface="Agrandir Ultra-Bold"/>
              </a:rPr>
              <a:t>understanding context</a:t>
            </a:r>
          </a:p>
        </p:txBody>
      </p:sp>
      <p:grpSp>
        <p:nvGrpSpPr>
          <p:cNvPr id="4" name="Group 4"/>
          <p:cNvGrpSpPr/>
          <p:nvPr/>
        </p:nvGrpSpPr>
        <p:grpSpPr>
          <a:xfrm>
            <a:off x="4194216" y="6536254"/>
            <a:ext cx="9899567" cy="1128090"/>
            <a:chOff x="0" y="0"/>
            <a:chExt cx="3471127" cy="395547"/>
          </a:xfrm>
        </p:grpSpPr>
        <p:sp>
          <p:nvSpPr>
            <p:cNvPr id="5" name="Freeform 5"/>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6" name="TextBox 6"/>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4093784" y="-777854"/>
            <a:ext cx="3807905" cy="4114800"/>
          </a:xfrm>
          <a:custGeom>
            <a:avLst/>
            <a:gdLst/>
            <a:ahLst/>
            <a:cxnLst/>
            <a:rect l="l" t="t" r="r" b="b"/>
            <a:pathLst>
              <a:path w="3807905" h="4114800">
                <a:moveTo>
                  <a:pt x="0" y="0"/>
                </a:moveTo>
                <a:lnTo>
                  <a:pt x="3807904" y="0"/>
                </a:lnTo>
                <a:lnTo>
                  <a:pt x="3807904"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rot="2700000">
            <a:off x="2108059" y="-706258"/>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1692971">
            <a:off x="14121035" y="6782266"/>
            <a:ext cx="3389079" cy="3452948"/>
          </a:xfrm>
          <a:custGeom>
            <a:avLst/>
            <a:gdLst/>
            <a:ahLst/>
            <a:cxnLst/>
            <a:rect l="l" t="t" r="r" b="b"/>
            <a:pathLst>
              <a:path w="3389079" h="3452948">
                <a:moveTo>
                  <a:pt x="0" y="0"/>
                </a:moveTo>
                <a:lnTo>
                  <a:pt x="3389079" y="0"/>
                </a:lnTo>
                <a:lnTo>
                  <a:pt x="3389079" y="3452949"/>
                </a:lnTo>
                <a:lnTo>
                  <a:pt x="0" y="34529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5398190" y="8633634"/>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rot="-3446564">
            <a:off x="15986961" y="3903971"/>
            <a:ext cx="2544678" cy="2188423"/>
          </a:xfrm>
          <a:custGeom>
            <a:avLst/>
            <a:gdLst/>
            <a:ahLst/>
            <a:cxnLst/>
            <a:rect l="l" t="t" r="r" b="b"/>
            <a:pathLst>
              <a:path w="2544678" h="2188423">
                <a:moveTo>
                  <a:pt x="0" y="0"/>
                </a:moveTo>
                <a:lnTo>
                  <a:pt x="2544678" y="0"/>
                </a:lnTo>
                <a:lnTo>
                  <a:pt x="2544678" y="2188423"/>
                </a:lnTo>
                <a:lnTo>
                  <a:pt x="0" y="218842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8459990" y="-1162446"/>
            <a:ext cx="4401458" cy="3289089"/>
          </a:xfrm>
          <a:custGeom>
            <a:avLst/>
            <a:gdLst/>
            <a:ahLst/>
            <a:cxnLst/>
            <a:rect l="l" t="t" r="r" b="b"/>
            <a:pathLst>
              <a:path w="4401458" h="3289089">
                <a:moveTo>
                  <a:pt x="0" y="0"/>
                </a:moveTo>
                <a:lnTo>
                  <a:pt x="4401458" y="0"/>
                </a:lnTo>
                <a:lnTo>
                  <a:pt x="4401458" y="3289089"/>
                </a:lnTo>
                <a:lnTo>
                  <a:pt x="0" y="328908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3" name="Freeform 13"/>
          <p:cNvSpPr/>
          <p:nvPr/>
        </p:nvSpPr>
        <p:spPr>
          <a:xfrm>
            <a:off x="-511987" y="3649127"/>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4" name="Freeform 14"/>
          <p:cNvSpPr/>
          <p:nvPr/>
        </p:nvSpPr>
        <p:spPr>
          <a:xfrm flipH="1" flipV="1">
            <a:off x="5067266" y="482099"/>
            <a:ext cx="1864671" cy="1920541"/>
          </a:xfrm>
          <a:custGeom>
            <a:avLst/>
            <a:gdLst/>
            <a:ahLst/>
            <a:cxnLst/>
            <a:rect l="l" t="t" r="r" b="b"/>
            <a:pathLst>
              <a:path w="1864671" h="1920541">
                <a:moveTo>
                  <a:pt x="1864671" y="1920541"/>
                </a:moveTo>
                <a:lnTo>
                  <a:pt x="0" y="1920541"/>
                </a:lnTo>
                <a:lnTo>
                  <a:pt x="0" y="0"/>
                </a:lnTo>
                <a:lnTo>
                  <a:pt x="1864671" y="0"/>
                </a:lnTo>
                <a:lnTo>
                  <a:pt x="1864671" y="1920541"/>
                </a:lnTo>
                <a:close/>
              </a:path>
            </a:pathLst>
          </a:custGeom>
          <a:blipFill>
            <a:blip>
              <a:extLst>
                <a:ext uri="{96DAC541-7B7A-43D3-8B79-37D633B846F1}">
                  <asvg:svgBlip xmlns:asvg="http://schemas.microsoft.com/office/drawing/2016/SVG/main" r:embed="rId10"/>
                </a:ext>
              </a:extLst>
            </a:blip>
            <a:stretch>
              <a:fillRect/>
            </a:stretch>
          </a:blipFill>
        </p:spPr>
      </p:sp>
      <p:sp>
        <p:nvSpPr>
          <p:cNvPr id="15" name="Freeform 15"/>
          <p:cNvSpPr/>
          <p:nvPr/>
        </p:nvSpPr>
        <p:spPr>
          <a:xfrm rot="-3363898">
            <a:off x="2558817" y="5687694"/>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1"/>
                </a:ext>
              </a:extLst>
            </a:blip>
            <a:stretch>
              <a:fillRect l="-103785" b="-128377"/>
            </a:stretch>
          </a:blipFill>
        </p:spPr>
      </p:sp>
      <p:sp>
        <p:nvSpPr>
          <p:cNvPr id="16" name="Freeform 16"/>
          <p:cNvSpPr/>
          <p:nvPr/>
        </p:nvSpPr>
        <p:spPr>
          <a:xfrm rot="2803384">
            <a:off x="-127597" y="-255777"/>
            <a:ext cx="971906" cy="1475753"/>
          </a:xfrm>
          <a:custGeom>
            <a:avLst/>
            <a:gdLst/>
            <a:ahLst/>
            <a:cxnLst/>
            <a:rect l="l" t="t" r="r" b="b"/>
            <a:pathLst>
              <a:path w="971906" h="1475753">
                <a:moveTo>
                  <a:pt x="0" y="0"/>
                </a:moveTo>
                <a:lnTo>
                  <a:pt x="971906" y="0"/>
                </a:lnTo>
                <a:lnTo>
                  <a:pt x="971906" y="1475752"/>
                </a:lnTo>
                <a:lnTo>
                  <a:pt x="0" y="1475752"/>
                </a:lnTo>
                <a:lnTo>
                  <a:pt x="0" y="0"/>
                </a:lnTo>
                <a:close/>
              </a:path>
            </a:pathLst>
          </a:custGeom>
          <a:blipFill>
            <a:blip>
              <a:extLst>
                <a:ext uri="{96DAC541-7B7A-43D3-8B79-37D633B846F1}">
                  <asvg:svgBlip xmlns:asvg="http://schemas.microsoft.com/office/drawing/2016/SVG/main" r:embed="rId12"/>
                </a:ext>
              </a:extLst>
            </a:blip>
            <a:stretch>
              <a:fillRect r="-179368" b="-73951"/>
            </a:stretch>
          </a:blipFill>
        </p:spPr>
      </p:sp>
      <p:sp>
        <p:nvSpPr>
          <p:cNvPr id="17" name="Freeform 17"/>
          <p:cNvSpPr/>
          <p:nvPr/>
        </p:nvSpPr>
        <p:spPr>
          <a:xfrm flipV="1">
            <a:off x="10660719" y="8569220"/>
            <a:ext cx="1864671" cy="1920541"/>
          </a:xfrm>
          <a:custGeom>
            <a:avLst/>
            <a:gdLst/>
            <a:ahLst/>
            <a:cxnLst/>
            <a:rect l="l" t="t" r="r" b="b"/>
            <a:pathLst>
              <a:path w="1864671" h="1920541">
                <a:moveTo>
                  <a:pt x="0" y="1920541"/>
                </a:moveTo>
                <a:lnTo>
                  <a:pt x="1864671" y="1920541"/>
                </a:lnTo>
                <a:lnTo>
                  <a:pt x="1864671" y="0"/>
                </a:lnTo>
                <a:lnTo>
                  <a:pt x="0" y="0"/>
                </a:lnTo>
                <a:lnTo>
                  <a:pt x="0" y="1920541"/>
                </a:lnTo>
                <a:close/>
              </a:path>
            </a:pathLst>
          </a:custGeom>
          <a:blipFill>
            <a:blip>
              <a:extLst>
                <a:ext uri="{96DAC541-7B7A-43D3-8B79-37D633B846F1}">
                  <asvg:svgBlip xmlns:asvg="http://schemas.microsoft.com/office/drawing/2016/SVG/main" r:embed="rId13"/>
                </a:ext>
              </a:extLst>
            </a:blip>
            <a:stretch>
              <a:fillRect/>
            </a:stretch>
          </a:blipFill>
        </p:spPr>
      </p:sp>
      <p:sp>
        <p:nvSpPr>
          <p:cNvPr id="18" name="Freeform 18"/>
          <p:cNvSpPr/>
          <p:nvPr/>
        </p:nvSpPr>
        <p:spPr>
          <a:xfrm rot="-1661566">
            <a:off x="1031824" y="6924001"/>
            <a:ext cx="1845104" cy="2866180"/>
          </a:xfrm>
          <a:custGeom>
            <a:avLst/>
            <a:gdLst/>
            <a:ahLst/>
            <a:cxnLst/>
            <a:rect l="l" t="t" r="r" b="b"/>
            <a:pathLst>
              <a:path w="1845104" h="2866180">
                <a:moveTo>
                  <a:pt x="0" y="0"/>
                </a:moveTo>
                <a:lnTo>
                  <a:pt x="1845104" y="0"/>
                </a:lnTo>
                <a:lnTo>
                  <a:pt x="1845104" y="2866180"/>
                </a:lnTo>
                <a:lnTo>
                  <a:pt x="0" y="2866180"/>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19" name="TextBox 19"/>
          <p:cNvSpPr txBox="1"/>
          <p:nvPr/>
        </p:nvSpPr>
        <p:spPr>
          <a:xfrm>
            <a:off x="5999602" y="6738984"/>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let’s research!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1806790">
            <a:off x="-818592" y="4385996"/>
            <a:ext cx="4450252" cy="1569725"/>
          </a:xfrm>
          <a:custGeom>
            <a:avLst/>
            <a:gdLst/>
            <a:ahLst/>
            <a:cxnLst/>
            <a:rect l="l" t="t" r="r" b="b"/>
            <a:pathLst>
              <a:path w="4450252" h="1569725">
                <a:moveTo>
                  <a:pt x="0" y="0"/>
                </a:moveTo>
                <a:lnTo>
                  <a:pt x="4450252" y="0"/>
                </a:lnTo>
                <a:lnTo>
                  <a:pt x="4450252" y="1569726"/>
                </a:lnTo>
                <a:lnTo>
                  <a:pt x="0" y="156972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2121097">
            <a:off x="530156" y="6427099"/>
            <a:ext cx="2852890" cy="3713089"/>
          </a:xfrm>
          <a:custGeom>
            <a:avLst/>
            <a:gdLst/>
            <a:ahLst/>
            <a:cxnLst/>
            <a:rect l="l" t="t" r="r" b="b"/>
            <a:pathLst>
              <a:path w="2852890" h="3713089">
                <a:moveTo>
                  <a:pt x="0" y="0"/>
                </a:moveTo>
                <a:lnTo>
                  <a:pt x="2852890" y="0"/>
                </a:lnTo>
                <a:lnTo>
                  <a:pt x="2852890" y="3713088"/>
                </a:lnTo>
                <a:lnTo>
                  <a:pt x="0" y="37130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4068021" y="8559868"/>
            <a:ext cx="2177275" cy="2558763"/>
          </a:xfrm>
          <a:custGeom>
            <a:avLst/>
            <a:gdLst/>
            <a:ahLst/>
            <a:cxnLst/>
            <a:rect l="l" t="t" r="r" b="b"/>
            <a:pathLst>
              <a:path w="2177275" h="2558763">
                <a:moveTo>
                  <a:pt x="0" y="0"/>
                </a:moveTo>
                <a:lnTo>
                  <a:pt x="2177275" y="0"/>
                </a:lnTo>
                <a:lnTo>
                  <a:pt x="2177275" y="2558764"/>
                </a:lnTo>
                <a:lnTo>
                  <a:pt x="0" y="255876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3144711" y="3375557"/>
            <a:ext cx="11998578" cy="5643277"/>
            <a:chOff x="0" y="0"/>
            <a:chExt cx="3160119" cy="1486295"/>
          </a:xfrm>
        </p:grpSpPr>
        <p:sp>
          <p:nvSpPr>
            <p:cNvPr id="7" name="Freeform 7"/>
            <p:cNvSpPr/>
            <p:nvPr/>
          </p:nvSpPr>
          <p:spPr>
            <a:xfrm>
              <a:off x="0" y="0"/>
              <a:ext cx="3160119" cy="1486295"/>
            </a:xfrm>
            <a:custGeom>
              <a:avLst/>
              <a:gdLst/>
              <a:ahLst/>
              <a:cxnLst/>
              <a:rect l="l" t="t" r="r" b="b"/>
              <a:pathLst>
                <a:path w="3160119" h="1486295">
                  <a:moveTo>
                    <a:pt x="12905" y="0"/>
                  </a:moveTo>
                  <a:lnTo>
                    <a:pt x="3147215" y="0"/>
                  </a:lnTo>
                  <a:cubicBezTo>
                    <a:pt x="3150637" y="0"/>
                    <a:pt x="3153920" y="1360"/>
                    <a:pt x="3156340" y="3780"/>
                  </a:cubicBezTo>
                  <a:cubicBezTo>
                    <a:pt x="3158760" y="6200"/>
                    <a:pt x="3160119" y="9482"/>
                    <a:pt x="3160119" y="12905"/>
                  </a:cubicBezTo>
                  <a:lnTo>
                    <a:pt x="3160119" y="1473390"/>
                  </a:lnTo>
                  <a:cubicBezTo>
                    <a:pt x="3160119" y="1480518"/>
                    <a:pt x="3154342" y="1486295"/>
                    <a:pt x="3147215" y="1486295"/>
                  </a:cubicBezTo>
                  <a:lnTo>
                    <a:pt x="12905" y="1486295"/>
                  </a:lnTo>
                  <a:cubicBezTo>
                    <a:pt x="5778" y="1486295"/>
                    <a:pt x="0" y="1480518"/>
                    <a:pt x="0" y="1473390"/>
                  </a:cubicBezTo>
                  <a:lnTo>
                    <a:pt x="0" y="12905"/>
                  </a:lnTo>
                  <a:cubicBezTo>
                    <a:pt x="0" y="5778"/>
                    <a:pt x="5778" y="0"/>
                    <a:pt x="12905" y="0"/>
                  </a:cubicBezTo>
                  <a:close/>
                </a:path>
              </a:pathLst>
            </a:custGeom>
            <a:solidFill>
              <a:srgbClr val="FFFFFF"/>
            </a:solidFill>
            <a:ln w="47625" cap="sq">
              <a:solidFill>
                <a:srgbClr val="000000"/>
              </a:solidFill>
              <a:prstDash val="solid"/>
              <a:miter/>
            </a:ln>
          </p:spPr>
        </p:sp>
        <p:sp>
          <p:nvSpPr>
            <p:cNvPr id="8" name="TextBox 8"/>
            <p:cNvSpPr txBox="1"/>
            <p:nvPr/>
          </p:nvSpPr>
          <p:spPr>
            <a:xfrm>
              <a:off x="0" y="-57150"/>
              <a:ext cx="3160119" cy="1543445"/>
            </a:xfrm>
            <a:prstGeom prst="rect">
              <a:avLst/>
            </a:prstGeom>
          </p:spPr>
          <p:txBody>
            <a:bodyPr lIns="50800" tIns="50800" rIns="50800" bIns="50800" rtlCol="0" anchor="ctr"/>
            <a:lstStyle/>
            <a:p>
              <a:pPr algn="ctr">
                <a:lnSpc>
                  <a:spcPts val="3640"/>
                </a:lnSpc>
              </a:pPr>
              <a:endParaRPr/>
            </a:p>
          </p:txBody>
        </p:sp>
      </p:grpSp>
      <p:grpSp>
        <p:nvGrpSpPr>
          <p:cNvPr id="9" name="Group 9"/>
          <p:cNvGrpSpPr/>
          <p:nvPr/>
        </p:nvGrpSpPr>
        <p:grpSpPr>
          <a:xfrm>
            <a:off x="4194216" y="2811512"/>
            <a:ext cx="9899567" cy="1128090"/>
            <a:chOff x="0" y="0"/>
            <a:chExt cx="13199423" cy="1504121"/>
          </a:xfrm>
        </p:grpSpPr>
        <p:grpSp>
          <p:nvGrpSpPr>
            <p:cNvPr id="10" name="Group 10"/>
            <p:cNvGrpSpPr/>
            <p:nvPr/>
          </p:nvGrpSpPr>
          <p:grpSpPr>
            <a:xfrm>
              <a:off x="0" y="0"/>
              <a:ext cx="13199423" cy="1504121"/>
              <a:chOff x="0" y="0"/>
              <a:chExt cx="3471127" cy="395547"/>
            </a:xfrm>
          </p:grpSpPr>
          <p:sp>
            <p:nvSpPr>
              <p:cNvPr id="11" name="Freeform 11"/>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2" name="TextBox 12"/>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407181" y="295707"/>
              <a:ext cx="8385062"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discussion</a:t>
              </a:r>
            </a:p>
          </p:txBody>
        </p:sp>
      </p:grpSp>
      <p:sp>
        <p:nvSpPr>
          <p:cNvPr id="14" name="Freeform 14"/>
          <p:cNvSpPr/>
          <p:nvPr/>
        </p:nvSpPr>
        <p:spPr>
          <a:xfrm rot="-1735408">
            <a:off x="15007452" y="501287"/>
            <a:ext cx="2877702" cy="2852523"/>
          </a:xfrm>
          <a:custGeom>
            <a:avLst/>
            <a:gdLst/>
            <a:ahLst/>
            <a:cxnLst/>
            <a:rect l="l" t="t" r="r" b="b"/>
            <a:pathLst>
              <a:path w="2877702" h="2852523">
                <a:moveTo>
                  <a:pt x="0" y="0"/>
                </a:moveTo>
                <a:lnTo>
                  <a:pt x="2877703" y="0"/>
                </a:lnTo>
                <a:lnTo>
                  <a:pt x="2877703" y="2852522"/>
                </a:lnTo>
                <a:lnTo>
                  <a:pt x="0" y="285252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a:off x="16695591" y="3814602"/>
            <a:ext cx="2520052" cy="2382594"/>
          </a:xfrm>
          <a:custGeom>
            <a:avLst/>
            <a:gdLst/>
            <a:ahLst/>
            <a:cxnLst/>
            <a:rect l="l" t="t" r="r" b="b"/>
            <a:pathLst>
              <a:path w="2520052" h="2382594">
                <a:moveTo>
                  <a:pt x="0" y="0"/>
                </a:moveTo>
                <a:lnTo>
                  <a:pt x="2520052" y="0"/>
                </a:lnTo>
                <a:lnTo>
                  <a:pt x="2520052" y="2382594"/>
                </a:lnTo>
                <a:lnTo>
                  <a:pt x="0" y="238259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6" name="TextBox 16"/>
          <p:cNvSpPr txBox="1"/>
          <p:nvPr/>
        </p:nvSpPr>
        <p:spPr>
          <a:xfrm>
            <a:off x="4068021" y="1157610"/>
            <a:ext cx="10151957"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activity</a:t>
            </a:r>
          </a:p>
        </p:txBody>
      </p:sp>
      <p:sp>
        <p:nvSpPr>
          <p:cNvPr id="17" name="Freeform 17"/>
          <p:cNvSpPr/>
          <p:nvPr/>
        </p:nvSpPr>
        <p:spPr>
          <a:xfrm flipH="1" flipV="1">
            <a:off x="12632456" y="-281491"/>
            <a:ext cx="1864671" cy="1920541"/>
          </a:xfrm>
          <a:custGeom>
            <a:avLst/>
            <a:gdLst/>
            <a:ahLst/>
            <a:cxnLst/>
            <a:rect l="l" t="t" r="r" b="b"/>
            <a:pathLst>
              <a:path w="1864671" h="1920541">
                <a:moveTo>
                  <a:pt x="1864671" y="1920542"/>
                </a:moveTo>
                <a:lnTo>
                  <a:pt x="0" y="1920542"/>
                </a:lnTo>
                <a:lnTo>
                  <a:pt x="0" y="0"/>
                </a:lnTo>
                <a:lnTo>
                  <a:pt x="1864671" y="0"/>
                </a:lnTo>
                <a:lnTo>
                  <a:pt x="1864671" y="1920542"/>
                </a:lnTo>
                <a:close/>
              </a:path>
            </a:pathLst>
          </a:custGeom>
          <a:blipFill>
            <a:blip>
              <a:extLst>
                <a:ext uri="{96DAC541-7B7A-43D3-8B79-37D633B846F1}">
                  <asvg:svgBlip xmlns:asvg="http://schemas.microsoft.com/office/drawing/2016/SVG/main" r:embed="rId8"/>
                </a:ext>
              </a:extLst>
            </a:blip>
            <a:stretch>
              <a:fillRect/>
            </a:stretch>
          </a:blipFill>
        </p:spPr>
      </p:sp>
      <p:sp>
        <p:nvSpPr>
          <p:cNvPr id="18" name="Freeform 18"/>
          <p:cNvSpPr/>
          <p:nvPr/>
        </p:nvSpPr>
        <p:spPr>
          <a:xfrm rot="-3363898">
            <a:off x="15519739" y="6062603"/>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
        <p:nvSpPr>
          <p:cNvPr id="19" name="Freeform 19"/>
          <p:cNvSpPr/>
          <p:nvPr/>
        </p:nvSpPr>
        <p:spPr>
          <a:xfrm rot="-3363898">
            <a:off x="230681" y="2926457"/>
            <a:ext cx="1030958" cy="898201"/>
          </a:xfrm>
          <a:custGeom>
            <a:avLst/>
            <a:gdLst/>
            <a:ahLst/>
            <a:cxnLst/>
            <a:rect l="l" t="t" r="r" b="b"/>
            <a:pathLst>
              <a:path w="1030958" h="898201">
                <a:moveTo>
                  <a:pt x="0" y="0"/>
                </a:moveTo>
                <a:lnTo>
                  <a:pt x="1030959" y="0"/>
                </a:lnTo>
                <a:lnTo>
                  <a:pt x="1030959"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
        <p:nvSpPr>
          <p:cNvPr id="20" name="TextBox 20"/>
          <p:cNvSpPr txBox="1"/>
          <p:nvPr/>
        </p:nvSpPr>
        <p:spPr>
          <a:xfrm>
            <a:off x="4068021" y="6740593"/>
            <a:ext cx="10151957" cy="1543050"/>
          </a:xfrm>
          <a:prstGeom prst="rect">
            <a:avLst/>
          </a:prstGeom>
        </p:spPr>
        <p:txBody>
          <a:bodyPr lIns="0" tIns="0" rIns="0" bIns="0" rtlCol="0" anchor="t">
            <a:spAutoFit/>
          </a:bodyPr>
          <a:lstStyle/>
          <a:p>
            <a:pPr algn="ctr">
              <a:lnSpc>
                <a:spcPts val="4199"/>
              </a:lnSpc>
            </a:pPr>
            <a:r>
              <a:rPr lang="en-US" sz="2999" b="1">
                <a:solidFill>
                  <a:srgbClr val="000000"/>
                </a:solidFill>
                <a:latin typeface="Garet Bold"/>
                <a:ea typeface="Garet Bold"/>
                <a:cs typeface="Garet Bold"/>
                <a:sym typeface="Garet Bold"/>
              </a:rPr>
              <a:t>'every text is a product of its time' </a:t>
            </a:r>
          </a:p>
          <a:p>
            <a:pPr algn="ctr">
              <a:lnSpc>
                <a:spcPts val="4199"/>
              </a:lnSpc>
            </a:pPr>
            <a:endParaRPr lang="en-US" sz="2999" b="1">
              <a:solidFill>
                <a:srgbClr val="000000"/>
              </a:solidFill>
              <a:latin typeface="Garet Bold"/>
              <a:ea typeface="Garet Bold"/>
              <a:cs typeface="Garet Bold"/>
              <a:sym typeface="Garet Bold"/>
            </a:endParaRPr>
          </a:p>
          <a:p>
            <a:pPr algn="ctr">
              <a:lnSpc>
                <a:spcPts val="4199"/>
              </a:lnSpc>
            </a:pPr>
            <a:r>
              <a:rPr lang="en-US" sz="2999" b="1">
                <a:solidFill>
                  <a:srgbClr val="000000"/>
                </a:solidFill>
                <a:latin typeface="Garet Bold"/>
                <a:ea typeface="Garet Bold"/>
                <a:cs typeface="Garet Bold"/>
                <a:sym typeface="Garet Bold"/>
              </a:rPr>
              <a:t> 'texts are cultural artefacts'</a:t>
            </a:r>
          </a:p>
        </p:txBody>
      </p:sp>
      <p:sp>
        <p:nvSpPr>
          <p:cNvPr id="21" name="TextBox 21"/>
          <p:cNvSpPr txBox="1"/>
          <p:nvPr/>
        </p:nvSpPr>
        <p:spPr>
          <a:xfrm>
            <a:off x="4131119" y="4744788"/>
            <a:ext cx="10025762" cy="14719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Discuss the following two phrases with a partner. What do you think they mean?  Be prepared to share your thoughts with the class.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1450877" y="6805253"/>
            <a:ext cx="2901753" cy="3011253"/>
          </a:xfrm>
          <a:custGeom>
            <a:avLst/>
            <a:gdLst/>
            <a:ahLst/>
            <a:cxnLst/>
            <a:rect l="l" t="t" r="r" b="b"/>
            <a:pathLst>
              <a:path w="2901753" h="3011253">
                <a:moveTo>
                  <a:pt x="0" y="0"/>
                </a:moveTo>
                <a:lnTo>
                  <a:pt x="2901754" y="0"/>
                </a:lnTo>
                <a:lnTo>
                  <a:pt x="2901754" y="3011254"/>
                </a:lnTo>
                <a:lnTo>
                  <a:pt x="0" y="30112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720630">
            <a:off x="17203212" y="3714340"/>
            <a:ext cx="1739455" cy="2039873"/>
          </a:xfrm>
          <a:custGeom>
            <a:avLst/>
            <a:gdLst/>
            <a:ahLst/>
            <a:cxnLst/>
            <a:rect l="l" t="t" r="r" b="b"/>
            <a:pathLst>
              <a:path w="1739455" h="2039873">
                <a:moveTo>
                  <a:pt x="0" y="0"/>
                </a:moveTo>
                <a:lnTo>
                  <a:pt x="1739455" y="0"/>
                </a:lnTo>
                <a:lnTo>
                  <a:pt x="1739455" y="2039872"/>
                </a:lnTo>
                <a:lnTo>
                  <a:pt x="0" y="203987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728788">
            <a:off x="15710472" y="-110296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7504308" y="1028700"/>
            <a:ext cx="9754992" cy="8229600"/>
            <a:chOff x="0" y="0"/>
            <a:chExt cx="2569216" cy="2167467"/>
          </a:xfrm>
        </p:grpSpPr>
        <p:sp>
          <p:nvSpPr>
            <p:cNvPr id="7" name="Freeform 7"/>
            <p:cNvSpPr/>
            <p:nvPr/>
          </p:nvSpPr>
          <p:spPr>
            <a:xfrm>
              <a:off x="0" y="0"/>
              <a:ext cx="2569216" cy="2167467"/>
            </a:xfrm>
            <a:custGeom>
              <a:avLst/>
              <a:gdLst/>
              <a:ahLst/>
              <a:cxnLst/>
              <a:rect l="l" t="t" r="r" b="b"/>
              <a:pathLst>
                <a:path w="2569216" h="2167467">
                  <a:moveTo>
                    <a:pt x="15873" y="0"/>
                  </a:moveTo>
                  <a:lnTo>
                    <a:pt x="2553343" y="0"/>
                  </a:lnTo>
                  <a:cubicBezTo>
                    <a:pt x="2562110" y="0"/>
                    <a:pt x="2569216" y="7106"/>
                    <a:pt x="2569216" y="15873"/>
                  </a:cubicBezTo>
                  <a:lnTo>
                    <a:pt x="2569216" y="2151594"/>
                  </a:lnTo>
                  <a:cubicBezTo>
                    <a:pt x="2569216" y="2160360"/>
                    <a:pt x="2562110" y="2167467"/>
                    <a:pt x="2553343" y="2167467"/>
                  </a:cubicBezTo>
                  <a:lnTo>
                    <a:pt x="15873" y="2167467"/>
                  </a:lnTo>
                  <a:cubicBezTo>
                    <a:pt x="11663" y="2167467"/>
                    <a:pt x="7626" y="2165794"/>
                    <a:pt x="4649" y="2162818"/>
                  </a:cubicBezTo>
                  <a:cubicBezTo>
                    <a:pt x="1672" y="2159841"/>
                    <a:pt x="0" y="2155804"/>
                    <a:pt x="0" y="2151594"/>
                  </a:cubicBezTo>
                  <a:lnTo>
                    <a:pt x="0" y="15873"/>
                  </a:lnTo>
                  <a:cubicBezTo>
                    <a:pt x="0" y="7106"/>
                    <a:pt x="7106" y="0"/>
                    <a:pt x="15873" y="0"/>
                  </a:cubicBezTo>
                  <a:close/>
                </a:path>
              </a:pathLst>
            </a:custGeom>
            <a:solidFill>
              <a:srgbClr val="FFFFFF"/>
            </a:solidFill>
            <a:ln w="47625" cap="sq">
              <a:solidFill>
                <a:srgbClr val="000000"/>
              </a:solidFill>
              <a:prstDash val="solid"/>
              <a:miter/>
            </a:ln>
          </p:spPr>
        </p:sp>
        <p:sp>
          <p:nvSpPr>
            <p:cNvPr id="8" name="TextBox 8"/>
            <p:cNvSpPr txBox="1"/>
            <p:nvPr/>
          </p:nvSpPr>
          <p:spPr>
            <a:xfrm>
              <a:off x="0" y="-57150"/>
              <a:ext cx="2569216" cy="2224617"/>
            </a:xfrm>
            <a:prstGeom prst="rect">
              <a:avLst/>
            </a:prstGeom>
          </p:spPr>
          <p:txBody>
            <a:bodyPr lIns="50800" tIns="50800" rIns="50800" bIns="50800" rtlCol="0" anchor="ctr"/>
            <a:lstStyle/>
            <a:p>
              <a:pPr algn="ctr">
                <a:lnSpc>
                  <a:spcPts val="3640"/>
                </a:lnSpc>
              </a:pPr>
              <a:endParaRPr/>
            </a:p>
          </p:txBody>
        </p:sp>
      </p:grpSp>
      <p:sp>
        <p:nvSpPr>
          <p:cNvPr id="9" name="Freeform 9"/>
          <p:cNvSpPr/>
          <p:nvPr/>
        </p:nvSpPr>
        <p:spPr>
          <a:xfrm>
            <a:off x="1690041" y="5331128"/>
            <a:ext cx="3376751" cy="3330321"/>
          </a:xfrm>
          <a:custGeom>
            <a:avLst/>
            <a:gdLst/>
            <a:ahLst/>
            <a:cxnLst/>
            <a:rect l="l" t="t" r="r" b="b"/>
            <a:pathLst>
              <a:path w="3376751" h="3330321">
                <a:moveTo>
                  <a:pt x="0" y="0"/>
                </a:moveTo>
                <a:lnTo>
                  <a:pt x="3376752" y="0"/>
                </a:lnTo>
                <a:lnTo>
                  <a:pt x="3376752" y="3330321"/>
                </a:lnTo>
                <a:lnTo>
                  <a:pt x="0" y="333032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8324154" y="1654810"/>
            <a:ext cx="8115300" cy="69202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The word ‘context’ refers to the background, circumstances, conditions, and environment that surround and influence a particular literary work.</a:t>
            </a:r>
          </a:p>
          <a:p>
            <a:pPr algn="l">
              <a:lnSpc>
                <a:spcPts val="3919"/>
              </a:lnSpc>
            </a:pPr>
            <a:endParaRPr lang="en-US" sz="2799">
              <a:solidFill>
                <a:srgbClr val="000000"/>
              </a:solidFill>
              <a:latin typeface="Garet"/>
              <a:ea typeface="Garet"/>
              <a:cs typeface="Garet"/>
              <a:sym typeface="Garet"/>
            </a:endParaRPr>
          </a:p>
          <a:p>
            <a:pPr algn="l">
              <a:lnSpc>
                <a:spcPts val="3919"/>
              </a:lnSpc>
            </a:pPr>
            <a:r>
              <a:rPr lang="en-US" sz="2799">
                <a:solidFill>
                  <a:srgbClr val="000000"/>
                </a:solidFill>
                <a:latin typeface="Garet"/>
                <a:ea typeface="Garet"/>
                <a:cs typeface="Garet"/>
                <a:sym typeface="Garet"/>
              </a:rPr>
              <a:t>Understanding the context of a literary work is essential for gaining insight into its meaning, themes, characters, and significance of a work on a deeper level. </a:t>
            </a:r>
          </a:p>
          <a:p>
            <a:pPr algn="l">
              <a:lnSpc>
                <a:spcPts val="3919"/>
              </a:lnSpc>
            </a:pPr>
            <a:endParaRPr lang="en-US" sz="2799">
              <a:solidFill>
                <a:srgbClr val="000000"/>
              </a:solidFill>
              <a:latin typeface="Garet"/>
              <a:ea typeface="Garet"/>
              <a:cs typeface="Garet"/>
              <a:sym typeface="Garet"/>
            </a:endParaRPr>
          </a:p>
          <a:p>
            <a:pPr algn="l">
              <a:lnSpc>
                <a:spcPts val="3919"/>
              </a:lnSpc>
            </a:pPr>
            <a:r>
              <a:rPr lang="en-US" sz="2799">
                <a:solidFill>
                  <a:srgbClr val="000000"/>
                </a:solidFill>
                <a:latin typeface="Garet"/>
                <a:ea typeface="Garet"/>
                <a:cs typeface="Garet"/>
                <a:sym typeface="Garet"/>
              </a:rPr>
              <a:t>It allows readers to appreciate the text within a broader framework, considering the historical, social, cultural, political, and biographical factors that have shaped it.</a:t>
            </a:r>
          </a:p>
        </p:txBody>
      </p:sp>
      <p:sp>
        <p:nvSpPr>
          <p:cNvPr id="11" name="Freeform 11"/>
          <p:cNvSpPr/>
          <p:nvPr/>
        </p:nvSpPr>
        <p:spPr>
          <a:xfrm>
            <a:off x="2145235" y="9258300"/>
            <a:ext cx="2466363" cy="2269054"/>
          </a:xfrm>
          <a:custGeom>
            <a:avLst/>
            <a:gdLst/>
            <a:ahLst/>
            <a:cxnLst/>
            <a:rect l="l" t="t" r="r" b="b"/>
            <a:pathLst>
              <a:path w="2466363" h="2269054">
                <a:moveTo>
                  <a:pt x="0" y="0"/>
                </a:moveTo>
                <a:lnTo>
                  <a:pt x="2466364" y="0"/>
                </a:lnTo>
                <a:lnTo>
                  <a:pt x="2466364" y="2269054"/>
                </a:lnTo>
                <a:lnTo>
                  <a:pt x="0" y="22690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1255238" y="866775"/>
            <a:ext cx="6249070" cy="3606800"/>
          </a:xfrm>
          <a:prstGeom prst="rect">
            <a:avLst/>
          </a:prstGeom>
        </p:spPr>
        <p:txBody>
          <a:bodyPr lIns="0" tIns="0" rIns="0" bIns="0" rtlCol="0" anchor="t">
            <a:spAutoFit/>
          </a:bodyPr>
          <a:lstStyle/>
          <a:p>
            <a:pPr algn="l">
              <a:lnSpc>
                <a:spcPts val="8800"/>
              </a:lnSpc>
            </a:pPr>
            <a:r>
              <a:rPr lang="en-US" sz="8000" b="1">
                <a:solidFill>
                  <a:srgbClr val="000000"/>
                </a:solidFill>
                <a:latin typeface="Agrandir Ultra-Bold"/>
                <a:ea typeface="Agrandir Ultra-Bold"/>
                <a:cs typeface="Agrandir Ultra-Bold"/>
                <a:sym typeface="Agrandir Ultra-Bold"/>
              </a:rPr>
              <a:t>why context matters</a:t>
            </a:r>
          </a:p>
        </p:txBody>
      </p:sp>
      <p:sp>
        <p:nvSpPr>
          <p:cNvPr id="13" name="Freeform 13"/>
          <p:cNvSpPr/>
          <p:nvPr/>
        </p:nvSpPr>
        <p:spPr>
          <a:xfrm rot="10664735">
            <a:off x="5476177" y="5308588"/>
            <a:ext cx="971906" cy="1475753"/>
          </a:xfrm>
          <a:custGeom>
            <a:avLst/>
            <a:gdLst/>
            <a:ahLst/>
            <a:cxnLst/>
            <a:rect l="l" t="t" r="r" b="b"/>
            <a:pathLst>
              <a:path w="971906" h="1475753">
                <a:moveTo>
                  <a:pt x="0" y="0"/>
                </a:moveTo>
                <a:lnTo>
                  <a:pt x="971906" y="0"/>
                </a:lnTo>
                <a:lnTo>
                  <a:pt x="971906" y="1475752"/>
                </a:lnTo>
                <a:lnTo>
                  <a:pt x="0" y="1475752"/>
                </a:lnTo>
                <a:lnTo>
                  <a:pt x="0" y="0"/>
                </a:lnTo>
                <a:close/>
              </a:path>
            </a:pathLst>
          </a:custGeom>
          <a:blipFill>
            <a:blip>
              <a:extLst>
                <a:ext uri="{96DAC541-7B7A-43D3-8B79-37D633B846F1}">
                  <asvg:svgBlip xmlns:asvg="http://schemas.microsoft.com/office/drawing/2016/SVG/main" r:embed="rId8"/>
                </a:ext>
              </a:extLst>
            </a:blip>
            <a:stretch>
              <a:fillRect r="-179368" b="-73951"/>
            </a:stretch>
          </a:blipFill>
        </p:spPr>
      </p:sp>
      <p:sp>
        <p:nvSpPr>
          <p:cNvPr id="14" name="Freeform 14"/>
          <p:cNvSpPr/>
          <p:nvPr/>
        </p:nvSpPr>
        <p:spPr>
          <a:xfrm rot="-3363898">
            <a:off x="14047048" y="-17305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212642" y="8236134"/>
            <a:ext cx="2482684" cy="2347265"/>
          </a:xfrm>
          <a:custGeom>
            <a:avLst/>
            <a:gdLst/>
            <a:ahLst/>
            <a:cxnLst/>
            <a:rect l="l" t="t" r="r" b="b"/>
            <a:pathLst>
              <a:path w="2482684" h="2347265">
                <a:moveTo>
                  <a:pt x="0" y="0"/>
                </a:moveTo>
                <a:lnTo>
                  <a:pt x="2482684" y="0"/>
                </a:lnTo>
                <a:lnTo>
                  <a:pt x="2482684" y="2347265"/>
                </a:lnTo>
                <a:lnTo>
                  <a:pt x="0" y="234726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3083928"/>
            <a:ext cx="5165399" cy="6174372"/>
            <a:chOff x="0" y="0"/>
            <a:chExt cx="1360434" cy="1626172"/>
          </a:xfrm>
        </p:grpSpPr>
        <p:sp>
          <p:nvSpPr>
            <p:cNvPr id="5" name="Freeform 5"/>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6561300" y="3083928"/>
            <a:ext cx="5165399" cy="6174372"/>
            <a:chOff x="0" y="0"/>
            <a:chExt cx="1360434" cy="1626172"/>
          </a:xfrm>
        </p:grpSpPr>
        <p:sp>
          <p:nvSpPr>
            <p:cNvPr id="8" name="Freeform 8"/>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9" name="TextBox 9"/>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sp>
        <p:nvSpPr>
          <p:cNvPr id="10" name="Freeform 10"/>
          <p:cNvSpPr/>
          <p:nvPr/>
        </p:nvSpPr>
        <p:spPr>
          <a:xfrm rot="-4111046">
            <a:off x="15657752" y="2843580"/>
            <a:ext cx="4450252" cy="1569725"/>
          </a:xfrm>
          <a:custGeom>
            <a:avLst/>
            <a:gdLst/>
            <a:ahLst/>
            <a:cxnLst/>
            <a:rect l="l" t="t" r="r" b="b"/>
            <a:pathLst>
              <a:path w="4450252" h="1569725">
                <a:moveTo>
                  <a:pt x="0" y="0"/>
                </a:moveTo>
                <a:lnTo>
                  <a:pt x="4450252" y="0"/>
                </a:lnTo>
                <a:lnTo>
                  <a:pt x="4450252" y="1569726"/>
                </a:lnTo>
                <a:lnTo>
                  <a:pt x="0" y="15697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2093901" y="3083928"/>
            <a:ext cx="5165399" cy="6174372"/>
            <a:chOff x="0" y="0"/>
            <a:chExt cx="1360434" cy="1626172"/>
          </a:xfrm>
        </p:grpSpPr>
        <p:sp>
          <p:nvSpPr>
            <p:cNvPr id="12" name="Freeform 12"/>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3" name="TextBox 13"/>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sp>
        <p:nvSpPr>
          <p:cNvPr id="14" name="TextBox 14"/>
          <p:cNvSpPr txBox="1"/>
          <p:nvPr/>
        </p:nvSpPr>
        <p:spPr>
          <a:xfrm>
            <a:off x="7024211" y="4067994"/>
            <a:ext cx="4239578" cy="41681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time period in which the text was written or set. </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significant events, movements, and societal changes that may have influenced the author or informed the themes, settings, and plot of the text.</a:t>
            </a:r>
          </a:p>
        </p:txBody>
      </p:sp>
      <p:sp>
        <p:nvSpPr>
          <p:cNvPr id="15" name="Freeform 15"/>
          <p:cNvSpPr/>
          <p:nvPr/>
        </p:nvSpPr>
        <p:spPr>
          <a:xfrm>
            <a:off x="14676600" y="-592447"/>
            <a:ext cx="2837172" cy="2837172"/>
          </a:xfrm>
          <a:custGeom>
            <a:avLst/>
            <a:gdLst/>
            <a:ahLst/>
            <a:cxnLst/>
            <a:rect l="l" t="t" r="r" b="b"/>
            <a:pathLst>
              <a:path w="2837172" h="2837172">
                <a:moveTo>
                  <a:pt x="0" y="0"/>
                </a:moveTo>
                <a:lnTo>
                  <a:pt x="2837173" y="0"/>
                </a:lnTo>
                <a:lnTo>
                  <a:pt x="2837173" y="2837172"/>
                </a:lnTo>
                <a:lnTo>
                  <a:pt x="0" y="283717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3280375" y="866775"/>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types of context</a:t>
            </a:r>
          </a:p>
        </p:txBody>
      </p:sp>
      <p:sp>
        <p:nvSpPr>
          <p:cNvPr id="17" name="TextBox 17"/>
          <p:cNvSpPr txBox="1"/>
          <p:nvPr/>
        </p:nvSpPr>
        <p:spPr>
          <a:xfrm>
            <a:off x="1491611" y="3858444"/>
            <a:ext cx="4239578" cy="45872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background, experiences, and beliefs of the author. </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biographical information such as the author's life events, influences, and literary career, which can shape their writing style, themes, and perspectives.</a:t>
            </a:r>
          </a:p>
        </p:txBody>
      </p:sp>
      <p:sp>
        <p:nvSpPr>
          <p:cNvPr id="18" name="TextBox 18"/>
          <p:cNvSpPr txBox="1"/>
          <p:nvPr/>
        </p:nvSpPr>
        <p:spPr>
          <a:xfrm>
            <a:off x="12556792" y="3648894"/>
            <a:ext cx="4239617" cy="50063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social norms, values, and societal structures in the time period in which the text was written or set. </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aspects such as social class, gender roles, race relations, and interpersonal dynamics, which may be reflected in the characters, conflicts and relationships.</a:t>
            </a:r>
          </a:p>
        </p:txBody>
      </p:sp>
      <p:sp>
        <p:nvSpPr>
          <p:cNvPr id="19" name="TextBox 19"/>
          <p:cNvSpPr txBox="1"/>
          <p:nvPr/>
        </p:nvSpPr>
        <p:spPr>
          <a:xfrm>
            <a:off x="13254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authorial</a:t>
            </a:r>
          </a:p>
        </p:txBody>
      </p:sp>
      <p:sp>
        <p:nvSpPr>
          <p:cNvPr id="20" name="TextBox 20"/>
          <p:cNvSpPr txBox="1"/>
          <p:nvPr/>
        </p:nvSpPr>
        <p:spPr>
          <a:xfrm>
            <a:off x="68580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historical</a:t>
            </a:r>
          </a:p>
        </p:txBody>
      </p:sp>
      <p:sp>
        <p:nvSpPr>
          <p:cNvPr id="21" name="TextBox 21"/>
          <p:cNvSpPr txBox="1"/>
          <p:nvPr/>
        </p:nvSpPr>
        <p:spPr>
          <a:xfrm>
            <a:off x="123906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social</a:t>
            </a:r>
          </a:p>
        </p:txBody>
      </p:sp>
      <p:sp>
        <p:nvSpPr>
          <p:cNvPr id="22" name="Freeform 22"/>
          <p:cNvSpPr/>
          <p:nvPr/>
        </p:nvSpPr>
        <p:spPr>
          <a:xfrm rot="-3363898">
            <a:off x="-147152" y="6400403"/>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23" name="Freeform 23"/>
          <p:cNvSpPr/>
          <p:nvPr/>
        </p:nvSpPr>
        <p:spPr>
          <a:xfrm rot="-3363898" flipH="1" flipV="1">
            <a:off x="2764895" y="9639055"/>
            <a:ext cx="1030958" cy="898201"/>
          </a:xfrm>
          <a:custGeom>
            <a:avLst/>
            <a:gdLst/>
            <a:ahLst/>
            <a:cxnLst/>
            <a:rect l="l" t="t" r="r" b="b"/>
            <a:pathLst>
              <a:path w="1030958" h="898201">
                <a:moveTo>
                  <a:pt x="1030959" y="898201"/>
                </a:moveTo>
                <a:lnTo>
                  <a:pt x="0" y="898201"/>
                </a:lnTo>
                <a:lnTo>
                  <a:pt x="0" y="0"/>
                </a:lnTo>
                <a:lnTo>
                  <a:pt x="1030959" y="0"/>
                </a:lnTo>
                <a:lnTo>
                  <a:pt x="1030959" y="898201"/>
                </a:lnTo>
                <a:close/>
              </a:path>
            </a:pathLst>
          </a:custGeom>
          <a:blipFill>
            <a:blip>
              <a:extLst>
                <a:ext uri="{96DAC541-7B7A-43D3-8B79-37D633B846F1}">
                  <asvg:svgBlip xmlns:asvg="http://schemas.microsoft.com/office/drawing/2016/SVG/main" r:embed="rId6"/>
                </a:ext>
              </a:extLst>
            </a:blip>
            <a:stretch>
              <a:fillRect l="-103785" b="-128377"/>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372153" y="3300780"/>
            <a:ext cx="1864671" cy="1920541"/>
          </a:xfrm>
          <a:custGeom>
            <a:avLst/>
            <a:gdLst/>
            <a:ahLst/>
            <a:cxnLst/>
            <a:rect l="l" t="t" r="r" b="b"/>
            <a:pathLst>
              <a:path w="1864671" h="1920541">
                <a:moveTo>
                  <a:pt x="0" y="0"/>
                </a:moveTo>
                <a:lnTo>
                  <a:pt x="1864671" y="0"/>
                </a:lnTo>
                <a:lnTo>
                  <a:pt x="1864671" y="1920542"/>
                </a:lnTo>
                <a:lnTo>
                  <a:pt x="0" y="192054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3096720"/>
            <a:ext cx="5165399" cy="6174372"/>
            <a:chOff x="0" y="0"/>
            <a:chExt cx="1360434" cy="1626172"/>
          </a:xfrm>
        </p:grpSpPr>
        <p:sp>
          <p:nvSpPr>
            <p:cNvPr id="5" name="Freeform 5"/>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6561300" y="3083928"/>
            <a:ext cx="5165399" cy="6174372"/>
            <a:chOff x="0" y="0"/>
            <a:chExt cx="1360434" cy="1626172"/>
          </a:xfrm>
        </p:grpSpPr>
        <p:sp>
          <p:nvSpPr>
            <p:cNvPr id="8" name="Freeform 8"/>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9" name="TextBox 9"/>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sp>
        <p:nvSpPr>
          <p:cNvPr id="10" name="Freeform 10"/>
          <p:cNvSpPr/>
          <p:nvPr/>
        </p:nvSpPr>
        <p:spPr>
          <a:xfrm rot="-1586455">
            <a:off x="14761871" y="7626547"/>
            <a:ext cx="4401458" cy="3289089"/>
          </a:xfrm>
          <a:custGeom>
            <a:avLst/>
            <a:gdLst/>
            <a:ahLst/>
            <a:cxnLst/>
            <a:rect l="l" t="t" r="r" b="b"/>
            <a:pathLst>
              <a:path w="4401458" h="3289089">
                <a:moveTo>
                  <a:pt x="0" y="0"/>
                </a:moveTo>
                <a:lnTo>
                  <a:pt x="4401458" y="0"/>
                </a:lnTo>
                <a:lnTo>
                  <a:pt x="4401458" y="3289090"/>
                </a:lnTo>
                <a:lnTo>
                  <a:pt x="0" y="328909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2093901" y="3083928"/>
            <a:ext cx="5165399" cy="6174372"/>
            <a:chOff x="0" y="0"/>
            <a:chExt cx="1360434" cy="1626172"/>
          </a:xfrm>
        </p:grpSpPr>
        <p:sp>
          <p:nvSpPr>
            <p:cNvPr id="12" name="Freeform 12"/>
            <p:cNvSpPr/>
            <p:nvPr/>
          </p:nvSpPr>
          <p:spPr>
            <a:xfrm>
              <a:off x="0" y="0"/>
              <a:ext cx="1360434" cy="1626172"/>
            </a:xfrm>
            <a:custGeom>
              <a:avLst/>
              <a:gdLst/>
              <a:ahLst/>
              <a:cxnLst/>
              <a:rect l="l" t="t" r="r" b="b"/>
              <a:pathLst>
                <a:path w="1360434" h="1626172">
                  <a:moveTo>
                    <a:pt x="29976" y="0"/>
                  </a:moveTo>
                  <a:lnTo>
                    <a:pt x="1330458" y="0"/>
                  </a:lnTo>
                  <a:cubicBezTo>
                    <a:pt x="1347014" y="0"/>
                    <a:pt x="1360434" y="13421"/>
                    <a:pt x="1360434" y="29976"/>
                  </a:cubicBezTo>
                  <a:lnTo>
                    <a:pt x="1360434" y="1596196"/>
                  </a:lnTo>
                  <a:cubicBezTo>
                    <a:pt x="1360434" y="1612751"/>
                    <a:pt x="1347014" y="1626172"/>
                    <a:pt x="1330458" y="1626172"/>
                  </a:cubicBezTo>
                  <a:lnTo>
                    <a:pt x="29976" y="1626172"/>
                  </a:lnTo>
                  <a:cubicBezTo>
                    <a:pt x="13421" y="1626172"/>
                    <a:pt x="0" y="1612751"/>
                    <a:pt x="0" y="1596196"/>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3" name="TextBox 13"/>
            <p:cNvSpPr txBox="1"/>
            <p:nvPr/>
          </p:nvSpPr>
          <p:spPr>
            <a:xfrm>
              <a:off x="0" y="-57150"/>
              <a:ext cx="1360434" cy="1683322"/>
            </a:xfrm>
            <a:prstGeom prst="rect">
              <a:avLst/>
            </a:prstGeom>
          </p:spPr>
          <p:txBody>
            <a:bodyPr lIns="50800" tIns="50800" rIns="50800" bIns="50800" rtlCol="0" anchor="ctr"/>
            <a:lstStyle/>
            <a:p>
              <a:pPr algn="ctr">
                <a:lnSpc>
                  <a:spcPts val="3640"/>
                </a:lnSpc>
              </a:pPr>
              <a:endParaRPr/>
            </a:p>
          </p:txBody>
        </p:sp>
      </p:grpSp>
      <p:sp>
        <p:nvSpPr>
          <p:cNvPr id="14" name="TextBox 14"/>
          <p:cNvSpPr txBox="1"/>
          <p:nvPr/>
        </p:nvSpPr>
        <p:spPr>
          <a:xfrm>
            <a:off x="6941106" y="3648894"/>
            <a:ext cx="4405789" cy="50063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political climate, power dynamics and government structures of the time in which the text was written or set. </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factors such as wars, government policies and social movements, which may inform the themes, conflicts, and characters' actions.</a:t>
            </a:r>
          </a:p>
        </p:txBody>
      </p:sp>
      <p:sp>
        <p:nvSpPr>
          <p:cNvPr id="15" name="Freeform 15"/>
          <p:cNvSpPr/>
          <p:nvPr/>
        </p:nvSpPr>
        <p:spPr>
          <a:xfrm>
            <a:off x="239613" y="-328079"/>
            <a:ext cx="2380388" cy="2858544"/>
          </a:xfrm>
          <a:custGeom>
            <a:avLst/>
            <a:gdLst/>
            <a:ahLst/>
            <a:cxnLst/>
            <a:rect l="l" t="t" r="r" b="b"/>
            <a:pathLst>
              <a:path w="2380388" h="2858544">
                <a:moveTo>
                  <a:pt x="0" y="0"/>
                </a:moveTo>
                <a:lnTo>
                  <a:pt x="2380388" y="0"/>
                </a:lnTo>
                <a:lnTo>
                  <a:pt x="2380388" y="2858544"/>
                </a:lnTo>
                <a:lnTo>
                  <a:pt x="0" y="285854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3280375" y="866775"/>
            <a:ext cx="11727251"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types of context</a:t>
            </a:r>
          </a:p>
        </p:txBody>
      </p:sp>
      <p:sp>
        <p:nvSpPr>
          <p:cNvPr id="17" name="TextBox 17"/>
          <p:cNvSpPr txBox="1"/>
          <p:nvPr/>
        </p:nvSpPr>
        <p:spPr>
          <a:xfrm>
            <a:off x="1491611" y="3661686"/>
            <a:ext cx="4239578" cy="50063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customs, traditions, beliefs, and artistic expressions of the society in which the text was written or set.</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factors such as language, religion, folklore, and artistic movements, which can influence themes, imagery and symbolism in the text.</a:t>
            </a:r>
          </a:p>
        </p:txBody>
      </p:sp>
      <p:sp>
        <p:nvSpPr>
          <p:cNvPr id="18" name="TextBox 18"/>
          <p:cNvSpPr txBox="1"/>
          <p:nvPr/>
        </p:nvSpPr>
        <p:spPr>
          <a:xfrm>
            <a:off x="13254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cultural</a:t>
            </a:r>
          </a:p>
        </p:txBody>
      </p:sp>
      <p:sp>
        <p:nvSpPr>
          <p:cNvPr id="19" name="TextBox 19"/>
          <p:cNvSpPr txBox="1"/>
          <p:nvPr/>
        </p:nvSpPr>
        <p:spPr>
          <a:xfrm>
            <a:off x="68580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political</a:t>
            </a:r>
          </a:p>
        </p:txBody>
      </p:sp>
      <p:sp>
        <p:nvSpPr>
          <p:cNvPr id="20" name="TextBox 20"/>
          <p:cNvSpPr txBox="1"/>
          <p:nvPr/>
        </p:nvSpPr>
        <p:spPr>
          <a:xfrm>
            <a:off x="12390600" y="2700705"/>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genre</a:t>
            </a:r>
          </a:p>
        </p:txBody>
      </p:sp>
      <p:sp>
        <p:nvSpPr>
          <p:cNvPr id="21" name="TextBox 21"/>
          <p:cNvSpPr txBox="1"/>
          <p:nvPr/>
        </p:nvSpPr>
        <p:spPr>
          <a:xfrm>
            <a:off x="12473706" y="4067994"/>
            <a:ext cx="4405789" cy="41681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The literary category or classification within which a text is situated. </a:t>
            </a:r>
          </a:p>
          <a:p>
            <a:pPr algn="ctr">
              <a:lnSpc>
                <a:spcPts val="3360"/>
              </a:lnSpc>
            </a:pPr>
            <a:endParaRPr lang="en-US" sz="2400">
              <a:solidFill>
                <a:srgbClr val="000000"/>
              </a:solidFill>
              <a:latin typeface="Garet"/>
              <a:ea typeface="Garet"/>
              <a:cs typeface="Garet"/>
              <a:sym typeface="Garet"/>
            </a:endParaRPr>
          </a:p>
          <a:p>
            <a:pPr algn="ctr">
              <a:lnSpc>
                <a:spcPts val="3360"/>
              </a:lnSpc>
            </a:pPr>
            <a:r>
              <a:rPr lang="en-US" sz="2400">
                <a:solidFill>
                  <a:srgbClr val="000000"/>
                </a:solidFill>
                <a:latin typeface="Garet"/>
                <a:ea typeface="Garet"/>
                <a:cs typeface="Garet"/>
                <a:sym typeface="Garet"/>
              </a:rPr>
              <a:t>It includes the conventions, tropes, and thematic expectations associated with a particular genre, that influence both the form and content of the text.</a:t>
            </a:r>
          </a:p>
        </p:txBody>
      </p:sp>
      <p:sp>
        <p:nvSpPr>
          <p:cNvPr id="22" name="Freeform 22"/>
          <p:cNvSpPr/>
          <p:nvPr/>
        </p:nvSpPr>
        <p:spPr>
          <a:xfrm rot="-3363898">
            <a:off x="2764895" y="1330482"/>
            <a:ext cx="1030958" cy="898201"/>
          </a:xfrm>
          <a:custGeom>
            <a:avLst/>
            <a:gdLst/>
            <a:ahLst/>
            <a:cxnLst/>
            <a:rect l="l" t="t" r="r" b="b"/>
            <a:pathLst>
              <a:path w="1030958" h="898201">
                <a:moveTo>
                  <a:pt x="0" y="0"/>
                </a:moveTo>
                <a:lnTo>
                  <a:pt x="1030959" y="0"/>
                </a:lnTo>
                <a:lnTo>
                  <a:pt x="1030959" y="898201"/>
                </a:lnTo>
                <a:lnTo>
                  <a:pt x="0" y="898201"/>
                </a:lnTo>
                <a:lnTo>
                  <a:pt x="0" y="0"/>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23" name="Freeform 23"/>
          <p:cNvSpPr/>
          <p:nvPr/>
        </p:nvSpPr>
        <p:spPr>
          <a:xfrm rot="-3363898">
            <a:off x="13083954" y="9837900"/>
            <a:ext cx="1030958" cy="898201"/>
          </a:xfrm>
          <a:custGeom>
            <a:avLst/>
            <a:gdLst/>
            <a:ahLst/>
            <a:cxnLst/>
            <a:rect l="l" t="t" r="r" b="b"/>
            <a:pathLst>
              <a:path w="1030958" h="898201">
                <a:moveTo>
                  <a:pt x="0" y="0"/>
                </a:moveTo>
                <a:lnTo>
                  <a:pt x="1030959" y="0"/>
                </a:lnTo>
                <a:lnTo>
                  <a:pt x="1030959" y="898200"/>
                </a:lnTo>
                <a:lnTo>
                  <a:pt x="0" y="898200"/>
                </a:lnTo>
                <a:lnTo>
                  <a:pt x="0" y="0"/>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24" name="Freeform 24"/>
          <p:cNvSpPr/>
          <p:nvPr/>
        </p:nvSpPr>
        <p:spPr>
          <a:xfrm rot="2803384">
            <a:off x="3664764" y="-496314"/>
            <a:ext cx="971906" cy="1475753"/>
          </a:xfrm>
          <a:custGeom>
            <a:avLst/>
            <a:gdLst/>
            <a:ahLst/>
            <a:cxnLst/>
            <a:rect l="l" t="t" r="r" b="b"/>
            <a:pathLst>
              <a:path w="971906" h="1475753">
                <a:moveTo>
                  <a:pt x="0" y="0"/>
                </a:moveTo>
                <a:lnTo>
                  <a:pt x="971907" y="0"/>
                </a:lnTo>
                <a:lnTo>
                  <a:pt x="971907" y="1475753"/>
                </a:lnTo>
                <a:lnTo>
                  <a:pt x="0" y="1475753"/>
                </a:lnTo>
                <a:lnTo>
                  <a:pt x="0" y="0"/>
                </a:lnTo>
                <a:close/>
              </a:path>
            </a:pathLst>
          </a:custGeom>
          <a:blipFill>
            <a:blip>
              <a:extLst>
                <a:ext uri="{96DAC541-7B7A-43D3-8B79-37D633B846F1}">
                  <asvg:svgBlip xmlns:asvg="http://schemas.microsoft.com/office/drawing/2016/SVG/main" r:embed="rId7"/>
                </a:ext>
              </a:extLst>
            </a:blip>
            <a:stretch>
              <a:fillRect r="-179368" b="-73951"/>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16055629" y="-230826"/>
            <a:ext cx="3438645" cy="2838445"/>
          </a:xfrm>
          <a:custGeom>
            <a:avLst/>
            <a:gdLst/>
            <a:ahLst/>
            <a:cxnLst/>
            <a:rect l="l" t="t" r="r" b="b"/>
            <a:pathLst>
              <a:path w="3438645" h="2838445">
                <a:moveTo>
                  <a:pt x="0" y="0"/>
                </a:moveTo>
                <a:lnTo>
                  <a:pt x="3438644" y="0"/>
                </a:lnTo>
                <a:lnTo>
                  <a:pt x="3438644" y="2838445"/>
                </a:lnTo>
                <a:lnTo>
                  <a:pt x="0" y="283844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7129049" y="1028700"/>
            <a:ext cx="10130251" cy="8229600"/>
            <a:chOff x="0" y="0"/>
            <a:chExt cx="2668050" cy="2167467"/>
          </a:xfrm>
        </p:grpSpPr>
        <p:sp>
          <p:nvSpPr>
            <p:cNvPr id="5" name="Freeform 5"/>
            <p:cNvSpPr/>
            <p:nvPr/>
          </p:nvSpPr>
          <p:spPr>
            <a:xfrm>
              <a:off x="0" y="0"/>
              <a:ext cx="2668050" cy="2167467"/>
            </a:xfrm>
            <a:custGeom>
              <a:avLst/>
              <a:gdLst/>
              <a:ahLst/>
              <a:cxnLst/>
              <a:rect l="l" t="t" r="r" b="b"/>
              <a:pathLst>
                <a:path w="2668050" h="2167467">
                  <a:moveTo>
                    <a:pt x="15285" y="0"/>
                  </a:moveTo>
                  <a:lnTo>
                    <a:pt x="2652765" y="0"/>
                  </a:lnTo>
                  <a:cubicBezTo>
                    <a:pt x="2661206" y="0"/>
                    <a:pt x="2668050" y="6843"/>
                    <a:pt x="2668050" y="15285"/>
                  </a:cubicBezTo>
                  <a:lnTo>
                    <a:pt x="2668050" y="2152182"/>
                  </a:lnTo>
                  <a:cubicBezTo>
                    <a:pt x="2668050" y="2160624"/>
                    <a:pt x="2661206" y="2167467"/>
                    <a:pt x="2652765" y="2167467"/>
                  </a:cubicBezTo>
                  <a:lnTo>
                    <a:pt x="15285" y="2167467"/>
                  </a:lnTo>
                  <a:cubicBezTo>
                    <a:pt x="11231" y="2167467"/>
                    <a:pt x="7343" y="2165856"/>
                    <a:pt x="4477" y="2162990"/>
                  </a:cubicBezTo>
                  <a:cubicBezTo>
                    <a:pt x="1610" y="2160124"/>
                    <a:pt x="0" y="2156236"/>
                    <a:pt x="0" y="2152182"/>
                  </a:cubicBezTo>
                  <a:lnTo>
                    <a:pt x="0" y="15285"/>
                  </a:lnTo>
                  <a:cubicBezTo>
                    <a:pt x="0" y="6843"/>
                    <a:pt x="6843" y="0"/>
                    <a:pt x="15285"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2668050" cy="2224617"/>
            </a:xfrm>
            <a:prstGeom prst="rect">
              <a:avLst/>
            </a:prstGeom>
          </p:spPr>
          <p:txBody>
            <a:bodyPr lIns="50800" tIns="50800" rIns="50800" bIns="50800" rtlCol="0" anchor="ctr"/>
            <a:lstStyle/>
            <a:p>
              <a:pPr algn="ctr">
                <a:lnSpc>
                  <a:spcPts val="3640"/>
                </a:lnSpc>
              </a:pPr>
              <a:endParaRPr/>
            </a:p>
          </p:txBody>
        </p:sp>
      </p:grpSp>
      <p:sp>
        <p:nvSpPr>
          <p:cNvPr id="7" name="TextBox 7"/>
          <p:cNvSpPr txBox="1"/>
          <p:nvPr/>
        </p:nvSpPr>
        <p:spPr>
          <a:xfrm>
            <a:off x="1335029" y="2819846"/>
            <a:ext cx="5084830" cy="39484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You will be divided into small groups and allocated an aspect of the novel’s context to research. </a:t>
            </a:r>
          </a:p>
          <a:p>
            <a:pPr algn="l">
              <a:lnSpc>
                <a:spcPts val="3919"/>
              </a:lnSpc>
            </a:pPr>
            <a:endParaRPr lang="en-US" sz="2799">
              <a:solidFill>
                <a:srgbClr val="000000"/>
              </a:solidFill>
              <a:latin typeface="Garet"/>
              <a:ea typeface="Garet"/>
              <a:cs typeface="Garet"/>
              <a:sym typeface="Garet"/>
            </a:endParaRPr>
          </a:p>
          <a:p>
            <a:pPr algn="l">
              <a:lnSpc>
                <a:spcPts val="3919"/>
              </a:lnSpc>
            </a:pPr>
            <a:r>
              <a:rPr lang="en-US" sz="2799">
                <a:solidFill>
                  <a:srgbClr val="000000"/>
                </a:solidFill>
                <a:latin typeface="Garet"/>
                <a:ea typeface="Garet"/>
                <a:cs typeface="Garet"/>
                <a:sym typeface="Garet"/>
              </a:rPr>
              <a:t>You will then present your findings to the class. </a:t>
            </a:r>
          </a:p>
          <a:p>
            <a:pPr algn="l">
              <a:lnSpc>
                <a:spcPts val="3919"/>
              </a:lnSpc>
            </a:pPr>
            <a:r>
              <a:rPr lang="en-US" sz="2799">
                <a:solidFill>
                  <a:srgbClr val="000000"/>
                </a:solidFill>
                <a:latin typeface="Garet"/>
                <a:ea typeface="Garet"/>
                <a:cs typeface="Garet"/>
                <a:sym typeface="Garet"/>
              </a:rPr>
              <a:t>Follow these steps:</a:t>
            </a:r>
          </a:p>
        </p:txBody>
      </p:sp>
      <p:sp>
        <p:nvSpPr>
          <p:cNvPr id="8" name="Freeform 8"/>
          <p:cNvSpPr/>
          <p:nvPr/>
        </p:nvSpPr>
        <p:spPr>
          <a:xfrm rot="-117339">
            <a:off x="2254363" y="7019104"/>
            <a:ext cx="3246162" cy="2966180"/>
          </a:xfrm>
          <a:custGeom>
            <a:avLst/>
            <a:gdLst/>
            <a:ahLst/>
            <a:cxnLst/>
            <a:rect l="l" t="t" r="r" b="b"/>
            <a:pathLst>
              <a:path w="3246162" h="2966180">
                <a:moveTo>
                  <a:pt x="0" y="0"/>
                </a:moveTo>
                <a:lnTo>
                  <a:pt x="3246162" y="0"/>
                </a:lnTo>
                <a:lnTo>
                  <a:pt x="3246162" y="2966180"/>
                </a:lnTo>
                <a:lnTo>
                  <a:pt x="0" y="296618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8599291">
            <a:off x="5298243" y="7638375"/>
            <a:ext cx="971906" cy="1475753"/>
          </a:xfrm>
          <a:custGeom>
            <a:avLst/>
            <a:gdLst/>
            <a:ahLst/>
            <a:cxnLst/>
            <a:rect l="l" t="t" r="r" b="b"/>
            <a:pathLst>
              <a:path w="971906" h="1475753">
                <a:moveTo>
                  <a:pt x="0" y="0"/>
                </a:moveTo>
                <a:lnTo>
                  <a:pt x="971907" y="0"/>
                </a:lnTo>
                <a:lnTo>
                  <a:pt x="971907" y="1475753"/>
                </a:lnTo>
                <a:lnTo>
                  <a:pt x="0" y="1475753"/>
                </a:lnTo>
                <a:lnTo>
                  <a:pt x="0" y="0"/>
                </a:lnTo>
                <a:close/>
              </a:path>
            </a:pathLst>
          </a:custGeom>
          <a:blipFill>
            <a:blip>
              <a:extLst>
                <a:ext uri="{96DAC541-7B7A-43D3-8B79-37D633B846F1}">
                  <asvg:svgBlip xmlns:asvg="http://schemas.microsoft.com/office/drawing/2016/SVG/main" r:embed="rId5"/>
                </a:ext>
              </a:extLst>
            </a:blip>
            <a:stretch>
              <a:fillRect r="-179368" b="-73951"/>
            </a:stretch>
          </a:blipFill>
        </p:spPr>
      </p:sp>
      <p:sp>
        <p:nvSpPr>
          <p:cNvPr id="10" name="Freeform 10"/>
          <p:cNvSpPr/>
          <p:nvPr/>
        </p:nvSpPr>
        <p:spPr>
          <a:xfrm rot="3741054">
            <a:off x="-1458493" y="7929214"/>
            <a:ext cx="4288549" cy="2144274"/>
          </a:xfrm>
          <a:custGeom>
            <a:avLst/>
            <a:gdLst/>
            <a:ahLst/>
            <a:cxnLst/>
            <a:rect l="l" t="t" r="r" b="b"/>
            <a:pathLst>
              <a:path w="4288549" h="2144274">
                <a:moveTo>
                  <a:pt x="0" y="0"/>
                </a:moveTo>
                <a:lnTo>
                  <a:pt x="4288548" y="0"/>
                </a:lnTo>
                <a:lnTo>
                  <a:pt x="4288548" y="2144274"/>
                </a:lnTo>
                <a:lnTo>
                  <a:pt x="0" y="214427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335029" y="797872"/>
            <a:ext cx="4846929" cy="1606549"/>
          </a:xfrm>
          <a:prstGeom prst="rect">
            <a:avLst/>
          </a:prstGeom>
        </p:spPr>
        <p:txBody>
          <a:bodyPr lIns="0" tIns="0" rIns="0" bIns="0" rtlCol="0" anchor="t">
            <a:spAutoFit/>
          </a:bodyPr>
          <a:lstStyle/>
          <a:p>
            <a:pPr algn="l">
              <a:lnSpc>
                <a:spcPts val="11200"/>
              </a:lnSpc>
            </a:pPr>
            <a:r>
              <a:rPr lang="en-US" sz="8000" b="1">
                <a:solidFill>
                  <a:srgbClr val="000000"/>
                </a:solidFill>
                <a:latin typeface="Agrandir Ultra-Bold"/>
                <a:ea typeface="Agrandir Ultra-Bold"/>
                <a:cs typeface="Agrandir Ultra-Bold"/>
                <a:sym typeface="Agrandir Ultra-Bold"/>
              </a:rPr>
              <a:t>activity </a:t>
            </a:r>
          </a:p>
        </p:txBody>
      </p:sp>
      <p:sp>
        <p:nvSpPr>
          <p:cNvPr id="12" name="TextBox 12"/>
          <p:cNvSpPr txBox="1"/>
          <p:nvPr/>
        </p:nvSpPr>
        <p:spPr>
          <a:xfrm>
            <a:off x="7752012" y="1626802"/>
            <a:ext cx="8884325" cy="9766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1.   Develop a list of research questions in relation to your topic.</a:t>
            </a:r>
          </a:p>
        </p:txBody>
      </p:sp>
      <p:sp>
        <p:nvSpPr>
          <p:cNvPr id="13" name="TextBox 13"/>
          <p:cNvSpPr txBox="1"/>
          <p:nvPr/>
        </p:nvSpPr>
        <p:spPr>
          <a:xfrm>
            <a:off x="7752012" y="2966274"/>
            <a:ext cx="8884325" cy="14719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2.   Use a variety of sources to research information such as books, articles, primary documents, and reputable websites.</a:t>
            </a:r>
          </a:p>
        </p:txBody>
      </p:sp>
      <p:sp>
        <p:nvSpPr>
          <p:cNvPr id="14" name="TextBox 14"/>
          <p:cNvSpPr txBox="1"/>
          <p:nvPr/>
        </p:nvSpPr>
        <p:spPr>
          <a:xfrm>
            <a:off x="7752012" y="4801046"/>
            <a:ext cx="8884325" cy="19672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3.   Take notes and compile relevant information on your assigned aspect of context. Remember to paraphrase where possible and cite all sources used.</a:t>
            </a:r>
          </a:p>
        </p:txBody>
      </p:sp>
      <p:sp>
        <p:nvSpPr>
          <p:cNvPr id="15" name="TextBox 15"/>
          <p:cNvSpPr txBox="1"/>
          <p:nvPr/>
        </p:nvSpPr>
        <p:spPr>
          <a:xfrm>
            <a:off x="7752012" y="7131117"/>
            <a:ext cx="8884325" cy="14719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4.   Reconvene as a class and present your findings to your classmates. Share key insights, interesting facts, and connections to the novel.</a:t>
            </a:r>
          </a:p>
        </p:txBody>
      </p:sp>
      <p:sp>
        <p:nvSpPr>
          <p:cNvPr id="16" name="Freeform 16"/>
          <p:cNvSpPr/>
          <p:nvPr/>
        </p:nvSpPr>
        <p:spPr>
          <a:xfrm rot="-3363898">
            <a:off x="-147152" y="5364135"/>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17" name="Freeform 17"/>
          <p:cNvSpPr/>
          <p:nvPr/>
        </p:nvSpPr>
        <p:spPr>
          <a:xfrm rot="-3363898">
            <a:off x="17404194" y="3106285"/>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grpSp>
        <p:nvGrpSpPr>
          <p:cNvPr id="3" name="Group 3"/>
          <p:cNvGrpSpPr/>
          <p:nvPr/>
        </p:nvGrpSpPr>
        <p:grpSpPr>
          <a:xfrm>
            <a:off x="1028700" y="3964381"/>
            <a:ext cx="5165399" cy="5293919"/>
            <a:chOff x="0" y="0"/>
            <a:chExt cx="1360434" cy="1394283"/>
          </a:xfrm>
        </p:grpSpPr>
        <p:sp>
          <p:nvSpPr>
            <p:cNvPr id="4" name="Freeform 4"/>
            <p:cNvSpPr/>
            <p:nvPr/>
          </p:nvSpPr>
          <p:spPr>
            <a:xfrm>
              <a:off x="0" y="0"/>
              <a:ext cx="1360434" cy="1394283"/>
            </a:xfrm>
            <a:custGeom>
              <a:avLst/>
              <a:gdLst/>
              <a:ahLst/>
              <a:cxnLst/>
              <a:rect l="l" t="t" r="r" b="b"/>
              <a:pathLst>
                <a:path w="1360434" h="1394283">
                  <a:moveTo>
                    <a:pt x="29976" y="0"/>
                  </a:moveTo>
                  <a:lnTo>
                    <a:pt x="1330458" y="0"/>
                  </a:lnTo>
                  <a:cubicBezTo>
                    <a:pt x="1347014" y="0"/>
                    <a:pt x="1360434" y="13421"/>
                    <a:pt x="1360434" y="29976"/>
                  </a:cubicBezTo>
                  <a:lnTo>
                    <a:pt x="1360434" y="1364307"/>
                  </a:lnTo>
                  <a:cubicBezTo>
                    <a:pt x="1360434" y="1380862"/>
                    <a:pt x="1347014" y="1394283"/>
                    <a:pt x="1330458" y="1394283"/>
                  </a:cubicBezTo>
                  <a:lnTo>
                    <a:pt x="29976" y="1394283"/>
                  </a:lnTo>
                  <a:cubicBezTo>
                    <a:pt x="13421" y="1394283"/>
                    <a:pt x="0" y="1380862"/>
                    <a:pt x="0" y="1364307"/>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5" name="TextBox 5"/>
            <p:cNvSpPr txBox="1"/>
            <p:nvPr/>
          </p:nvSpPr>
          <p:spPr>
            <a:xfrm>
              <a:off x="0" y="-57150"/>
              <a:ext cx="1360434" cy="1451433"/>
            </a:xfrm>
            <a:prstGeom prst="rect">
              <a:avLst/>
            </a:prstGeom>
          </p:spPr>
          <p:txBody>
            <a:bodyPr lIns="50800" tIns="50800" rIns="50800" bIns="50800" rtlCol="0" anchor="ctr"/>
            <a:lstStyle/>
            <a:p>
              <a:pPr algn="ctr">
                <a:lnSpc>
                  <a:spcPts val="3640"/>
                </a:lnSpc>
              </a:pPr>
              <a:endParaRPr/>
            </a:p>
          </p:txBody>
        </p:sp>
      </p:grpSp>
      <p:grpSp>
        <p:nvGrpSpPr>
          <p:cNvPr id="6" name="Group 6"/>
          <p:cNvGrpSpPr/>
          <p:nvPr/>
        </p:nvGrpSpPr>
        <p:grpSpPr>
          <a:xfrm>
            <a:off x="6561300" y="3964381"/>
            <a:ext cx="5165399" cy="5293919"/>
            <a:chOff x="0" y="0"/>
            <a:chExt cx="1360434" cy="1394283"/>
          </a:xfrm>
        </p:grpSpPr>
        <p:sp>
          <p:nvSpPr>
            <p:cNvPr id="7" name="Freeform 7"/>
            <p:cNvSpPr/>
            <p:nvPr/>
          </p:nvSpPr>
          <p:spPr>
            <a:xfrm>
              <a:off x="0" y="0"/>
              <a:ext cx="1360434" cy="1394283"/>
            </a:xfrm>
            <a:custGeom>
              <a:avLst/>
              <a:gdLst/>
              <a:ahLst/>
              <a:cxnLst/>
              <a:rect l="l" t="t" r="r" b="b"/>
              <a:pathLst>
                <a:path w="1360434" h="1394283">
                  <a:moveTo>
                    <a:pt x="29976" y="0"/>
                  </a:moveTo>
                  <a:lnTo>
                    <a:pt x="1330458" y="0"/>
                  </a:lnTo>
                  <a:cubicBezTo>
                    <a:pt x="1347014" y="0"/>
                    <a:pt x="1360434" y="13421"/>
                    <a:pt x="1360434" y="29976"/>
                  </a:cubicBezTo>
                  <a:lnTo>
                    <a:pt x="1360434" y="1364307"/>
                  </a:lnTo>
                  <a:cubicBezTo>
                    <a:pt x="1360434" y="1380862"/>
                    <a:pt x="1347014" y="1394283"/>
                    <a:pt x="1330458" y="1394283"/>
                  </a:cubicBezTo>
                  <a:lnTo>
                    <a:pt x="29976" y="1394283"/>
                  </a:lnTo>
                  <a:cubicBezTo>
                    <a:pt x="13421" y="1394283"/>
                    <a:pt x="0" y="1380862"/>
                    <a:pt x="0" y="1364307"/>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8" name="TextBox 8"/>
            <p:cNvSpPr txBox="1"/>
            <p:nvPr/>
          </p:nvSpPr>
          <p:spPr>
            <a:xfrm>
              <a:off x="0" y="-57150"/>
              <a:ext cx="1360434" cy="1451433"/>
            </a:xfrm>
            <a:prstGeom prst="rect">
              <a:avLst/>
            </a:prstGeom>
          </p:spPr>
          <p:txBody>
            <a:bodyPr lIns="50800" tIns="50800" rIns="50800" bIns="50800" rtlCol="0" anchor="ctr"/>
            <a:lstStyle/>
            <a:p>
              <a:pPr algn="ctr">
                <a:lnSpc>
                  <a:spcPts val="3640"/>
                </a:lnSpc>
              </a:pPr>
              <a:endParaRPr/>
            </a:p>
          </p:txBody>
        </p:sp>
      </p:grpSp>
      <p:sp>
        <p:nvSpPr>
          <p:cNvPr id="9" name="Freeform 9"/>
          <p:cNvSpPr/>
          <p:nvPr/>
        </p:nvSpPr>
        <p:spPr>
          <a:xfrm rot="-2900357">
            <a:off x="14818326" y="8186163"/>
            <a:ext cx="4288549" cy="2144274"/>
          </a:xfrm>
          <a:custGeom>
            <a:avLst/>
            <a:gdLst/>
            <a:ahLst/>
            <a:cxnLst/>
            <a:rect l="l" t="t" r="r" b="b"/>
            <a:pathLst>
              <a:path w="4288549" h="2144274">
                <a:moveTo>
                  <a:pt x="0" y="0"/>
                </a:moveTo>
                <a:lnTo>
                  <a:pt x="4288549" y="0"/>
                </a:lnTo>
                <a:lnTo>
                  <a:pt x="4288549" y="2144274"/>
                </a:lnTo>
                <a:lnTo>
                  <a:pt x="0" y="214427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2093901" y="3964381"/>
            <a:ext cx="5165399" cy="5293919"/>
            <a:chOff x="0" y="0"/>
            <a:chExt cx="1360434" cy="1394283"/>
          </a:xfrm>
        </p:grpSpPr>
        <p:sp>
          <p:nvSpPr>
            <p:cNvPr id="11" name="Freeform 11"/>
            <p:cNvSpPr/>
            <p:nvPr/>
          </p:nvSpPr>
          <p:spPr>
            <a:xfrm>
              <a:off x="0" y="0"/>
              <a:ext cx="1360434" cy="1394283"/>
            </a:xfrm>
            <a:custGeom>
              <a:avLst/>
              <a:gdLst/>
              <a:ahLst/>
              <a:cxnLst/>
              <a:rect l="l" t="t" r="r" b="b"/>
              <a:pathLst>
                <a:path w="1360434" h="1394283">
                  <a:moveTo>
                    <a:pt x="29976" y="0"/>
                  </a:moveTo>
                  <a:lnTo>
                    <a:pt x="1330458" y="0"/>
                  </a:lnTo>
                  <a:cubicBezTo>
                    <a:pt x="1347014" y="0"/>
                    <a:pt x="1360434" y="13421"/>
                    <a:pt x="1360434" y="29976"/>
                  </a:cubicBezTo>
                  <a:lnTo>
                    <a:pt x="1360434" y="1364307"/>
                  </a:lnTo>
                  <a:cubicBezTo>
                    <a:pt x="1360434" y="1380862"/>
                    <a:pt x="1347014" y="1394283"/>
                    <a:pt x="1330458" y="1394283"/>
                  </a:cubicBezTo>
                  <a:lnTo>
                    <a:pt x="29976" y="1394283"/>
                  </a:lnTo>
                  <a:cubicBezTo>
                    <a:pt x="13421" y="1394283"/>
                    <a:pt x="0" y="1380862"/>
                    <a:pt x="0" y="1364307"/>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2" name="TextBox 12"/>
            <p:cNvSpPr txBox="1"/>
            <p:nvPr/>
          </p:nvSpPr>
          <p:spPr>
            <a:xfrm>
              <a:off x="0" y="-57150"/>
              <a:ext cx="1360434" cy="1451433"/>
            </a:xfrm>
            <a:prstGeom prst="rect">
              <a:avLst/>
            </a:prstGeom>
          </p:spPr>
          <p:txBody>
            <a:bodyPr lIns="50800" tIns="50800" rIns="50800" bIns="50800" rtlCol="0" anchor="ctr"/>
            <a:lstStyle/>
            <a:p>
              <a:pPr algn="ctr">
                <a:lnSpc>
                  <a:spcPts val="3640"/>
                </a:lnSpc>
              </a:pPr>
              <a:endParaRPr/>
            </a:p>
          </p:txBody>
        </p:sp>
      </p:grpSp>
      <p:sp>
        <p:nvSpPr>
          <p:cNvPr id="13" name="Freeform 13"/>
          <p:cNvSpPr/>
          <p:nvPr/>
        </p:nvSpPr>
        <p:spPr>
          <a:xfrm>
            <a:off x="738822" y="-621963"/>
            <a:ext cx="2177275" cy="2558763"/>
          </a:xfrm>
          <a:custGeom>
            <a:avLst/>
            <a:gdLst/>
            <a:ahLst/>
            <a:cxnLst/>
            <a:rect l="l" t="t" r="r" b="b"/>
            <a:pathLst>
              <a:path w="2177275" h="2558763">
                <a:moveTo>
                  <a:pt x="0" y="0"/>
                </a:moveTo>
                <a:lnTo>
                  <a:pt x="2177275" y="0"/>
                </a:lnTo>
                <a:lnTo>
                  <a:pt x="2177275" y="2558764"/>
                </a:lnTo>
                <a:lnTo>
                  <a:pt x="0" y="25587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rot="9050618">
            <a:off x="-1144411" y="2136415"/>
            <a:ext cx="2612116" cy="2156183"/>
          </a:xfrm>
          <a:custGeom>
            <a:avLst/>
            <a:gdLst/>
            <a:ahLst/>
            <a:cxnLst/>
            <a:rect l="l" t="t" r="r" b="b"/>
            <a:pathLst>
              <a:path w="2612116" h="2156183">
                <a:moveTo>
                  <a:pt x="0" y="0"/>
                </a:moveTo>
                <a:lnTo>
                  <a:pt x="2612116" y="0"/>
                </a:lnTo>
                <a:lnTo>
                  <a:pt x="2612116" y="2156184"/>
                </a:lnTo>
                <a:lnTo>
                  <a:pt x="0" y="215618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2772742" y="638175"/>
            <a:ext cx="12742517" cy="1606549"/>
          </a:xfrm>
          <a:prstGeom prst="rect">
            <a:avLst/>
          </a:prstGeom>
        </p:spPr>
        <p:txBody>
          <a:bodyPr lIns="0" tIns="0" rIns="0" bIns="0" rtlCol="0" anchor="t">
            <a:spAutoFit/>
          </a:bodyPr>
          <a:lstStyle/>
          <a:p>
            <a:pPr algn="ctr">
              <a:lnSpc>
                <a:spcPts val="11200"/>
              </a:lnSpc>
            </a:pPr>
            <a:r>
              <a:rPr lang="en-US" sz="8000" b="1">
                <a:solidFill>
                  <a:srgbClr val="000000"/>
                </a:solidFill>
                <a:latin typeface="Agrandir Ultra-Bold"/>
                <a:ea typeface="Agrandir Ultra-Bold"/>
                <a:cs typeface="Agrandir Ultra-Bold"/>
                <a:sym typeface="Agrandir Ultra-Bold"/>
              </a:rPr>
              <a:t>extension exercises </a:t>
            </a:r>
          </a:p>
        </p:txBody>
      </p:sp>
      <p:sp>
        <p:nvSpPr>
          <p:cNvPr id="16" name="TextBox 16"/>
          <p:cNvSpPr txBox="1"/>
          <p:nvPr/>
        </p:nvSpPr>
        <p:spPr>
          <a:xfrm>
            <a:off x="1325400" y="3609416"/>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present it visually</a:t>
            </a:r>
          </a:p>
        </p:txBody>
      </p:sp>
      <p:sp>
        <p:nvSpPr>
          <p:cNvPr id="17" name="TextBox 17"/>
          <p:cNvSpPr txBox="1"/>
          <p:nvPr/>
        </p:nvSpPr>
        <p:spPr>
          <a:xfrm>
            <a:off x="6858000" y="3609416"/>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take it further</a:t>
            </a:r>
          </a:p>
        </p:txBody>
      </p:sp>
      <p:sp>
        <p:nvSpPr>
          <p:cNvPr id="18" name="TextBox 18"/>
          <p:cNvSpPr txBox="1"/>
          <p:nvPr/>
        </p:nvSpPr>
        <p:spPr>
          <a:xfrm>
            <a:off x="12390600" y="3609416"/>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make connections</a:t>
            </a:r>
          </a:p>
        </p:txBody>
      </p:sp>
      <p:sp>
        <p:nvSpPr>
          <p:cNvPr id="19" name="TextBox 19"/>
          <p:cNvSpPr txBox="1"/>
          <p:nvPr/>
        </p:nvSpPr>
        <p:spPr>
          <a:xfrm>
            <a:off x="1499199" y="5307330"/>
            <a:ext cx="4224401" cy="29108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Create a visual presentation, poster or infographic to present your research findings. Incorporate images, timelines, key quotes or other visual elements.</a:t>
            </a:r>
          </a:p>
        </p:txBody>
      </p:sp>
      <p:sp>
        <p:nvSpPr>
          <p:cNvPr id="20" name="TextBox 20"/>
          <p:cNvSpPr txBox="1"/>
          <p:nvPr/>
        </p:nvSpPr>
        <p:spPr>
          <a:xfrm>
            <a:off x="7031799" y="4888230"/>
            <a:ext cx="4224401" cy="37490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Explore additional aspects of context beyond those assigned, such as literary movements, philosophical ideas, or scientific advancements of the time period. Consider how these might influence </a:t>
            </a:r>
          </a:p>
          <a:p>
            <a:pPr algn="ctr">
              <a:lnSpc>
                <a:spcPts val="3360"/>
              </a:lnSpc>
            </a:pPr>
            <a:r>
              <a:rPr lang="en-US" sz="2400">
                <a:solidFill>
                  <a:srgbClr val="000000"/>
                </a:solidFill>
                <a:latin typeface="Garet"/>
                <a:ea typeface="Garet"/>
                <a:cs typeface="Garet"/>
                <a:sym typeface="Garet"/>
              </a:rPr>
              <a:t>the novel.</a:t>
            </a:r>
          </a:p>
        </p:txBody>
      </p:sp>
      <p:sp>
        <p:nvSpPr>
          <p:cNvPr id="21" name="TextBox 21"/>
          <p:cNvSpPr txBox="1"/>
          <p:nvPr/>
        </p:nvSpPr>
        <p:spPr>
          <a:xfrm>
            <a:off x="12564400" y="5097780"/>
            <a:ext cx="4224401" cy="3329940"/>
          </a:xfrm>
          <a:prstGeom prst="rect">
            <a:avLst/>
          </a:prstGeom>
        </p:spPr>
        <p:txBody>
          <a:bodyPr lIns="0" tIns="0" rIns="0" bIns="0" rtlCol="0" anchor="t">
            <a:spAutoFit/>
          </a:bodyPr>
          <a:lstStyle/>
          <a:p>
            <a:pPr algn="ctr">
              <a:lnSpc>
                <a:spcPts val="3360"/>
              </a:lnSpc>
            </a:pPr>
            <a:r>
              <a:rPr lang="en-US" sz="2400">
                <a:solidFill>
                  <a:srgbClr val="000000"/>
                </a:solidFill>
                <a:latin typeface="Garet"/>
                <a:ea typeface="Garet"/>
                <a:cs typeface="Garet"/>
                <a:sym typeface="Garet"/>
              </a:rPr>
              <a:t>Connect your researched contextual factor to contemporary issues or themes. Consider similarities and differences between the novel's context and current events.</a:t>
            </a:r>
          </a:p>
        </p:txBody>
      </p:sp>
      <p:sp>
        <p:nvSpPr>
          <p:cNvPr id="22" name="TextBox 22"/>
          <p:cNvSpPr txBox="1"/>
          <p:nvPr/>
        </p:nvSpPr>
        <p:spPr>
          <a:xfrm>
            <a:off x="1563525" y="2521102"/>
            <a:ext cx="15160951" cy="4813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Got a little extra time or want to challenge yourself? How about...</a:t>
            </a:r>
          </a:p>
        </p:txBody>
      </p:sp>
      <p:sp>
        <p:nvSpPr>
          <p:cNvPr id="23" name="Freeform 23"/>
          <p:cNvSpPr/>
          <p:nvPr/>
        </p:nvSpPr>
        <p:spPr>
          <a:xfrm rot="-3363898">
            <a:off x="-353832" y="5372789"/>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24" name="Freeform 24"/>
          <p:cNvSpPr/>
          <p:nvPr/>
        </p:nvSpPr>
        <p:spPr>
          <a:xfrm rot="-3363898" flipH="1" flipV="1">
            <a:off x="17613744" y="5574719"/>
            <a:ext cx="1030958" cy="898201"/>
          </a:xfrm>
          <a:custGeom>
            <a:avLst/>
            <a:gdLst/>
            <a:ahLst/>
            <a:cxnLst/>
            <a:rect l="l" t="t" r="r" b="b"/>
            <a:pathLst>
              <a:path w="1030958" h="898201">
                <a:moveTo>
                  <a:pt x="1030958" y="898201"/>
                </a:moveTo>
                <a:lnTo>
                  <a:pt x="0" y="898201"/>
                </a:lnTo>
                <a:lnTo>
                  <a:pt x="0" y="0"/>
                </a:lnTo>
                <a:lnTo>
                  <a:pt x="1030958" y="0"/>
                </a:lnTo>
                <a:lnTo>
                  <a:pt x="1030958" y="898201"/>
                </a:lnTo>
                <a:close/>
              </a:path>
            </a:pathLst>
          </a:custGeom>
          <a:blipFill>
            <a:blip>
              <a:extLst>
                <a:ext uri="{96DAC541-7B7A-43D3-8B79-37D633B846F1}">
                  <asvg:svgBlip xmlns:asvg="http://schemas.microsoft.com/office/drawing/2016/SVG/main" r:embed="rId6"/>
                </a:ext>
              </a:extLst>
            </a:blip>
            <a:stretch>
              <a:fillRect l="-103785" b="-128377"/>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TextBox 3"/>
          <p:cNvSpPr txBox="1"/>
          <p:nvPr/>
        </p:nvSpPr>
        <p:spPr>
          <a:xfrm>
            <a:off x="4320634" y="2511642"/>
            <a:ext cx="9646731" cy="3743325"/>
          </a:xfrm>
          <a:prstGeom prst="rect">
            <a:avLst/>
          </a:prstGeom>
        </p:spPr>
        <p:txBody>
          <a:bodyPr lIns="0" tIns="0" rIns="0" bIns="0" rtlCol="0" anchor="t">
            <a:spAutoFit/>
          </a:bodyPr>
          <a:lstStyle/>
          <a:p>
            <a:pPr algn="ctr">
              <a:lnSpc>
                <a:spcPts val="13200"/>
              </a:lnSpc>
            </a:pPr>
            <a:r>
              <a:rPr lang="en-US" sz="12000" b="1">
                <a:solidFill>
                  <a:srgbClr val="000000"/>
                </a:solidFill>
                <a:latin typeface="Agrandir Ultra-Bold"/>
                <a:ea typeface="Agrandir Ultra-Bold"/>
                <a:cs typeface="Agrandir Ultra-Bold"/>
                <a:sym typeface="Agrandir Ultra-Bold"/>
              </a:rPr>
              <a:t>the opening chapter</a:t>
            </a:r>
          </a:p>
        </p:txBody>
      </p:sp>
      <p:sp>
        <p:nvSpPr>
          <p:cNvPr id="4" name="Freeform 4"/>
          <p:cNvSpPr/>
          <p:nvPr/>
        </p:nvSpPr>
        <p:spPr>
          <a:xfrm rot="-2819280">
            <a:off x="287871" y="6529517"/>
            <a:ext cx="3161538" cy="4114800"/>
          </a:xfrm>
          <a:custGeom>
            <a:avLst/>
            <a:gdLst/>
            <a:ahLst/>
            <a:cxnLst/>
            <a:rect l="l" t="t" r="r" b="b"/>
            <a:pathLst>
              <a:path w="3161538" h="4114800">
                <a:moveTo>
                  <a:pt x="0" y="0"/>
                </a:moveTo>
                <a:lnTo>
                  <a:pt x="3161538" y="0"/>
                </a:lnTo>
                <a:lnTo>
                  <a:pt x="316153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3332412">
            <a:off x="2032209" y="-802252"/>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3275734">
            <a:off x="13546568" y="7590734"/>
            <a:ext cx="3620745" cy="3308456"/>
          </a:xfrm>
          <a:custGeom>
            <a:avLst/>
            <a:gdLst/>
            <a:ahLst/>
            <a:cxnLst/>
            <a:rect l="l" t="t" r="r" b="b"/>
            <a:pathLst>
              <a:path w="3620745" h="3308456">
                <a:moveTo>
                  <a:pt x="0" y="0"/>
                </a:moveTo>
                <a:lnTo>
                  <a:pt x="3620746" y="0"/>
                </a:lnTo>
                <a:lnTo>
                  <a:pt x="3620746" y="3308456"/>
                </a:lnTo>
                <a:lnTo>
                  <a:pt x="0" y="33084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2171755">
            <a:off x="12555429" y="113259"/>
            <a:ext cx="6387788" cy="4114800"/>
          </a:xfrm>
          <a:custGeom>
            <a:avLst/>
            <a:gdLst/>
            <a:ahLst/>
            <a:cxnLst/>
            <a:rect l="l" t="t" r="r" b="b"/>
            <a:pathLst>
              <a:path w="6387788" h="4114800">
                <a:moveTo>
                  <a:pt x="0" y="0"/>
                </a:moveTo>
                <a:lnTo>
                  <a:pt x="6387788" y="0"/>
                </a:lnTo>
                <a:lnTo>
                  <a:pt x="6387788"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446564">
            <a:off x="5019806" y="-286968"/>
            <a:ext cx="2544678" cy="2188423"/>
          </a:xfrm>
          <a:custGeom>
            <a:avLst/>
            <a:gdLst/>
            <a:ahLst/>
            <a:cxnLst/>
            <a:rect l="l" t="t" r="r" b="b"/>
            <a:pathLst>
              <a:path w="2544678" h="2188423">
                <a:moveTo>
                  <a:pt x="0" y="0"/>
                </a:moveTo>
                <a:lnTo>
                  <a:pt x="2544678" y="0"/>
                </a:lnTo>
                <a:lnTo>
                  <a:pt x="2544678" y="2188423"/>
                </a:lnTo>
                <a:lnTo>
                  <a:pt x="0" y="218842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rot="3983797" flipH="1">
            <a:off x="-422177" y="2639806"/>
            <a:ext cx="2901753" cy="3011253"/>
          </a:xfrm>
          <a:custGeom>
            <a:avLst/>
            <a:gdLst/>
            <a:ahLst/>
            <a:cxnLst/>
            <a:rect l="l" t="t" r="r" b="b"/>
            <a:pathLst>
              <a:path w="2901753" h="3011253">
                <a:moveTo>
                  <a:pt x="2901754" y="0"/>
                </a:moveTo>
                <a:lnTo>
                  <a:pt x="0" y="0"/>
                </a:lnTo>
                <a:lnTo>
                  <a:pt x="0" y="3011254"/>
                </a:lnTo>
                <a:lnTo>
                  <a:pt x="2901754" y="3011254"/>
                </a:lnTo>
                <a:lnTo>
                  <a:pt x="2901754"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5801176" y="8563254"/>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flipH="1" flipV="1">
            <a:off x="10479672" y="8563254"/>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Freeform 12"/>
          <p:cNvSpPr/>
          <p:nvPr/>
        </p:nvSpPr>
        <p:spPr>
          <a:xfrm>
            <a:off x="15356941" y="4072589"/>
            <a:ext cx="4401458" cy="3289089"/>
          </a:xfrm>
          <a:custGeom>
            <a:avLst/>
            <a:gdLst/>
            <a:ahLst/>
            <a:cxnLst/>
            <a:rect l="l" t="t" r="r" b="b"/>
            <a:pathLst>
              <a:path w="4401458" h="3289089">
                <a:moveTo>
                  <a:pt x="0" y="0"/>
                </a:moveTo>
                <a:lnTo>
                  <a:pt x="4401458" y="0"/>
                </a:lnTo>
                <a:lnTo>
                  <a:pt x="4401458" y="3289089"/>
                </a:lnTo>
                <a:lnTo>
                  <a:pt x="0" y="3289089"/>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flipV="1">
            <a:off x="-456937" y="807244"/>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12"/>
                </a:ext>
              </a:extLst>
            </a:blip>
            <a:stretch>
              <a:fillRect/>
            </a:stretch>
          </a:blipFill>
        </p:spPr>
      </p:sp>
      <p:sp>
        <p:nvSpPr>
          <p:cNvPr id="14" name="Freeform 14"/>
          <p:cNvSpPr/>
          <p:nvPr/>
        </p:nvSpPr>
        <p:spPr>
          <a:xfrm>
            <a:off x="9144000" y="-528163"/>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13"/>
                </a:ext>
              </a:extLst>
            </a:blip>
            <a:stretch>
              <a:fillRect/>
            </a:stretch>
          </a:blipFill>
        </p:spPr>
      </p:sp>
      <p:grpSp>
        <p:nvGrpSpPr>
          <p:cNvPr id="15" name="Group 15"/>
          <p:cNvGrpSpPr/>
          <p:nvPr/>
        </p:nvGrpSpPr>
        <p:grpSpPr>
          <a:xfrm>
            <a:off x="4194216" y="6536254"/>
            <a:ext cx="9899567" cy="1128090"/>
            <a:chOff x="0" y="0"/>
            <a:chExt cx="3471127" cy="395547"/>
          </a:xfrm>
        </p:grpSpPr>
        <p:sp>
          <p:nvSpPr>
            <p:cNvPr id="16" name="Freeform 16"/>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7" name="TextBox 17"/>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5999602" y="6738984"/>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let’s read!</a:t>
            </a:r>
          </a:p>
        </p:txBody>
      </p:sp>
      <p:sp>
        <p:nvSpPr>
          <p:cNvPr id="19" name="Freeform 19"/>
          <p:cNvSpPr/>
          <p:nvPr/>
        </p:nvSpPr>
        <p:spPr>
          <a:xfrm rot="-3363898">
            <a:off x="3509333" y="4950295"/>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4"/>
                </a:ext>
              </a:extLst>
            </a:blip>
            <a:stretch>
              <a:fillRect l="-103785" b="-128377"/>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125492" y="5743842"/>
            <a:ext cx="3578620" cy="4957787"/>
          </a:xfrm>
          <a:custGeom>
            <a:avLst/>
            <a:gdLst/>
            <a:ahLst/>
            <a:cxnLst/>
            <a:rect l="l" t="t" r="r" b="b"/>
            <a:pathLst>
              <a:path w="3578620" h="4957787">
                <a:moveTo>
                  <a:pt x="0" y="0"/>
                </a:moveTo>
                <a:lnTo>
                  <a:pt x="3578621" y="0"/>
                </a:lnTo>
                <a:lnTo>
                  <a:pt x="3578621" y="4957786"/>
                </a:lnTo>
                <a:lnTo>
                  <a:pt x="0" y="495778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2739993"/>
            <a:ext cx="7784883" cy="6353218"/>
            <a:chOff x="0" y="0"/>
            <a:chExt cx="2050340" cy="1673276"/>
          </a:xfrm>
        </p:grpSpPr>
        <p:sp>
          <p:nvSpPr>
            <p:cNvPr id="5" name="Freeform 5"/>
            <p:cNvSpPr/>
            <p:nvPr/>
          </p:nvSpPr>
          <p:spPr>
            <a:xfrm>
              <a:off x="0" y="0"/>
              <a:ext cx="2050340" cy="1673276"/>
            </a:xfrm>
            <a:custGeom>
              <a:avLst/>
              <a:gdLst/>
              <a:ahLst/>
              <a:cxnLst/>
              <a:rect l="l" t="t" r="r" b="b"/>
              <a:pathLst>
                <a:path w="2050340" h="1673276">
                  <a:moveTo>
                    <a:pt x="19890" y="0"/>
                  </a:moveTo>
                  <a:lnTo>
                    <a:pt x="2030450" y="0"/>
                  </a:lnTo>
                  <a:cubicBezTo>
                    <a:pt x="2035725" y="0"/>
                    <a:pt x="2040784" y="2096"/>
                    <a:pt x="2044514" y="5826"/>
                  </a:cubicBezTo>
                  <a:cubicBezTo>
                    <a:pt x="2048244" y="9556"/>
                    <a:pt x="2050340" y="14615"/>
                    <a:pt x="2050340" y="19890"/>
                  </a:cubicBezTo>
                  <a:lnTo>
                    <a:pt x="2050340" y="1653386"/>
                  </a:lnTo>
                  <a:cubicBezTo>
                    <a:pt x="2050340" y="1664371"/>
                    <a:pt x="2041435" y="1673276"/>
                    <a:pt x="2030450" y="1673276"/>
                  </a:cubicBezTo>
                  <a:lnTo>
                    <a:pt x="19890" y="1673276"/>
                  </a:lnTo>
                  <a:cubicBezTo>
                    <a:pt x="14615" y="1673276"/>
                    <a:pt x="9556" y="1671180"/>
                    <a:pt x="5826" y="1667450"/>
                  </a:cubicBezTo>
                  <a:cubicBezTo>
                    <a:pt x="2096" y="1663720"/>
                    <a:pt x="0" y="1658661"/>
                    <a:pt x="0" y="1653386"/>
                  </a:cubicBezTo>
                  <a:lnTo>
                    <a:pt x="0" y="19890"/>
                  </a:lnTo>
                  <a:cubicBezTo>
                    <a:pt x="0" y="14615"/>
                    <a:pt x="2096" y="9556"/>
                    <a:pt x="5826" y="5826"/>
                  </a:cubicBezTo>
                  <a:cubicBezTo>
                    <a:pt x="9556" y="2096"/>
                    <a:pt x="14615" y="0"/>
                    <a:pt x="19890" y="0"/>
                  </a:cubicBezTo>
                  <a:close/>
                </a:path>
              </a:pathLst>
            </a:custGeom>
            <a:solidFill>
              <a:srgbClr val="FFFFFF"/>
            </a:solidFill>
            <a:ln w="47625" cap="sq">
              <a:solidFill>
                <a:srgbClr val="000000"/>
              </a:solidFill>
              <a:prstDash val="solid"/>
              <a:miter/>
            </a:ln>
          </p:spPr>
        </p:sp>
        <p:sp>
          <p:nvSpPr>
            <p:cNvPr id="6" name="TextBox 6"/>
            <p:cNvSpPr txBox="1"/>
            <p:nvPr/>
          </p:nvSpPr>
          <p:spPr>
            <a:xfrm>
              <a:off x="0" y="-57150"/>
              <a:ext cx="2050340" cy="1730426"/>
            </a:xfrm>
            <a:prstGeom prst="rect">
              <a:avLst/>
            </a:prstGeom>
          </p:spPr>
          <p:txBody>
            <a:bodyPr lIns="50800" tIns="50800" rIns="50800" bIns="50800" rtlCol="0" anchor="ctr"/>
            <a:lstStyle/>
            <a:p>
              <a:pPr algn="ctr">
                <a:lnSpc>
                  <a:spcPts val="3640"/>
                </a:lnSpc>
              </a:pPr>
              <a:endParaRPr/>
            </a:p>
          </p:txBody>
        </p:sp>
      </p:grpSp>
      <p:sp>
        <p:nvSpPr>
          <p:cNvPr id="7" name="Freeform 7"/>
          <p:cNvSpPr/>
          <p:nvPr/>
        </p:nvSpPr>
        <p:spPr>
          <a:xfrm>
            <a:off x="16624182" y="2361369"/>
            <a:ext cx="2177275" cy="2558763"/>
          </a:xfrm>
          <a:custGeom>
            <a:avLst/>
            <a:gdLst/>
            <a:ahLst/>
            <a:cxnLst/>
            <a:rect l="l" t="t" r="r" b="b"/>
            <a:pathLst>
              <a:path w="2177275" h="2558763">
                <a:moveTo>
                  <a:pt x="0" y="0"/>
                </a:moveTo>
                <a:lnTo>
                  <a:pt x="2177275" y="0"/>
                </a:lnTo>
                <a:lnTo>
                  <a:pt x="2177275" y="2558763"/>
                </a:lnTo>
                <a:lnTo>
                  <a:pt x="0" y="255876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9474417" y="2739993"/>
            <a:ext cx="7784883" cy="6353218"/>
            <a:chOff x="0" y="0"/>
            <a:chExt cx="2050340" cy="1673276"/>
          </a:xfrm>
        </p:grpSpPr>
        <p:sp>
          <p:nvSpPr>
            <p:cNvPr id="9" name="Freeform 9"/>
            <p:cNvSpPr/>
            <p:nvPr/>
          </p:nvSpPr>
          <p:spPr>
            <a:xfrm>
              <a:off x="0" y="0"/>
              <a:ext cx="2050340" cy="1673276"/>
            </a:xfrm>
            <a:custGeom>
              <a:avLst/>
              <a:gdLst/>
              <a:ahLst/>
              <a:cxnLst/>
              <a:rect l="l" t="t" r="r" b="b"/>
              <a:pathLst>
                <a:path w="2050340" h="1673276">
                  <a:moveTo>
                    <a:pt x="19890" y="0"/>
                  </a:moveTo>
                  <a:lnTo>
                    <a:pt x="2030450" y="0"/>
                  </a:lnTo>
                  <a:cubicBezTo>
                    <a:pt x="2035725" y="0"/>
                    <a:pt x="2040784" y="2096"/>
                    <a:pt x="2044514" y="5826"/>
                  </a:cubicBezTo>
                  <a:cubicBezTo>
                    <a:pt x="2048244" y="9556"/>
                    <a:pt x="2050340" y="14615"/>
                    <a:pt x="2050340" y="19890"/>
                  </a:cubicBezTo>
                  <a:lnTo>
                    <a:pt x="2050340" y="1653386"/>
                  </a:lnTo>
                  <a:cubicBezTo>
                    <a:pt x="2050340" y="1664371"/>
                    <a:pt x="2041435" y="1673276"/>
                    <a:pt x="2030450" y="1673276"/>
                  </a:cubicBezTo>
                  <a:lnTo>
                    <a:pt x="19890" y="1673276"/>
                  </a:lnTo>
                  <a:cubicBezTo>
                    <a:pt x="14615" y="1673276"/>
                    <a:pt x="9556" y="1671180"/>
                    <a:pt x="5826" y="1667450"/>
                  </a:cubicBezTo>
                  <a:cubicBezTo>
                    <a:pt x="2096" y="1663720"/>
                    <a:pt x="0" y="1658661"/>
                    <a:pt x="0" y="1653386"/>
                  </a:cubicBezTo>
                  <a:lnTo>
                    <a:pt x="0" y="19890"/>
                  </a:lnTo>
                  <a:cubicBezTo>
                    <a:pt x="0" y="14615"/>
                    <a:pt x="2096" y="9556"/>
                    <a:pt x="5826" y="5826"/>
                  </a:cubicBezTo>
                  <a:cubicBezTo>
                    <a:pt x="9556" y="2096"/>
                    <a:pt x="14615" y="0"/>
                    <a:pt x="19890" y="0"/>
                  </a:cubicBezTo>
                  <a:close/>
                </a:path>
              </a:pathLst>
            </a:custGeom>
            <a:solidFill>
              <a:srgbClr val="FFFFFF"/>
            </a:solidFill>
            <a:ln w="47625" cap="sq">
              <a:solidFill>
                <a:srgbClr val="000000"/>
              </a:solidFill>
              <a:prstDash val="solid"/>
              <a:miter/>
            </a:ln>
          </p:spPr>
        </p:sp>
        <p:sp>
          <p:nvSpPr>
            <p:cNvPr id="10" name="TextBox 10"/>
            <p:cNvSpPr txBox="1"/>
            <p:nvPr/>
          </p:nvSpPr>
          <p:spPr>
            <a:xfrm>
              <a:off x="0" y="-57150"/>
              <a:ext cx="2050340" cy="1730426"/>
            </a:xfrm>
            <a:prstGeom prst="rect">
              <a:avLst/>
            </a:prstGeom>
          </p:spPr>
          <p:txBody>
            <a:bodyPr lIns="50800" tIns="50800" rIns="50800" bIns="50800" rtlCol="0" anchor="ctr"/>
            <a:lstStyle/>
            <a:p>
              <a:pPr algn="ctr">
                <a:lnSpc>
                  <a:spcPts val="3640"/>
                </a:lnSpc>
              </a:pPr>
              <a:endParaRPr/>
            </a:p>
          </p:txBody>
        </p:sp>
      </p:grpSp>
      <p:sp>
        <p:nvSpPr>
          <p:cNvPr id="11" name="Freeform 11"/>
          <p:cNvSpPr/>
          <p:nvPr/>
        </p:nvSpPr>
        <p:spPr>
          <a:xfrm>
            <a:off x="16624182" y="-1505627"/>
            <a:ext cx="2901753" cy="3011253"/>
          </a:xfrm>
          <a:custGeom>
            <a:avLst/>
            <a:gdLst/>
            <a:ahLst/>
            <a:cxnLst/>
            <a:rect l="l" t="t" r="r" b="b"/>
            <a:pathLst>
              <a:path w="2901753" h="3011253">
                <a:moveTo>
                  <a:pt x="0" y="0"/>
                </a:moveTo>
                <a:lnTo>
                  <a:pt x="2901753" y="0"/>
                </a:lnTo>
                <a:lnTo>
                  <a:pt x="2901753" y="3011254"/>
                </a:lnTo>
                <a:lnTo>
                  <a:pt x="0" y="30112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rot="-3363898">
            <a:off x="14677166" y="-98790"/>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13" name="Freeform 13"/>
          <p:cNvSpPr/>
          <p:nvPr/>
        </p:nvSpPr>
        <p:spPr>
          <a:xfrm rot="-3363898" flipH="1" flipV="1">
            <a:off x="4075799" y="9574138"/>
            <a:ext cx="1030958" cy="898201"/>
          </a:xfrm>
          <a:custGeom>
            <a:avLst/>
            <a:gdLst/>
            <a:ahLst/>
            <a:cxnLst/>
            <a:rect l="l" t="t" r="r" b="b"/>
            <a:pathLst>
              <a:path w="1030958" h="898201">
                <a:moveTo>
                  <a:pt x="1030958" y="898201"/>
                </a:moveTo>
                <a:lnTo>
                  <a:pt x="0" y="898201"/>
                </a:lnTo>
                <a:lnTo>
                  <a:pt x="0" y="0"/>
                </a:lnTo>
                <a:lnTo>
                  <a:pt x="1030958" y="0"/>
                </a:lnTo>
                <a:lnTo>
                  <a:pt x="1030958" y="898201"/>
                </a:lnTo>
                <a:close/>
              </a:path>
            </a:pathLst>
          </a:custGeom>
          <a:blipFill>
            <a:blip>
              <a:extLst>
                <a:ext uri="{96DAC541-7B7A-43D3-8B79-37D633B846F1}">
                  <asvg:svgBlip xmlns:asvg="http://schemas.microsoft.com/office/drawing/2016/SVG/main" r:embed="rId6"/>
                </a:ext>
              </a:extLst>
            </a:blip>
            <a:stretch>
              <a:fillRect l="-103785" b="-128377"/>
            </a:stretch>
          </a:blipFill>
        </p:spPr>
      </p:sp>
      <p:sp>
        <p:nvSpPr>
          <p:cNvPr id="14" name="Freeform 14"/>
          <p:cNvSpPr/>
          <p:nvPr/>
        </p:nvSpPr>
        <p:spPr>
          <a:xfrm>
            <a:off x="12929823" y="-334715"/>
            <a:ext cx="1323752" cy="1363415"/>
          </a:xfrm>
          <a:custGeom>
            <a:avLst/>
            <a:gdLst/>
            <a:ahLst/>
            <a:cxnLst/>
            <a:rect l="l" t="t" r="r" b="b"/>
            <a:pathLst>
              <a:path w="1323752" h="1363415">
                <a:moveTo>
                  <a:pt x="0" y="0"/>
                </a:moveTo>
                <a:lnTo>
                  <a:pt x="1323752" y="0"/>
                </a:lnTo>
                <a:lnTo>
                  <a:pt x="1323752" y="1363415"/>
                </a:lnTo>
                <a:lnTo>
                  <a:pt x="0" y="136341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1028700" y="1031864"/>
            <a:ext cx="16230600" cy="1377950"/>
          </a:xfrm>
          <a:prstGeom prst="rect">
            <a:avLst/>
          </a:prstGeom>
        </p:spPr>
        <p:txBody>
          <a:bodyPr lIns="0" tIns="0" rIns="0" bIns="0" rtlCol="0" anchor="t">
            <a:spAutoFit/>
          </a:bodyPr>
          <a:lstStyle/>
          <a:p>
            <a:pPr algn="ctr">
              <a:lnSpc>
                <a:spcPts val="8800"/>
              </a:lnSpc>
            </a:pPr>
            <a:r>
              <a:rPr lang="en-US" sz="8000" b="1">
                <a:solidFill>
                  <a:srgbClr val="000000"/>
                </a:solidFill>
                <a:latin typeface="Agrandir Ultra-Bold"/>
                <a:ea typeface="Agrandir Ultra-Bold"/>
                <a:cs typeface="Agrandir Ultra-Bold"/>
                <a:sym typeface="Agrandir Ultra-Bold"/>
              </a:rPr>
              <a:t>why is the opening important?</a:t>
            </a:r>
          </a:p>
        </p:txBody>
      </p:sp>
      <p:sp>
        <p:nvSpPr>
          <p:cNvPr id="16" name="TextBox 16"/>
          <p:cNvSpPr txBox="1"/>
          <p:nvPr/>
        </p:nvSpPr>
        <p:spPr>
          <a:xfrm>
            <a:off x="1663818" y="3418512"/>
            <a:ext cx="6514647" cy="4939030"/>
          </a:xfrm>
          <a:prstGeom prst="rect">
            <a:avLst/>
          </a:prstGeom>
        </p:spPr>
        <p:txBody>
          <a:bodyPr lIns="0" tIns="0" rIns="0" bIns="0" rtlCol="0" anchor="t">
            <a:spAutoFit/>
          </a:bodyPr>
          <a:lstStyle/>
          <a:p>
            <a:pPr algn="l">
              <a:lnSpc>
                <a:spcPts val="3919"/>
              </a:lnSpc>
            </a:pPr>
            <a:r>
              <a:rPr lang="en-US" sz="2799">
                <a:solidFill>
                  <a:srgbClr val="000000"/>
                </a:solidFill>
                <a:latin typeface="Garet"/>
                <a:ea typeface="Garet"/>
                <a:cs typeface="Garet"/>
                <a:sym typeface="Garet"/>
              </a:rPr>
              <a:t>The opening chapter of a novel is important for several reasons:</a:t>
            </a:r>
          </a:p>
          <a:p>
            <a:pPr algn="l">
              <a:lnSpc>
                <a:spcPts val="3919"/>
              </a:lnSpc>
            </a:pPr>
            <a:endParaRPr lang="en-US" sz="2799">
              <a:solidFill>
                <a:srgbClr val="000000"/>
              </a:solidFill>
              <a:latin typeface="Garet"/>
              <a:ea typeface="Garet"/>
              <a:cs typeface="Garet"/>
              <a:sym typeface="Garet"/>
            </a:endParaRPr>
          </a:p>
          <a:p>
            <a:pPr marL="604519" lvl="1" indent="-302260" algn="l">
              <a:lnSpc>
                <a:spcPts val="3919"/>
              </a:lnSpc>
              <a:buFont typeface="Arial"/>
              <a:buChar char="•"/>
            </a:pPr>
            <a:r>
              <a:rPr lang="en-US" sz="2799">
                <a:solidFill>
                  <a:srgbClr val="000000"/>
                </a:solidFill>
                <a:latin typeface="Garet"/>
                <a:ea typeface="Garet"/>
                <a:cs typeface="Garet"/>
                <a:sym typeface="Garet"/>
              </a:rPr>
              <a:t>captures the readers attention</a:t>
            </a:r>
          </a:p>
          <a:p>
            <a:pPr marL="604519" lvl="1" indent="-302260" algn="l">
              <a:lnSpc>
                <a:spcPts val="3919"/>
              </a:lnSpc>
              <a:buFont typeface="Arial"/>
              <a:buChar char="•"/>
            </a:pPr>
            <a:r>
              <a:rPr lang="en-US" sz="2799">
                <a:solidFill>
                  <a:srgbClr val="000000"/>
                </a:solidFill>
                <a:latin typeface="Garet"/>
                <a:ea typeface="Garet"/>
                <a:cs typeface="Garet"/>
                <a:sym typeface="Garet"/>
              </a:rPr>
              <a:t>establishes setting and atmosphere</a:t>
            </a:r>
          </a:p>
          <a:p>
            <a:pPr marL="604519" lvl="1" indent="-302260" algn="l">
              <a:lnSpc>
                <a:spcPts val="3919"/>
              </a:lnSpc>
              <a:buFont typeface="Arial"/>
              <a:buChar char="•"/>
            </a:pPr>
            <a:r>
              <a:rPr lang="en-US" sz="2799">
                <a:solidFill>
                  <a:srgbClr val="000000"/>
                </a:solidFill>
                <a:latin typeface="Garet"/>
                <a:ea typeface="Garet"/>
                <a:cs typeface="Garet"/>
                <a:sym typeface="Garet"/>
              </a:rPr>
              <a:t>introduces key characters</a:t>
            </a:r>
          </a:p>
          <a:p>
            <a:pPr marL="604519" lvl="1" indent="-302260" algn="l">
              <a:lnSpc>
                <a:spcPts val="3919"/>
              </a:lnSpc>
              <a:buFont typeface="Arial"/>
              <a:buChar char="•"/>
            </a:pPr>
            <a:r>
              <a:rPr lang="en-US" sz="2799">
                <a:solidFill>
                  <a:srgbClr val="000000"/>
                </a:solidFill>
                <a:latin typeface="Garet"/>
                <a:ea typeface="Garet"/>
                <a:cs typeface="Garet"/>
                <a:sym typeface="Garet"/>
              </a:rPr>
              <a:t>hints at conflicts and themes</a:t>
            </a:r>
          </a:p>
          <a:p>
            <a:pPr marL="604519" lvl="1" indent="-302260" algn="l">
              <a:lnSpc>
                <a:spcPts val="3919"/>
              </a:lnSpc>
              <a:buFont typeface="Arial"/>
              <a:buChar char="•"/>
            </a:pPr>
            <a:r>
              <a:rPr lang="en-US" sz="2799">
                <a:solidFill>
                  <a:srgbClr val="000000"/>
                </a:solidFill>
                <a:latin typeface="Garet"/>
                <a:ea typeface="Garet"/>
                <a:cs typeface="Garet"/>
                <a:sym typeface="Garet"/>
              </a:rPr>
              <a:t>establishes narrative voice, tone and style</a:t>
            </a:r>
          </a:p>
        </p:txBody>
      </p:sp>
      <p:sp>
        <p:nvSpPr>
          <p:cNvPr id="17" name="TextBox 17"/>
          <p:cNvSpPr txBox="1"/>
          <p:nvPr/>
        </p:nvSpPr>
        <p:spPr>
          <a:xfrm>
            <a:off x="10109535" y="3418512"/>
            <a:ext cx="6514647" cy="49390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Most importantly, it serves as the reader's first impression of the story and sets the stage for the entire reading experience. </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A strong opening can draw readers in, establish key elements of the narrative, and create a sense of anticipation that keeps readers engaged throughout the novel.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2993547">
            <a:off x="15034174" y="8473437"/>
            <a:ext cx="4450252" cy="1569725"/>
          </a:xfrm>
          <a:custGeom>
            <a:avLst/>
            <a:gdLst/>
            <a:ahLst/>
            <a:cxnLst/>
            <a:rect l="l" t="t" r="r" b="b"/>
            <a:pathLst>
              <a:path w="4450252" h="1569725">
                <a:moveTo>
                  <a:pt x="0" y="0"/>
                </a:moveTo>
                <a:lnTo>
                  <a:pt x="4450252" y="0"/>
                </a:lnTo>
                <a:lnTo>
                  <a:pt x="4450252" y="1569726"/>
                </a:lnTo>
                <a:lnTo>
                  <a:pt x="0" y="156972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968718" y="-605742"/>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275830" y="4315831"/>
            <a:ext cx="2609059" cy="2466747"/>
          </a:xfrm>
          <a:custGeom>
            <a:avLst/>
            <a:gdLst/>
            <a:ahLst/>
            <a:cxnLst/>
            <a:rect l="l" t="t" r="r" b="b"/>
            <a:pathLst>
              <a:path w="2609059" h="2466747">
                <a:moveTo>
                  <a:pt x="0" y="0"/>
                </a:moveTo>
                <a:lnTo>
                  <a:pt x="2609060" y="0"/>
                </a:lnTo>
                <a:lnTo>
                  <a:pt x="2609060" y="2466747"/>
                </a:lnTo>
                <a:lnTo>
                  <a:pt x="0" y="24667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flipV="1">
            <a:off x="12892866" y="8368393"/>
            <a:ext cx="1862793" cy="1918607"/>
          </a:xfrm>
          <a:custGeom>
            <a:avLst/>
            <a:gdLst/>
            <a:ahLst/>
            <a:cxnLst/>
            <a:rect l="l" t="t" r="r" b="b"/>
            <a:pathLst>
              <a:path w="1862793" h="1918607">
                <a:moveTo>
                  <a:pt x="0" y="1918607"/>
                </a:moveTo>
                <a:lnTo>
                  <a:pt x="1862794" y="1918607"/>
                </a:lnTo>
                <a:lnTo>
                  <a:pt x="1862794" y="0"/>
                </a:lnTo>
                <a:lnTo>
                  <a:pt x="0" y="0"/>
                </a:lnTo>
                <a:lnTo>
                  <a:pt x="0" y="1918607"/>
                </a:lnTo>
                <a:close/>
              </a:path>
            </a:pathLst>
          </a:custGeom>
          <a:blipFill>
            <a:blip>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663147" y="2905082"/>
            <a:ext cx="14961707" cy="6353218"/>
            <a:chOff x="0" y="0"/>
            <a:chExt cx="3940532" cy="1673276"/>
          </a:xfrm>
        </p:grpSpPr>
        <p:sp>
          <p:nvSpPr>
            <p:cNvPr id="8" name="Freeform 8"/>
            <p:cNvSpPr/>
            <p:nvPr/>
          </p:nvSpPr>
          <p:spPr>
            <a:xfrm>
              <a:off x="0" y="0"/>
              <a:ext cx="3940532" cy="1673276"/>
            </a:xfrm>
            <a:custGeom>
              <a:avLst/>
              <a:gdLst/>
              <a:ahLst/>
              <a:cxnLst/>
              <a:rect l="l" t="t" r="r" b="b"/>
              <a:pathLst>
                <a:path w="3940532" h="1673276">
                  <a:moveTo>
                    <a:pt x="10349" y="0"/>
                  </a:moveTo>
                  <a:lnTo>
                    <a:pt x="3930183" y="0"/>
                  </a:lnTo>
                  <a:cubicBezTo>
                    <a:pt x="3932928" y="0"/>
                    <a:pt x="3935560" y="1090"/>
                    <a:pt x="3937501" y="3031"/>
                  </a:cubicBezTo>
                  <a:cubicBezTo>
                    <a:pt x="3939442" y="4972"/>
                    <a:pt x="3940532" y="7604"/>
                    <a:pt x="3940532" y="10349"/>
                  </a:cubicBezTo>
                  <a:lnTo>
                    <a:pt x="3940532" y="1662927"/>
                  </a:lnTo>
                  <a:cubicBezTo>
                    <a:pt x="3940532" y="1668642"/>
                    <a:pt x="3935899" y="1673276"/>
                    <a:pt x="3930183" y="1673276"/>
                  </a:cubicBezTo>
                  <a:lnTo>
                    <a:pt x="10349" y="1673276"/>
                  </a:lnTo>
                  <a:cubicBezTo>
                    <a:pt x="7604" y="1673276"/>
                    <a:pt x="4972" y="1672185"/>
                    <a:pt x="3031" y="1670244"/>
                  </a:cubicBezTo>
                  <a:cubicBezTo>
                    <a:pt x="1090" y="1668304"/>
                    <a:pt x="0" y="1665671"/>
                    <a:pt x="0" y="1662927"/>
                  </a:cubicBezTo>
                  <a:lnTo>
                    <a:pt x="0" y="10349"/>
                  </a:lnTo>
                  <a:cubicBezTo>
                    <a:pt x="0" y="7604"/>
                    <a:pt x="1090" y="4972"/>
                    <a:pt x="3031" y="3031"/>
                  </a:cubicBezTo>
                  <a:cubicBezTo>
                    <a:pt x="4972" y="1090"/>
                    <a:pt x="7604" y="0"/>
                    <a:pt x="10349" y="0"/>
                  </a:cubicBezTo>
                  <a:close/>
                </a:path>
              </a:pathLst>
            </a:custGeom>
            <a:solidFill>
              <a:srgbClr val="FFFFFF"/>
            </a:solidFill>
            <a:ln w="47625" cap="sq">
              <a:solidFill>
                <a:srgbClr val="000000"/>
              </a:solidFill>
              <a:prstDash val="solid"/>
              <a:miter/>
            </a:ln>
          </p:spPr>
        </p:sp>
        <p:sp>
          <p:nvSpPr>
            <p:cNvPr id="9" name="TextBox 9"/>
            <p:cNvSpPr txBox="1"/>
            <p:nvPr/>
          </p:nvSpPr>
          <p:spPr>
            <a:xfrm>
              <a:off x="0" y="-57150"/>
              <a:ext cx="3940532" cy="1730426"/>
            </a:xfrm>
            <a:prstGeom prst="rect">
              <a:avLst/>
            </a:prstGeom>
          </p:spPr>
          <p:txBody>
            <a:bodyPr lIns="50800" tIns="50800" rIns="50800" bIns="50800" rtlCol="0" anchor="ctr"/>
            <a:lstStyle/>
            <a:p>
              <a:pPr algn="ctr">
                <a:lnSpc>
                  <a:spcPts val="3640"/>
                </a:lnSpc>
              </a:pPr>
              <a:endParaRPr/>
            </a:p>
          </p:txBody>
        </p:sp>
      </p:grpSp>
      <p:sp>
        <p:nvSpPr>
          <p:cNvPr id="10" name="TextBox 10"/>
          <p:cNvSpPr txBox="1"/>
          <p:nvPr/>
        </p:nvSpPr>
        <p:spPr>
          <a:xfrm>
            <a:off x="2559743" y="3764078"/>
            <a:ext cx="13168514" cy="4939030"/>
          </a:xfrm>
          <a:prstGeom prst="rect">
            <a:avLst/>
          </a:prstGeom>
        </p:spPr>
        <p:txBody>
          <a:bodyPr lIns="0" tIns="0" rIns="0" bIns="0" rtlCol="0" anchor="t">
            <a:spAutoFit/>
          </a:bodyPr>
          <a:lstStyle/>
          <a:p>
            <a:pPr algn="ctr">
              <a:lnSpc>
                <a:spcPts val="3919"/>
              </a:lnSpc>
            </a:pPr>
            <a:r>
              <a:rPr lang="en-US" sz="2799">
                <a:solidFill>
                  <a:srgbClr val="000000"/>
                </a:solidFill>
                <a:latin typeface="Garet"/>
                <a:ea typeface="Garet"/>
                <a:cs typeface="Garet"/>
                <a:sym typeface="Garet"/>
              </a:rPr>
              <a:t>Read the opening chapter of the novel carefully, paying close attention to details such as descriptive language, character introductions, and the overall mood or atmosphere created by the author. </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Note down any unfamiliar or significant vocabulary as you read. You can search and define these terms as you go or after you’ve finished.</a:t>
            </a:r>
          </a:p>
          <a:p>
            <a:pPr algn="ctr">
              <a:lnSpc>
                <a:spcPts val="3919"/>
              </a:lnSpc>
            </a:pPr>
            <a:endParaRPr lang="en-US" sz="2799">
              <a:solidFill>
                <a:srgbClr val="000000"/>
              </a:solidFill>
              <a:latin typeface="Garet"/>
              <a:ea typeface="Garet"/>
              <a:cs typeface="Garet"/>
              <a:sym typeface="Garet"/>
            </a:endParaRPr>
          </a:p>
          <a:p>
            <a:pPr algn="ctr">
              <a:lnSpc>
                <a:spcPts val="3919"/>
              </a:lnSpc>
            </a:pPr>
            <a:r>
              <a:rPr lang="en-US" sz="2799">
                <a:solidFill>
                  <a:srgbClr val="000000"/>
                </a:solidFill>
                <a:latin typeface="Garet"/>
                <a:ea typeface="Garet"/>
                <a:cs typeface="Garet"/>
                <a:sym typeface="Garet"/>
              </a:rPr>
              <a:t>Then, working individually or with a partner, analyse the literary elements present in the text using the guided questions. You can make notes in any style that works for you (table, mind map etc.)</a:t>
            </a:r>
          </a:p>
        </p:txBody>
      </p:sp>
      <p:grpSp>
        <p:nvGrpSpPr>
          <p:cNvPr id="11" name="Group 11"/>
          <p:cNvGrpSpPr/>
          <p:nvPr/>
        </p:nvGrpSpPr>
        <p:grpSpPr>
          <a:xfrm>
            <a:off x="4194216" y="2341036"/>
            <a:ext cx="9899567" cy="1128090"/>
            <a:chOff x="0" y="0"/>
            <a:chExt cx="13199423" cy="1504121"/>
          </a:xfrm>
        </p:grpSpPr>
        <p:grpSp>
          <p:nvGrpSpPr>
            <p:cNvPr id="12" name="Group 12"/>
            <p:cNvGrpSpPr/>
            <p:nvPr/>
          </p:nvGrpSpPr>
          <p:grpSpPr>
            <a:xfrm>
              <a:off x="0" y="0"/>
              <a:ext cx="13199423" cy="1504121"/>
              <a:chOff x="0" y="0"/>
              <a:chExt cx="3471127" cy="395547"/>
            </a:xfrm>
          </p:grpSpPr>
          <p:sp>
            <p:nvSpPr>
              <p:cNvPr id="13" name="Freeform 13"/>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4" name="TextBox 14"/>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2407181" y="295707"/>
              <a:ext cx="8385062" cy="836507"/>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analysis</a:t>
              </a:r>
            </a:p>
          </p:txBody>
        </p:sp>
      </p:grpSp>
      <p:sp>
        <p:nvSpPr>
          <p:cNvPr id="16" name="Freeform 16"/>
          <p:cNvSpPr/>
          <p:nvPr/>
        </p:nvSpPr>
        <p:spPr>
          <a:xfrm rot="1793795">
            <a:off x="1190015" y="100515"/>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7" name="Freeform 17"/>
          <p:cNvSpPr/>
          <p:nvPr/>
        </p:nvSpPr>
        <p:spPr>
          <a:xfrm flipH="1" flipV="1">
            <a:off x="4194216" y="0"/>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8"/>
                </a:ext>
              </a:extLst>
            </a:blip>
            <a:stretch>
              <a:fillRect/>
            </a:stretch>
          </a:blipFill>
        </p:spPr>
      </p:sp>
      <p:sp>
        <p:nvSpPr>
          <p:cNvPr id="18" name="Freeform 18"/>
          <p:cNvSpPr/>
          <p:nvPr/>
        </p:nvSpPr>
        <p:spPr>
          <a:xfrm rot="-3363898">
            <a:off x="16743821" y="5923324"/>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9"/>
                </a:ext>
              </a:extLst>
            </a:blip>
            <a:stretch>
              <a:fillRect l="-103785" b="-128377"/>
            </a:stretch>
          </a:blipFill>
        </p:spPr>
      </p:sp>
      <p:sp>
        <p:nvSpPr>
          <p:cNvPr id="19" name="TextBox 19"/>
          <p:cNvSpPr txBox="1"/>
          <p:nvPr/>
        </p:nvSpPr>
        <p:spPr>
          <a:xfrm>
            <a:off x="6340854" y="638175"/>
            <a:ext cx="5606292" cy="1606549"/>
          </a:xfrm>
          <a:prstGeom prst="rect">
            <a:avLst/>
          </a:prstGeom>
        </p:spPr>
        <p:txBody>
          <a:bodyPr lIns="0" tIns="0" rIns="0" bIns="0" rtlCol="0" anchor="t">
            <a:spAutoFit/>
          </a:bodyPr>
          <a:lstStyle/>
          <a:p>
            <a:pPr algn="ctr">
              <a:lnSpc>
                <a:spcPts val="11200"/>
              </a:lnSpc>
            </a:pPr>
            <a:r>
              <a:rPr lang="en-US" sz="8000" b="1">
                <a:solidFill>
                  <a:srgbClr val="000000"/>
                </a:solidFill>
                <a:latin typeface="Agrandir Ultra-Bold"/>
                <a:ea typeface="Agrandir Ultra-Bold"/>
                <a:cs typeface="Agrandir Ultra-Bold"/>
                <a:sym typeface="Agrandir Ultra-Bold"/>
              </a:rPr>
              <a:t>activity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flipV="1">
            <a:off x="12331006" y="-715382"/>
            <a:ext cx="1864671" cy="1920541"/>
          </a:xfrm>
          <a:custGeom>
            <a:avLst/>
            <a:gdLst/>
            <a:ahLst/>
            <a:cxnLst/>
            <a:rect l="l" t="t" r="r" b="b"/>
            <a:pathLst>
              <a:path w="1864671" h="1920541">
                <a:moveTo>
                  <a:pt x="0" y="1920541"/>
                </a:moveTo>
                <a:lnTo>
                  <a:pt x="1864671" y="1920541"/>
                </a:lnTo>
                <a:lnTo>
                  <a:pt x="1864671" y="0"/>
                </a:lnTo>
                <a:lnTo>
                  <a:pt x="0" y="0"/>
                </a:lnTo>
                <a:lnTo>
                  <a:pt x="0" y="192054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634173">
            <a:off x="-144728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009998" y="8571865"/>
            <a:ext cx="2466363" cy="2269054"/>
          </a:xfrm>
          <a:custGeom>
            <a:avLst/>
            <a:gdLst/>
            <a:ahLst/>
            <a:cxnLst/>
            <a:rect l="l" t="t" r="r" b="b"/>
            <a:pathLst>
              <a:path w="2466363" h="2269054">
                <a:moveTo>
                  <a:pt x="0" y="0"/>
                </a:moveTo>
                <a:lnTo>
                  <a:pt x="2466363" y="0"/>
                </a:lnTo>
                <a:lnTo>
                  <a:pt x="2466363" y="2269054"/>
                </a:lnTo>
                <a:lnTo>
                  <a:pt x="0" y="226905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028700" y="1417249"/>
            <a:ext cx="5165399" cy="7664591"/>
            <a:chOff x="0" y="0"/>
            <a:chExt cx="1360434" cy="2018658"/>
          </a:xfrm>
        </p:grpSpPr>
        <p:sp>
          <p:nvSpPr>
            <p:cNvPr id="7" name="Freeform 7"/>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8" name="TextBox 8"/>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grpSp>
        <p:nvGrpSpPr>
          <p:cNvPr id="9" name="Group 9"/>
          <p:cNvGrpSpPr/>
          <p:nvPr/>
        </p:nvGrpSpPr>
        <p:grpSpPr>
          <a:xfrm>
            <a:off x="6561300" y="1417249"/>
            <a:ext cx="5165399" cy="7664591"/>
            <a:chOff x="0" y="0"/>
            <a:chExt cx="1360434" cy="2018658"/>
          </a:xfrm>
        </p:grpSpPr>
        <p:sp>
          <p:nvSpPr>
            <p:cNvPr id="10" name="Freeform 10"/>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1" name="TextBox 11"/>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sp>
        <p:nvSpPr>
          <p:cNvPr id="12" name="Freeform 12"/>
          <p:cNvSpPr/>
          <p:nvPr/>
        </p:nvSpPr>
        <p:spPr>
          <a:xfrm rot="-8313930">
            <a:off x="14849417" y="-43437"/>
            <a:ext cx="4288549" cy="2144274"/>
          </a:xfrm>
          <a:custGeom>
            <a:avLst/>
            <a:gdLst/>
            <a:ahLst/>
            <a:cxnLst/>
            <a:rect l="l" t="t" r="r" b="b"/>
            <a:pathLst>
              <a:path w="4288549" h="2144274">
                <a:moveTo>
                  <a:pt x="0" y="0"/>
                </a:moveTo>
                <a:lnTo>
                  <a:pt x="4288549" y="0"/>
                </a:lnTo>
                <a:lnTo>
                  <a:pt x="4288549" y="2144274"/>
                </a:lnTo>
                <a:lnTo>
                  <a:pt x="0" y="2144274"/>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3" name="Group 13"/>
          <p:cNvGrpSpPr/>
          <p:nvPr/>
        </p:nvGrpSpPr>
        <p:grpSpPr>
          <a:xfrm>
            <a:off x="12093901" y="1417249"/>
            <a:ext cx="5165399" cy="7664591"/>
            <a:chOff x="0" y="0"/>
            <a:chExt cx="1360434" cy="2018658"/>
          </a:xfrm>
        </p:grpSpPr>
        <p:sp>
          <p:nvSpPr>
            <p:cNvPr id="14" name="Freeform 14"/>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5" name="TextBox 15"/>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sp>
        <p:nvSpPr>
          <p:cNvPr id="16" name="TextBox 16"/>
          <p:cNvSpPr txBox="1"/>
          <p:nvPr/>
        </p:nvSpPr>
        <p:spPr>
          <a:xfrm>
            <a:off x="6888004" y="2308225"/>
            <a:ext cx="4511992" cy="62636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List the characters introduced in the opening chapter.</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Describe each character's appearance, personality traits, and motivations. </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How does the author reveal information about them through their actions, dialogue or interactions with others? Record key quotes.</a:t>
            </a:r>
          </a:p>
        </p:txBody>
      </p:sp>
      <p:sp>
        <p:nvSpPr>
          <p:cNvPr id="17" name="TextBox 17"/>
          <p:cNvSpPr txBox="1"/>
          <p:nvPr/>
        </p:nvSpPr>
        <p:spPr>
          <a:xfrm>
            <a:off x="1355403" y="2517775"/>
            <a:ext cx="4511992" cy="58445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Describe the time period and location where the opening chapter takes place.</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What details does the author provide to establish the setting? Record key quotes.</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How does the setting contribute to the mood or atmosphere of the chapter?</a:t>
            </a:r>
          </a:p>
        </p:txBody>
      </p:sp>
      <p:sp>
        <p:nvSpPr>
          <p:cNvPr id="18" name="TextBox 18"/>
          <p:cNvSpPr txBox="1"/>
          <p:nvPr/>
        </p:nvSpPr>
        <p:spPr>
          <a:xfrm>
            <a:off x="12420604" y="2517775"/>
            <a:ext cx="4511992" cy="58445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Identify any themes or ideas introduced in the opening chapter.</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How might these themes relate to the overall message or purpose of the novel?</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Are there any hints towards potential conflicts in the novel? If so, describe and/or predict.</a:t>
            </a:r>
          </a:p>
        </p:txBody>
      </p:sp>
      <p:sp>
        <p:nvSpPr>
          <p:cNvPr id="19" name="TextBox 19"/>
          <p:cNvSpPr txBox="1"/>
          <p:nvPr/>
        </p:nvSpPr>
        <p:spPr>
          <a:xfrm>
            <a:off x="1265805"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setting</a:t>
            </a:r>
          </a:p>
        </p:txBody>
      </p:sp>
      <p:sp>
        <p:nvSpPr>
          <p:cNvPr id="20" name="TextBox 20"/>
          <p:cNvSpPr txBox="1"/>
          <p:nvPr/>
        </p:nvSpPr>
        <p:spPr>
          <a:xfrm>
            <a:off x="6798405"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characters</a:t>
            </a:r>
          </a:p>
        </p:txBody>
      </p:sp>
      <p:sp>
        <p:nvSpPr>
          <p:cNvPr id="21" name="TextBox 21"/>
          <p:cNvSpPr txBox="1"/>
          <p:nvPr/>
        </p:nvSpPr>
        <p:spPr>
          <a:xfrm>
            <a:off x="12331006"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themes &amp; conflicts</a:t>
            </a:r>
          </a:p>
        </p:txBody>
      </p:sp>
      <p:sp>
        <p:nvSpPr>
          <p:cNvPr id="22" name="Freeform 22"/>
          <p:cNvSpPr/>
          <p:nvPr/>
        </p:nvSpPr>
        <p:spPr>
          <a:xfrm rot="-3363898">
            <a:off x="-147152" y="5478834"/>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3" name="Freeform 23"/>
          <p:cNvSpPr/>
          <p:nvPr/>
        </p:nvSpPr>
        <p:spPr>
          <a:xfrm rot="-3363898">
            <a:off x="17404194" y="3480786"/>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a:off x="709646" y="-1806094"/>
            <a:ext cx="2901753" cy="3011253"/>
          </a:xfrm>
          <a:custGeom>
            <a:avLst/>
            <a:gdLst/>
            <a:ahLst/>
            <a:cxnLst/>
            <a:rect l="l" t="t" r="r" b="b"/>
            <a:pathLst>
              <a:path w="2901753" h="3011253">
                <a:moveTo>
                  <a:pt x="0" y="0"/>
                </a:moveTo>
                <a:lnTo>
                  <a:pt x="2901754" y="0"/>
                </a:lnTo>
                <a:lnTo>
                  <a:pt x="2901754" y="3011253"/>
                </a:lnTo>
                <a:lnTo>
                  <a:pt x="0" y="30112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896445" y="1028700"/>
            <a:ext cx="2837172" cy="2837172"/>
          </a:xfrm>
          <a:custGeom>
            <a:avLst/>
            <a:gdLst/>
            <a:ahLst/>
            <a:cxnLst/>
            <a:rect l="l" t="t" r="r" b="b"/>
            <a:pathLst>
              <a:path w="2837172" h="2837172">
                <a:moveTo>
                  <a:pt x="0" y="0"/>
                </a:moveTo>
                <a:lnTo>
                  <a:pt x="2837173" y="0"/>
                </a:lnTo>
                <a:lnTo>
                  <a:pt x="2837173" y="2837172"/>
                </a:lnTo>
                <a:lnTo>
                  <a:pt x="0" y="283717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028700" y="1417249"/>
            <a:ext cx="5165399" cy="7664591"/>
            <a:chOff x="0" y="0"/>
            <a:chExt cx="1360434" cy="2018658"/>
          </a:xfrm>
        </p:grpSpPr>
        <p:sp>
          <p:nvSpPr>
            <p:cNvPr id="6" name="Freeform 6"/>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7" name="TextBox 7"/>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6561300" y="1417249"/>
            <a:ext cx="5165399" cy="7664591"/>
            <a:chOff x="0" y="0"/>
            <a:chExt cx="1360434" cy="2018658"/>
          </a:xfrm>
        </p:grpSpPr>
        <p:sp>
          <p:nvSpPr>
            <p:cNvPr id="9" name="Freeform 9"/>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0" name="TextBox 10"/>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sp>
        <p:nvSpPr>
          <p:cNvPr id="11" name="Freeform 11"/>
          <p:cNvSpPr/>
          <p:nvPr/>
        </p:nvSpPr>
        <p:spPr>
          <a:xfrm>
            <a:off x="15901771" y="8025522"/>
            <a:ext cx="2715058" cy="2566964"/>
          </a:xfrm>
          <a:custGeom>
            <a:avLst/>
            <a:gdLst/>
            <a:ahLst/>
            <a:cxnLst/>
            <a:rect l="l" t="t" r="r" b="b"/>
            <a:pathLst>
              <a:path w="2715058" h="2566964">
                <a:moveTo>
                  <a:pt x="0" y="0"/>
                </a:moveTo>
                <a:lnTo>
                  <a:pt x="2715058" y="0"/>
                </a:lnTo>
                <a:lnTo>
                  <a:pt x="2715058" y="2566964"/>
                </a:lnTo>
                <a:lnTo>
                  <a:pt x="0" y="256696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rot="-3235646">
            <a:off x="12363359" y="8781373"/>
            <a:ext cx="2901753" cy="3011253"/>
          </a:xfrm>
          <a:custGeom>
            <a:avLst/>
            <a:gdLst/>
            <a:ahLst/>
            <a:cxnLst/>
            <a:rect l="l" t="t" r="r" b="b"/>
            <a:pathLst>
              <a:path w="2901753" h="3011253">
                <a:moveTo>
                  <a:pt x="0" y="0"/>
                </a:moveTo>
                <a:lnTo>
                  <a:pt x="2901753" y="0"/>
                </a:lnTo>
                <a:lnTo>
                  <a:pt x="2901753" y="3011254"/>
                </a:lnTo>
                <a:lnTo>
                  <a:pt x="0" y="3011254"/>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3" name="Group 13"/>
          <p:cNvGrpSpPr/>
          <p:nvPr/>
        </p:nvGrpSpPr>
        <p:grpSpPr>
          <a:xfrm>
            <a:off x="12093901" y="1417249"/>
            <a:ext cx="5165399" cy="7664591"/>
            <a:chOff x="0" y="0"/>
            <a:chExt cx="1360434" cy="2018658"/>
          </a:xfrm>
        </p:grpSpPr>
        <p:sp>
          <p:nvSpPr>
            <p:cNvPr id="14" name="Freeform 14"/>
            <p:cNvSpPr/>
            <p:nvPr/>
          </p:nvSpPr>
          <p:spPr>
            <a:xfrm>
              <a:off x="0" y="0"/>
              <a:ext cx="1360434" cy="2018658"/>
            </a:xfrm>
            <a:custGeom>
              <a:avLst/>
              <a:gdLst/>
              <a:ahLst/>
              <a:cxnLst/>
              <a:rect l="l" t="t" r="r" b="b"/>
              <a:pathLst>
                <a:path w="1360434" h="2018658">
                  <a:moveTo>
                    <a:pt x="29976" y="0"/>
                  </a:moveTo>
                  <a:lnTo>
                    <a:pt x="1330458" y="0"/>
                  </a:lnTo>
                  <a:cubicBezTo>
                    <a:pt x="1347014" y="0"/>
                    <a:pt x="1360434" y="13421"/>
                    <a:pt x="1360434" y="29976"/>
                  </a:cubicBezTo>
                  <a:lnTo>
                    <a:pt x="1360434" y="1988682"/>
                  </a:lnTo>
                  <a:cubicBezTo>
                    <a:pt x="1360434" y="2005237"/>
                    <a:pt x="1347014" y="2018658"/>
                    <a:pt x="1330458" y="2018658"/>
                  </a:cubicBezTo>
                  <a:lnTo>
                    <a:pt x="29976" y="2018658"/>
                  </a:lnTo>
                  <a:cubicBezTo>
                    <a:pt x="13421" y="2018658"/>
                    <a:pt x="0" y="2005237"/>
                    <a:pt x="0" y="1988682"/>
                  </a:cubicBezTo>
                  <a:lnTo>
                    <a:pt x="0" y="29976"/>
                  </a:lnTo>
                  <a:cubicBezTo>
                    <a:pt x="0" y="13421"/>
                    <a:pt x="13421" y="0"/>
                    <a:pt x="29976" y="0"/>
                  </a:cubicBezTo>
                  <a:close/>
                </a:path>
              </a:pathLst>
            </a:custGeom>
            <a:solidFill>
              <a:srgbClr val="FFFFFF"/>
            </a:solidFill>
            <a:ln w="47625" cap="sq">
              <a:solidFill>
                <a:srgbClr val="000000"/>
              </a:solidFill>
              <a:prstDash val="solid"/>
              <a:miter/>
            </a:ln>
          </p:spPr>
        </p:sp>
        <p:sp>
          <p:nvSpPr>
            <p:cNvPr id="15" name="TextBox 15"/>
            <p:cNvSpPr txBox="1"/>
            <p:nvPr/>
          </p:nvSpPr>
          <p:spPr>
            <a:xfrm>
              <a:off x="0" y="-57150"/>
              <a:ext cx="1360434" cy="2075808"/>
            </a:xfrm>
            <a:prstGeom prst="rect">
              <a:avLst/>
            </a:prstGeom>
          </p:spPr>
          <p:txBody>
            <a:bodyPr lIns="50800" tIns="50800" rIns="50800" bIns="50800" rtlCol="0" anchor="ctr"/>
            <a:lstStyle/>
            <a:p>
              <a:pPr algn="ctr">
                <a:lnSpc>
                  <a:spcPts val="3640"/>
                </a:lnSpc>
              </a:pPr>
              <a:endParaRPr/>
            </a:p>
          </p:txBody>
        </p:sp>
      </p:grpSp>
      <p:sp>
        <p:nvSpPr>
          <p:cNvPr id="16" name="TextBox 16"/>
          <p:cNvSpPr txBox="1"/>
          <p:nvPr/>
        </p:nvSpPr>
        <p:spPr>
          <a:xfrm>
            <a:off x="6888004" y="3019182"/>
            <a:ext cx="4511992" cy="50063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What types of language features are used?</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Are there any notable literary devices or techniques used by the author?</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Are there any symbols or recurring motifs that suggest deeper meaning?</a:t>
            </a:r>
          </a:p>
        </p:txBody>
      </p:sp>
      <p:sp>
        <p:nvSpPr>
          <p:cNvPr id="17" name="TextBox 17"/>
          <p:cNvSpPr txBox="1"/>
          <p:nvPr/>
        </p:nvSpPr>
        <p:spPr>
          <a:xfrm>
            <a:off x="1265805"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narrative voice</a:t>
            </a:r>
          </a:p>
        </p:txBody>
      </p:sp>
      <p:sp>
        <p:nvSpPr>
          <p:cNvPr id="18" name="TextBox 18"/>
          <p:cNvSpPr txBox="1"/>
          <p:nvPr/>
        </p:nvSpPr>
        <p:spPr>
          <a:xfrm>
            <a:off x="6798405"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style</a:t>
            </a:r>
          </a:p>
        </p:txBody>
      </p:sp>
      <p:sp>
        <p:nvSpPr>
          <p:cNvPr id="19" name="TextBox 19"/>
          <p:cNvSpPr txBox="1"/>
          <p:nvPr/>
        </p:nvSpPr>
        <p:spPr>
          <a:xfrm>
            <a:off x="12331006" y="1062284"/>
            <a:ext cx="4572000" cy="623570"/>
          </a:xfrm>
          <a:prstGeom prst="rect">
            <a:avLst/>
          </a:prstGeom>
        </p:spPr>
        <p:txBody>
          <a:bodyPr lIns="0" tIns="0" rIns="0" bIns="0" rtlCol="0" anchor="t">
            <a:spAutoFit/>
          </a:bodyPr>
          <a:lstStyle/>
          <a:p>
            <a:pPr algn="ctr">
              <a:lnSpc>
                <a:spcPts val="4480"/>
              </a:lnSpc>
            </a:pPr>
            <a:r>
              <a:rPr lang="en-US" sz="3200" b="1" spc="32">
                <a:solidFill>
                  <a:srgbClr val="020302"/>
                </a:solidFill>
                <a:latin typeface="Agrandir Heavy"/>
                <a:ea typeface="Agrandir Heavy"/>
                <a:cs typeface="Agrandir Heavy"/>
                <a:sym typeface="Agrandir Heavy"/>
              </a:rPr>
              <a:t>foreshadowing</a:t>
            </a:r>
          </a:p>
        </p:txBody>
      </p:sp>
      <p:sp>
        <p:nvSpPr>
          <p:cNvPr id="20" name="TextBox 20"/>
          <p:cNvSpPr txBox="1"/>
          <p:nvPr/>
        </p:nvSpPr>
        <p:spPr>
          <a:xfrm>
            <a:off x="1355403" y="2600082"/>
            <a:ext cx="4511992" cy="58445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Describe the author's narrative voice in the opening chapter (e.g., first-person narration, third-person omniscient).</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How does the narrative voice and perspective affect the reader's experience of the story? How might it position their response to characters and events?</a:t>
            </a:r>
          </a:p>
        </p:txBody>
      </p:sp>
      <p:sp>
        <p:nvSpPr>
          <p:cNvPr id="21" name="TextBox 21"/>
          <p:cNvSpPr txBox="1"/>
          <p:nvPr/>
        </p:nvSpPr>
        <p:spPr>
          <a:xfrm>
            <a:off x="12420604" y="2809632"/>
            <a:ext cx="4511992" cy="542544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0000"/>
                </a:solidFill>
                <a:latin typeface="Garet"/>
                <a:ea typeface="Garet"/>
                <a:cs typeface="Garet"/>
                <a:sym typeface="Garet"/>
              </a:rPr>
              <a:t>Identify any hints or clues provided in the opening chapter that foreshadow future events in the novel. How do they contribute to the suspense or tension of the story?</a:t>
            </a:r>
          </a:p>
          <a:p>
            <a:pPr algn="l">
              <a:lnSpc>
                <a:spcPts val="3360"/>
              </a:lnSpc>
            </a:pPr>
            <a:endParaRPr lang="en-US" sz="2400">
              <a:solidFill>
                <a:srgbClr val="000000"/>
              </a:solidFill>
              <a:latin typeface="Garet"/>
              <a:ea typeface="Garet"/>
              <a:cs typeface="Garet"/>
              <a:sym typeface="Garet"/>
            </a:endParaRPr>
          </a:p>
          <a:p>
            <a:pPr marL="518162" lvl="1" indent="-259081" algn="l">
              <a:lnSpc>
                <a:spcPts val="3360"/>
              </a:lnSpc>
              <a:buFont typeface="Arial"/>
              <a:buChar char="•"/>
            </a:pPr>
            <a:r>
              <a:rPr lang="en-US" sz="2400">
                <a:solidFill>
                  <a:srgbClr val="000000"/>
                </a:solidFill>
                <a:latin typeface="Garet"/>
                <a:ea typeface="Garet"/>
                <a:cs typeface="Garet"/>
                <a:sym typeface="Garet"/>
              </a:rPr>
              <a:t>What predictions can you make about the direction of the plot based on these clues?</a:t>
            </a:r>
          </a:p>
        </p:txBody>
      </p:sp>
      <p:sp>
        <p:nvSpPr>
          <p:cNvPr id="22" name="Freeform 22"/>
          <p:cNvSpPr/>
          <p:nvPr/>
        </p:nvSpPr>
        <p:spPr>
          <a:xfrm rot="-3363898">
            <a:off x="-147152" y="441391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7"/>
                </a:ext>
              </a:extLst>
            </a:blip>
            <a:stretch>
              <a:fillRect l="-103785" b="-128377"/>
            </a:stretch>
          </a:blipFill>
        </p:spPr>
      </p:sp>
      <p:sp>
        <p:nvSpPr>
          <p:cNvPr id="23" name="Freeform 23"/>
          <p:cNvSpPr/>
          <p:nvPr/>
        </p:nvSpPr>
        <p:spPr>
          <a:xfrm rot="-3363898" flipH="1" flipV="1">
            <a:off x="17440977" y="6061941"/>
            <a:ext cx="1030958" cy="898201"/>
          </a:xfrm>
          <a:custGeom>
            <a:avLst/>
            <a:gdLst/>
            <a:ahLst/>
            <a:cxnLst/>
            <a:rect l="l" t="t" r="r" b="b"/>
            <a:pathLst>
              <a:path w="1030958" h="898201">
                <a:moveTo>
                  <a:pt x="1030958" y="898201"/>
                </a:moveTo>
                <a:lnTo>
                  <a:pt x="0" y="898201"/>
                </a:lnTo>
                <a:lnTo>
                  <a:pt x="0" y="0"/>
                </a:lnTo>
                <a:lnTo>
                  <a:pt x="1030958" y="0"/>
                </a:lnTo>
                <a:lnTo>
                  <a:pt x="1030958" y="898201"/>
                </a:lnTo>
                <a:close/>
              </a:path>
            </a:pathLst>
          </a:custGeom>
          <a:blipFill>
            <a:blip>
              <a:extLst>
                <a:ext uri="{96DAC541-7B7A-43D3-8B79-37D633B846F1}">
                  <asvg:svgBlip xmlns:asvg="http://schemas.microsoft.com/office/drawing/2016/SVG/main" r:embed="rId7"/>
                </a:ext>
              </a:extLst>
            </a:blip>
            <a:stretch>
              <a:fillRect l="-103785" b="-128377"/>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TextBox 3"/>
          <p:cNvSpPr txBox="1"/>
          <p:nvPr/>
        </p:nvSpPr>
        <p:spPr>
          <a:xfrm>
            <a:off x="4689320" y="2526229"/>
            <a:ext cx="8909360" cy="3743325"/>
          </a:xfrm>
          <a:prstGeom prst="rect">
            <a:avLst/>
          </a:prstGeom>
        </p:spPr>
        <p:txBody>
          <a:bodyPr lIns="0" tIns="0" rIns="0" bIns="0" rtlCol="0" anchor="t">
            <a:spAutoFit/>
          </a:bodyPr>
          <a:lstStyle/>
          <a:p>
            <a:pPr algn="ctr">
              <a:lnSpc>
                <a:spcPts val="13200"/>
              </a:lnSpc>
            </a:pPr>
            <a:r>
              <a:rPr lang="en-US" sz="12000" b="1">
                <a:solidFill>
                  <a:srgbClr val="000000"/>
                </a:solidFill>
                <a:latin typeface="Agrandir Ultra-Bold"/>
                <a:ea typeface="Agrandir Ultra-Bold"/>
                <a:cs typeface="Agrandir Ultra-Bold"/>
                <a:sym typeface="Agrandir Ultra-Bold"/>
              </a:rPr>
              <a:t>happy reading</a:t>
            </a:r>
          </a:p>
        </p:txBody>
      </p:sp>
      <p:sp>
        <p:nvSpPr>
          <p:cNvPr id="4" name="Freeform 4"/>
          <p:cNvSpPr/>
          <p:nvPr/>
        </p:nvSpPr>
        <p:spPr>
          <a:xfrm rot="-1866090">
            <a:off x="14130211" y="-439980"/>
            <a:ext cx="3334703" cy="4114800"/>
          </a:xfrm>
          <a:custGeom>
            <a:avLst/>
            <a:gdLst/>
            <a:ahLst/>
            <a:cxnLst/>
            <a:rect l="l" t="t" r="r" b="b"/>
            <a:pathLst>
              <a:path w="3334703" h="4114800">
                <a:moveTo>
                  <a:pt x="0" y="0"/>
                </a:moveTo>
                <a:lnTo>
                  <a:pt x="3334703" y="0"/>
                </a:lnTo>
                <a:lnTo>
                  <a:pt x="3334703"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171755">
            <a:off x="-1411232" y="6458062"/>
            <a:ext cx="6387788" cy="4114800"/>
          </a:xfrm>
          <a:custGeom>
            <a:avLst/>
            <a:gdLst/>
            <a:ahLst/>
            <a:cxnLst/>
            <a:rect l="l" t="t" r="r" b="b"/>
            <a:pathLst>
              <a:path w="6387788" h="4114800">
                <a:moveTo>
                  <a:pt x="0" y="0"/>
                </a:moveTo>
                <a:lnTo>
                  <a:pt x="6387788" y="0"/>
                </a:lnTo>
                <a:lnTo>
                  <a:pt x="6387788"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7018447">
            <a:off x="13402329" y="7833263"/>
            <a:ext cx="1501902" cy="4114800"/>
          </a:xfrm>
          <a:custGeom>
            <a:avLst/>
            <a:gdLst/>
            <a:ahLst/>
            <a:cxnLst/>
            <a:rect l="l" t="t" r="r" b="b"/>
            <a:pathLst>
              <a:path w="1501902" h="4114800">
                <a:moveTo>
                  <a:pt x="0" y="0"/>
                </a:moveTo>
                <a:lnTo>
                  <a:pt x="1501902" y="0"/>
                </a:lnTo>
                <a:lnTo>
                  <a:pt x="150190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735408">
            <a:off x="1812022" y="-159360"/>
            <a:ext cx="2877702" cy="2852523"/>
          </a:xfrm>
          <a:custGeom>
            <a:avLst/>
            <a:gdLst/>
            <a:ahLst/>
            <a:cxnLst/>
            <a:rect l="l" t="t" r="r" b="b"/>
            <a:pathLst>
              <a:path w="2877702" h="2852523">
                <a:moveTo>
                  <a:pt x="0" y="0"/>
                </a:moveTo>
                <a:lnTo>
                  <a:pt x="2877702" y="0"/>
                </a:lnTo>
                <a:lnTo>
                  <a:pt x="2877702" y="2852523"/>
                </a:lnTo>
                <a:lnTo>
                  <a:pt x="0" y="285252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983797" flipH="1">
            <a:off x="16175328" y="3637873"/>
            <a:ext cx="2901753" cy="3011253"/>
          </a:xfrm>
          <a:custGeom>
            <a:avLst/>
            <a:gdLst/>
            <a:ahLst/>
            <a:cxnLst/>
            <a:rect l="l" t="t" r="r" b="b"/>
            <a:pathLst>
              <a:path w="2901753" h="3011253">
                <a:moveTo>
                  <a:pt x="2901753" y="0"/>
                </a:moveTo>
                <a:lnTo>
                  <a:pt x="0" y="0"/>
                </a:lnTo>
                <a:lnTo>
                  <a:pt x="0" y="3011254"/>
                </a:lnTo>
                <a:lnTo>
                  <a:pt x="2901753" y="3011254"/>
                </a:lnTo>
                <a:lnTo>
                  <a:pt x="2901753"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9345240" y="-254848"/>
            <a:ext cx="2715197" cy="2567096"/>
          </a:xfrm>
          <a:custGeom>
            <a:avLst/>
            <a:gdLst/>
            <a:ahLst/>
            <a:cxnLst/>
            <a:rect l="l" t="t" r="r" b="b"/>
            <a:pathLst>
              <a:path w="2715197" h="2567096">
                <a:moveTo>
                  <a:pt x="0" y="0"/>
                </a:moveTo>
                <a:lnTo>
                  <a:pt x="2715197" y="0"/>
                </a:lnTo>
                <a:lnTo>
                  <a:pt x="2715197" y="2567096"/>
                </a:lnTo>
                <a:lnTo>
                  <a:pt x="0" y="256709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flipH="1" flipV="1">
            <a:off x="13598680" y="4459493"/>
            <a:ext cx="1323752" cy="1363415"/>
          </a:xfrm>
          <a:custGeom>
            <a:avLst/>
            <a:gdLst/>
            <a:ahLst/>
            <a:cxnLst/>
            <a:rect l="l" t="t" r="r" b="b"/>
            <a:pathLst>
              <a:path w="1323752" h="1363415">
                <a:moveTo>
                  <a:pt x="1323752" y="1363415"/>
                </a:moveTo>
                <a:lnTo>
                  <a:pt x="0" y="1363415"/>
                </a:lnTo>
                <a:lnTo>
                  <a:pt x="0" y="0"/>
                </a:lnTo>
                <a:lnTo>
                  <a:pt x="1323752" y="0"/>
                </a:lnTo>
                <a:lnTo>
                  <a:pt x="1323752" y="1363415"/>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rot="3120095">
            <a:off x="7127548" y="8487552"/>
            <a:ext cx="4401458" cy="3289089"/>
          </a:xfrm>
          <a:custGeom>
            <a:avLst/>
            <a:gdLst/>
            <a:ahLst/>
            <a:cxnLst/>
            <a:rect l="l" t="t" r="r" b="b"/>
            <a:pathLst>
              <a:path w="4401458" h="3289089">
                <a:moveTo>
                  <a:pt x="0" y="0"/>
                </a:moveTo>
                <a:lnTo>
                  <a:pt x="4401457" y="0"/>
                </a:lnTo>
                <a:lnTo>
                  <a:pt x="4401457" y="3289089"/>
                </a:lnTo>
                <a:lnTo>
                  <a:pt x="0" y="3289089"/>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Freeform 12"/>
          <p:cNvSpPr/>
          <p:nvPr/>
        </p:nvSpPr>
        <p:spPr>
          <a:xfrm flipV="1">
            <a:off x="5745138" y="-303121"/>
            <a:ext cx="1864671" cy="1920541"/>
          </a:xfrm>
          <a:custGeom>
            <a:avLst/>
            <a:gdLst/>
            <a:ahLst/>
            <a:cxnLst/>
            <a:rect l="l" t="t" r="r" b="b"/>
            <a:pathLst>
              <a:path w="1864671" h="1920541">
                <a:moveTo>
                  <a:pt x="0" y="1920541"/>
                </a:moveTo>
                <a:lnTo>
                  <a:pt x="1864671" y="1920541"/>
                </a:lnTo>
                <a:lnTo>
                  <a:pt x="1864671" y="0"/>
                </a:lnTo>
                <a:lnTo>
                  <a:pt x="0" y="0"/>
                </a:lnTo>
                <a:lnTo>
                  <a:pt x="0" y="1920541"/>
                </a:lnTo>
                <a:close/>
              </a:path>
            </a:pathLst>
          </a:custGeom>
          <a:blipFill>
            <a:blip>
              <a:extLst>
                <a:ext uri="{96DAC541-7B7A-43D3-8B79-37D633B846F1}">
                  <asvg:svgBlip xmlns:asvg="http://schemas.microsoft.com/office/drawing/2016/SVG/main" r:embed="rId11"/>
                </a:ext>
              </a:extLst>
            </a:blip>
            <a:stretch>
              <a:fillRect/>
            </a:stretch>
          </a:blipFill>
        </p:spPr>
      </p:sp>
      <p:sp>
        <p:nvSpPr>
          <p:cNvPr id="13" name="Freeform 13"/>
          <p:cNvSpPr/>
          <p:nvPr/>
        </p:nvSpPr>
        <p:spPr>
          <a:xfrm>
            <a:off x="-441078" y="2579119"/>
            <a:ext cx="2177275" cy="2558763"/>
          </a:xfrm>
          <a:custGeom>
            <a:avLst/>
            <a:gdLst/>
            <a:ahLst/>
            <a:cxnLst/>
            <a:rect l="l" t="t" r="r" b="b"/>
            <a:pathLst>
              <a:path w="2177275" h="2558763">
                <a:moveTo>
                  <a:pt x="0" y="0"/>
                </a:moveTo>
                <a:lnTo>
                  <a:pt x="2177275" y="0"/>
                </a:lnTo>
                <a:lnTo>
                  <a:pt x="2177275" y="2558763"/>
                </a:lnTo>
                <a:lnTo>
                  <a:pt x="0" y="2558763"/>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4" name="Freeform 14"/>
          <p:cNvSpPr/>
          <p:nvPr/>
        </p:nvSpPr>
        <p:spPr>
          <a:xfrm rot="2803384">
            <a:off x="17643690" y="8188876"/>
            <a:ext cx="971906" cy="1475753"/>
          </a:xfrm>
          <a:custGeom>
            <a:avLst/>
            <a:gdLst/>
            <a:ahLst/>
            <a:cxnLst/>
            <a:rect l="l" t="t" r="r" b="b"/>
            <a:pathLst>
              <a:path w="971906" h="1475753">
                <a:moveTo>
                  <a:pt x="0" y="0"/>
                </a:moveTo>
                <a:lnTo>
                  <a:pt x="971906" y="0"/>
                </a:lnTo>
                <a:lnTo>
                  <a:pt x="971906" y="1475753"/>
                </a:lnTo>
                <a:lnTo>
                  <a:pt x="0" y="1475753"/>
                </a:lnTo>
                <a:lnTo>
                  <a:pt x="0" y="0"/>
                </a:lnTo>
                <a:close/>
              </a:path>
            </a:pathLst>
          </a:custGeom>
          <a:blipFill>
            <a:blip>
              <a:extLst>
                <a:ext uri="{96DAC541-7B7A-43D3-8B79-37D633B846F1}">
                  <asvg:svgBlip xmlns:asvg="http://schemas.microsoft.com/office/drawing/2016/SVG/main" r:embed="rId13"/>
                </a:ext>
              </a:extLst>
            </a:blip>
            <a:stretch>
              <a:fillRect r="-179368" b="-73951"/>
            </a:stretch>
          </a:blipFill>
        </p:spPr>
      </p:sp>
      <p:sp>
        <p:nvSpPr>
          <p:cNvPr id="15" name="Freeform 15"/>
          <p:cNvSpPr/>
          <p:nvPr/>
        </p:nvSpPr>
        <p:spPr>
          <a:xfrm rot="-2829106">
            <a:off x="-1519380" y="-1955513"/>
            <a:ext cx="3438645" cy="2838445"/>
          </a:xfrm>
          <a:custGeom>
            <a:avLst/>
            <a:gdLst/>
            <a:ahLst/>
            <a:cxnLst/>
            <a:rect l="l" t="t" r="r" b="b"/>
            <a:pathLst>
              <a:path w="3438645" h="2838445">
                <a:moveTo>
                  <a:pt x="0" y="0"/>
                </a:moveTo>
                <a:lnTo>
                  <a:pt x="3438644" y="0"/>
                </a:lnTo>
                <a:lnTo>
                  <a:pt x="3438644" y="2838445"/>
                </a:lnTo>
                <a:lnTo>
                  <a:pt x="0" y="2838445"/>
                </a:lnTo>
                <a:lnTo>
                  <a:pt x="0" y="0"/>
                </a:lnTo>
                <a:close/>
              </a:path>
            </a:pathLst>
          </a:custGeom>
          <a:blipFill>
            <a:blip>
              <a:extLst>
                <a:ext uri="{96DAC541-7B7A-43D3-8B79-37D633B846F1}">
                  <asvg:svgBlip xmlns:asvg="http://schemas.microsoft.com/office/drawing/2016/SVG/main" r:embed="rId14"/>
                </a:ext>
              </a:extLst>
            </a:blip>
            <a:stretch>
              <a:fillRect/>
            </a:stretch>
          </a:blipFill>
        </p:spPr>
      </p:sp>
      <p:grpSp>
        <p:nvGrpSpPr>
          <p:cNvPr id="16" name="Group 16"/>
          <p:cNvGrpSpPr/>
          <p:nvPr/>
        </p:nvGrpSpPr>
        <p:grpSpPr>
          <a:xfrm>
            <a:off x="4194216" y="6536254"/>
            <a:ext cx="9899567" cy="1128090"/>
            <a:chOff x="0" y="0"/>
            <a:chExt cx="3471127" cy="395547"/>
          </a:xfrm>
        </p:grpSpPr>
        <p:sp>
          <p:nvSpPr>
            <p:cNvPr id="17" name="Freeform 17"/>
            <p:cNvSpPr/>
            <p:nvPr/>
          </p:nvSpPr>
          <p:spPr>
            <a:xfrm>
              <a:off x="0" y="0"/>
              <a:ext cx="3471127" cy="395547"/>
            </a:xfrm>
            <a:custGeom>
              <a:avLst/>
              <a:gdLst/>
              <a:ahLst/>
              <a:cxnLst/>
              <a:rect l="l" t="t" r="r" b="b"/>
              <a:pathLst>
                <a:path w="3471127" h="395547">
                  <a:moveTo>
                    <a:pt x="3267927" y="0"/>
                  </a:moveTo>
                  <a:cubicBezTo>
                    <a:pt x="3380151" y="0"/>
                    <a:pt x="3471127" y="88546"/>
                    <a:pt x="3471127" y="197774"/>
                  </a:cubicBezTo>
                  <a:cubicBezTo>
                    <a:pt x="3471127" y="307001"/>
                    <a:pt x="3380151" y="395547"/>
                    <a:pt x="3267927" y="395547"/>
                  </a:cubicBezTo>
                  <a:lnTo>
                    <a:pt x="203200" y="395547"/>
                  </a:lnTo>
                  <a:cubicBezTo>
                    <a:pt x="90976" y="395547"/>
                    <a:pt x="0" y="307001"/>
                    <a:pt x="0" y="197774"/>
                  </a:cubicBezTo>
                  <a:cubicBezTo>
                    <a:pt x="0" y="88546"/>
                    <a:pt x="90976" y="0"/>
                    <a:pt x="203200" y="0"/>
                  </a:cubicBezTo>
                  <a:close/>
                </a:path>
              </a:pathLst>
            </a:custGeom>
            <a:solidFill>
              <a:srgbClr val="FFD25E"/>
            </a:solidFill>
          </p:spPr>
        </p:sp>
        <p:sp>
          <p:nvSpPr>
            <p:cNvPr id="18" name="TextBox 18"/>
            <p:cNvSpPr txBox="1"/>
            <p:nvPr/>
          </p:nvSpPr>
          <p:spPr>
            <a:xfrm>
              <a:off x="0" y="-38100"/>
              <a:ext cx="3471127" cy="433647"/>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5999602" y="6738984"/>
            <a:ext cx="6288796" cy="646430"/>
          </a:xfrm>
          <a:prstGeom prst="rect">
            <a:avLst/>
          </a:prstGeom>
        </p:spPr>
        <p:txBody>
          <a:bodyPr lIns="0" tIns="0" rIns="0" bIns="0" rtlCol="0" anchor="t">
            <a:spAutoFit/>
          </a:bodyPr>
          <a:lstStyle/>
          <a:p>
            <a:pPr algn="ctr">
              <a:lnSpc>
                <a:spcPts val="5320"/>
              </a:lnSpc>
            </a:pPr>
            <a:r>
              <a:rPr lang="en-US" sz="3800">
                <a:solidFill>
                  <a:srgbClr val="020302"/>
                </a:solidFill>
                <a:latin typeface="Garet"/>
                <a:ea typeface="Garet"/>
                <a:cs typeface="Garet"/>
                <a:sym typeface="Garet"/>
              </a:rPr>
              <a:t>let’s continue!</a:t>
            </a:r>
          </a:p>
        </p:txBody>
      </p:sp>
      <p:sp>
        <p:nvSpPr>
          <p:cNvPr id="20" name="Freeform 20"/>
          <p:cNvSpPr/>
          <p:nvPr/>
        </p:nvSpPr>
        <p:spPr>
          <a:xfrm rot="-3363898">
            <a:off x="2735394" y="4688782"/>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5"/>
                </a:ext>
              </a:extLst>
            </a:blip>
            <a:stretch>
              <a:fillRect l="-103785" b="-128377"/>
            </a:stretch>
          </a:blipFill>
        </p:spPr>
      </p:sp>
      <p:sp>
        <p:nvSpPr>
          <p:cNvPr id="21" name="Freeform 21"/>
          <p:cNvSpPr/>
          <p:nvPr/>
        </p:nvSpPr>
        <p:spPr>
          <a:xfrm rot="-3363898">
            <a:off x="15067326" y="7618021"/>
            <a:ext cx="1030958" cy="898201"/>
          </a:xfrm>
          <a:custGeom>
            <a:avLst/>
            <a:gdLst/>
            <a:ahLst/>
            <a:cxnLst/>
            <a:rect l="l" t="t" r="r" b="b"/>
            <a:pathLst>
              <a:path w="1030958" h="898201">
                <a:moveTo>
                  <a:pt x="0" y="0"/>
                </a:moveTo>
                <a:lnTo>
                  <a:pt x="1030958" y="0"/>
                </a:lnTo>
                <a:lnTo>
                  <a:pt x="1030958" y="898201"/>
                </a:lnTo>
                <a:lnTo>
                  <a:pt x="0" y="898201"/>
                </a:lnTo>
                <a:lnTo>
                  <a:pt x="0" y="0"/>
                </a:lnTo>
                <a:close/>
              </a:path>
            </a:pathLst>
          </a:custGeom>
          <a:blipFill>
            <a:blip>
              <a:extLst>
                <a:ext uri="{96DAC541-7B7A-43D3-8B79-37D633B846F1}">
                  <asvg:svgBlip xmlns:asvg="http://schemas.microsoft.com/office/drawing/2016/SVG/main" r:embed="rId15"/>
                </a:ext>
              </a:extLst>
            </a:blip>
            <a:stretch>
              <a:fillRect l="-103785" b="-12837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2133</Words>
  <Application>Microsoft Office PowerPoint</Application>
  <PresentationFormat>Произвольный</PresentationFormat>
  <Paragraphs>225</Paragraphs>
  <Slides>27</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27</vt:i4>
      </vt:variant>
    </vt:vector>
  </HeadingPairs>
  <TitlesOfParts>
    <vt:vector size="35" baseType="lpstr">
      <vt:lpstr>Calibri</vt:lpstr>
      <vt:lpstr>Agrandir Bold</vt:lpstr>
      <vt:lpstr>Arial</vt:lpstr>
      <vt:lpstr>Garet</vt:lpstr>
      <vt:lpstr>Agrandir Heavy</vt:lpstr>
      <vt:lpstr>Garet Bold</vt:lpstr>
      <vt:lpstr>Agrandir Ultra-Bold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Study Educational Presentation in Colourful Lively Hand Drawn Style</dc:title>
  <cp:lastModifiedBy>sekal sekal</cp:lastModifiedBy>
  <cp:revision>2</cp:revision>
  <dcterms:created xsi:type="dcterms:W3CDTF">2006-08-16T00:00:00Z</dcterms:created>
  <dcterms:modified xsi:type="dcterms:W3CDTF">2026-08-11T06:49:41Z</dcterms:modified>
  <dc:identifier>DAHR9tcijew</dc:identifier>
</cp:coreProperties>
</file>